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38e309a384f541260a3df78853a03c8e23f3ce7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319795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3179445" cy="388620"/>
          </a:xfrm>
          <a:custGeom>
            <a:avLst/>
            <a:gdLst/>
            <a:ahLst/>
            <a:cxnLst/>
            <a:rect l="l" t="t" r="r" b="b"/>
            <a:pathLst>
              <a:path w="3179445" h="388620">
                <a:moveTo>
                  <a:pt x="76201" y="0"/>
                </a:moveTo>
                <a:lnTo>
                  <a:pt x="3103244" y="0"/>
                </a:lnTo>
                <a:cubicBezTo>
                  <a:pt x="3145329" y="0"/>
                  <a:pt x="3179445" y="34116"/>
                  <a:pt x="3179445" y="76201"/>
                </a:cubicBezTo>
                <a:lnTo>
                  <a:pt x="3179445" y="312419"/>
                </a:lnTo>
                <a:cubicBezTo>
                  <a:pt x="3179445" y="354504"/>
                  <a:pt x="3145329" y="388620"/>
                  <a:pt x="31032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10160">
            <a:solidFill>
              <a:srgbClr val="31979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464820"/>
            <a:ext cx="29413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Methods in Business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3444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Distribution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Paired t-Test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89179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15849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Stitch Fix Case Study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806190"/>
            <a:ext cx="7410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Statistical Methods Drive Business Innovation in AI-Powered Personalization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624840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6873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3" name="Text 10"/>
          <p:cNvSpPr/>
          <p:nvPr/>
        </p:nvSpPr>
        <p:spPr>
          <a:xfrm>
            <a:off x="1516380" y="62484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Science &amp; Business Strategy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" name="Text 1"/>
          <p:cNvSpPr/>
          <p:nvPr/>
        </p:nvSpPr>
        <p:spPr>
          <a:xfrm>
            <a:off x="480060" y="4381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Uniform Distribution?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93865"/>
            <a:ext cx="5543550" cy="1714500"/>
          </a:xfrm>
          <a:custGeom>
            <a:avLst/>
            <a:gdLst/>
            <a:ahLst/>
            <a:cxnLst/>
            <a:rect l="l" t="t" r="r" b="b"/>
            <a:pathLst>
              <a:path w="5543550" h="1714500">
                <a:moveTo>
                  <a:pt x="38100" y="0"/>
                </a:moveTo>
                <a:lnTo>
                  <a:pt x="5467358" y="0"/>
                </a:lnTo>
                <a:cubicBezTo>
                  <a:pt x="5509438" y="0"/>
                  <a:pt x="5543550" y="34112"/>
                  <a:pt x="5543550" y="76192"/>
                </a:cubicBezTo>
                <a:lnTo>
                  <a:pt x="5543550" y="1638308"/>
                </a:lnTo>
                <a:cubicBezTo>
                  <a:pt x="5543550" y="1680388"/>
                  <a:pt x="5509438" y="1714500"/>
                  <a:pt x="5467358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393865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" y="1622465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041446"/>
            <a:ext cx="51530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probability distribution where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7FAFC">
                    <a:alpha val="9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every outcome has equal chance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occurring. Each value in the range has identical probability density.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334465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447800"/>
                </a:lnTo>
                <a:cubicBezTo>
                  <a:pt x="5543550" y="1489856"/>
                  <a:pt x="5509406" y="1524000"/>
                  <a:pt x="54673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3334465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" y="3563065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1513" y="40201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" y="3982045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Bias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1513" y="44011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0125" y="4363045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Discovers Hidden Opportunities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5090755"/>
            <a:ext cx="1741170" cy="1093470"/>
          </a:xfrm>
          <a:custGeom>
            <a:avLst/>
            <a:gdLst/>
            <a:ahLst/>
            <a:cxnLst/>
            <a:rect l="l" t="t" r="r" b="b"/>
            <a:pathLst>
              <a:path w="1741170" h="1093470">
                <a:moveTo>
                  <a:pt x="76204" y="0"/>
                </a:moveTo>
                <a:lnTo>
                  <a:pt x="1664966" y="0"/>
                </a:lnTo>
                <a:cubicBezTo>
                  <a:pt x="1707052" y="0"/>
                  <a:pt x="1741170" y="34118"/>
                  <a:pt x="1741170" y="76204"/>
                </a:cubicBezTo>
                <a:lnTo>
                  <a:pt x="1741170" y="1017266"/>
                </a:lnTo>
                <a:cubicBezTo>
                  <a:pt x="1741170" y="1059352"/>
                  <a:pt x="1707052" y="1093470"/>
                  <a:pt x="1664966" y="1093470"/>
                </a:cubicBezTo>
                <a:lnTo>
                  <a:pt x="76204" y="1093470"/>
                </a:lnTo>
                <a:cubicBezTo>
                  <a:pt x="34146" y="1093470"/>
                  <a:pt x="0" y="1059324"/>
                  <a:pt x="0" y="101726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10160">
            <a:solidFill>
              <a:srgbClr val="31979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6806" y="52469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8916" y="1284"/>
                </a:moveTo>
                <a:cubicBezTo>
                  <a:pt x="57485" y="-4465"/>
                  <a:pt x="35440" y="8260"/>
                  <a:pt x="29747" y="29691"/>
                </a:cubicBezTo>
                <a:lnTo>
                  <a:pt x="1395" y="135452"/>
                </a:lnTo>
                <a:cubicBezTo>
                  <a:pt x="-4353" y="156883"/>
                  <a:pt x="8372" y="178929"/>
                  <a:pt x="29803" y="184677"/>
                </a:cubicBezTo>
                <a:lnTo>
                  <a:pt x="135564" y="213029"/>
                </a:lnTo>
                <a:cubicBezTo>
                  <a:pt x="156995" y="218777"/>
                  <a:pt x="179040" y="206053"/>
                  <a:pt x="184789" y="184621"/>
                </a:cubicBezTo>
                <a:lnTo>
                  <a:pt x="213140" y="78860"/>
                </a:lnTo>
                <a:cubicBezTo>
                  <a:pt x="218889" y="57429"/>
                  <a:pt x="206164" y="35384"/>
                  <a:pt x="184733" y="29635"/>
                </a:cubicBezTo>
                <a:lnTo>
                  <a:pt x="78916" y="1284"/>
                </a:lnTo>
                <a:close/>
                <a:moveTo>
                  <a:pt x="91753" y="116086"/>
                </a:moveTo>
                <a:cubicBezTo>
                  <a:pt x="88358" y="110551"/>
                  <a:pt x="88235" y="103610"/>
                  <a:pt x="91431" y="97959"/>
                </a:cubicBezTo>
                <a:cubicBezTo>
                  <a:pt x="94626" y="92307"/>
                  <a:pt x="100638" y="88835"/>
                  <a:pt x="107130" y="88890"/>
                </a:cubicBezTo>
                <a:cubicBezTo>
                  <a:pt x="113622" y="88946"/>
                  <a:pt x="119573" y="92521"/>
                  <a:pt x="122672" y="98227"/>
                </a:cubicBezTo>
                <a:cubicBezTo>
                  <a:pt x="126066" y="103761"/>
                  <a:pt x="126189" y="110702"/>
                  <a:pt x="122993" y="116354"/>
                </a:cubicBezTo>
                <a:cubicBezTo>
                  <a:pt x="119798" y="122006"/>
                  <a:pt x="113787" y="125478"/>
                  <a:pt x="107294" y="125422"/>
                </a:cubicBezTo>
                <a:cubicBezTo>
                  <a:pt x="100802" y="125366"/>
                  <a:pt x="94851" y="121792"/>
                  <a:pt x="91753" y="116086"/>
                </a:cubicBezTo>
                <a:close/>
                <a:moveTo>
                  <a:pt x="44202" y="122951"/>
                </a:moveTo>
                <a:cubicBezTo>
                  <a:pt x="49737" y="119556"/>
                  <a:pt x="56678" y="119433"/>
                  <a:pt x="62329" y="122629"/>
                </a:cubicBezTo>
                <a:cubicBezTo>
                  <a:pt x="67981" y="125824"/>
                  <a:pt x="71453" y="131836"/>
                  <a:pt x="71398" y="138328"/>
                </a:cubicBezTo>
                <a:cubicBezTo>
                  <a:pt x="71342" y="144821"/>
                  <a:pt x="67767" y="150771"/>
                  <a:pt x="62061" y="153870"/>
                </a:cubicBezTo>
                <a:cubicBezTo>
                  <a:pt x="56527" y="157264"/>
                  <a:pt x="49586" y="157387"/>
                  <a:pt x="43934" y="154192"/>
                </a:cubicBezTo>
                <a:cubicBezTo>
                  <a:pt x="38282" y="150996"/>
                  <a:pt x="34810" y="144985"/>
                  <a:pt x="34866" y="138492"/>
                </a:cubicBezTo>
                <a:cubicBezTo>
                  <a:pt x="34921" y="132000"/>
                  <a:pt x="38496" y="126049"/>
                  <a:pt x="44202" y="122951"/>
                </a:cubicBezTo>
                <a:close/>
                <a:moveTo>
                  <a:pt x="147451" y="176752"/>
                </a:moveTo>
                <a:cubicBezTo>
                  <a:pt x="141917" y="180146"/>
                  <a:pt x="134976" y="180270"/>
                  <a:pt x="129324" y="177074"/>
                </a:cubicBezTo>
                <a:cubicBezTo>
                  <a:pt x="123672" y="173878"/>
                  <a:pt x="120200" y="167867"/>
                  <a:pt x="120256" y="161375"/>
                </a:cubicBezTo>
                <a:cubicBezTo>
                  <a:pt x="120312" y="154882"/>
                  <a:pt x="123886" y="148931"/>
                  <a:pt x="129592" y="145833"/>
                </a:cubicBezTo>
                <a:cubicBezTo>
                  <a:pt x="135127" y="142439"/>
                  <a:pt x="142068" y="142315"/>
                  <a:pt x="147719" y="145511"/>
                </a:cubicBezTo>
                <a:cubicBezTo>
                  <a:pt x="153371" y="148707"/>
                  <a:pt x="156843" y="154718"/>
                  <a:pt x="156788" y="161210"/>
                </a:cubicBezTo>
                <a:cubicBezTo>
                  <a:pt x="156732" y="167703"/>
                  <a:pt x="153157" y="173654"/>
                  <a:pt x="147451" y="176752"/>
                </a:cubicBezTo>
                <a:close/>
                <a:moveTo>
                  <a:pt x="152474" y="60443"/>
                </a:moveTo>
                <a:cubicBezTo>
                  <a:pt x="158009" y="57048"/>
                  <a:pt x="164950" y="56925"/>
                  <a:pt x="170602" y="60121"/>
                </a:cubicBezTo>
                <a:cubicBezTo>
                  <a:pt x="176254" y="63317"/>
                  <a:pt x="179726" y="69328"/>
                  <a:pt x="179670" y="75820"/>
                </a:cubicBezTo>
                <a:cubicBezTo>
                  <a:pt x="179614" y="82313"/>
                  <a:pt x="176040" y="88264"/>
                  <a:pt x="170334" y="91362"/>
                </a:cubicBezTo>
                <a:cubicBezTo>
                  <a:pt x="164799" y="94756"/>
                  <a:pt x="157858" y="94880"/>
                  <a:pt x="152206" y="91684"/>
                </a:cubicBezTo>
                <a:cubicBezTo>
                  <a:pt x="146555" y="88488"/>
                  <a:pt x="143082" y="82477"/>
                  <a:pt x="143138" y="75984"/>
                </a:cubicBezTo>
                <a:cubicBezTo>
                  <a:pt x="143194" y="69492"/>
                  <a:pt x="146769" y="63541"/>
                  <a:pt x="152474" y="60443"/>
                </a:cubicBezTo>
                <a:close/>
                <a:moveTo>
                  <a:pt x="84944" y="68480"/>
                </a:moveTo>
                <a:cubicBezTo>
                  <a:pt x="79409" y="71874"/>
                  <a:pt x="72468" y="71997"/>
                  <a:pt x="66816" y="68801"/>
                </a:cubicBezTo>
                <a:cubicBezTo>
                  <a:pt x="61165" y="65606"/>
                  <a:pt x="57692" y="59594"/>
                  <a:pt x="57748" y="53102"/>
                </a:cubicBezTo>
                <a:cubicBezTo>
                  <a:pt x="57804" y="46610"/>
                  <a:pt x="61379" y="40659"/>
                  <a:pt x="67084" y="37560"/>
                </a:cubicBezTo>
                <a:cubicBezTo>
                  <a:pt x="72619" y="34166"/>
                  <a:pt x="79560" y="34043"/>
                  <a:pt x="85212" y="37239"/>
                </a:cubicBezTo>
                <a:cubicBezTo>
                  <a:pt x="90863" y="40434"/>
                  <a:pt x="94336" y="46446"/>
                  <a:pt x="94280" y="52938"/>
                </a:cubicBezTo>
                <a:cubicBezTo>
                  <a:pt x="94224" y="59430"/>
                  <a:pt x="90649" y="65381"/>
                  <a:pt x="84944" y="68480"/>
                </a:cubicBezTo>
                <a:close/>
                <a:moveTo>
                  <a:pt x="233288" y="107156"/>
                </a:moveTo>
                <a:lnTo>
                  <a:pt x="210629" y="191542"/>
                </a:lnTo>
                <a:cubicBezTo>
                  <a:pt x="201030" y="227261"/>
                  <a:pt x="164306" y="248469"/>
                  <a:pt x="128588" y="238925"/>
                </a:cubicBezTo>
                <a:lnTo>
                  <a:pt x="107212" y="233176"/>
                </a:lnTo>
                <a:lnTo>
                  <a:pt x="107212" y="250031"/>
                </a:lnTo>
                <a:cubicBezTo>
                  <a:pt x="107212" y="269732"/>
                  <a:pt x="123230" y="285750"/>
                  <a:pt x="142931" y="285750"/>
                </a:cubicBezTo>
                <a:lnTo>
                  <a:pt x="250087" y="285750"/>
                </a:lnTo>
                <a:cubicBezTo>
                  <a:pt x="269788" y="285750"/>
                  <a:pt x="285806" y="269732"/>
                  <a:pt x="285806" y="250031"/>
                </a:cubicBezTo>
                <a:lnTo>
                  <a:pt x="285806" y="142875"/>
                </a:lnTo>
                <a:cubicBezTo>
                  <a:pt x="285806" y="123174"/>
                  <a:pt x="269788" y="107156"/>
                  <a:pt x="250087" y="107156"/>
                </a:cubicBezTo>
                <a:lnTo>
                  <a:pt x="233288" y="107156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608916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 Dice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682" y="5837516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1/6 each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9810" y="5090755"/>
            <a:ext cx="1741170" cy="1093470"/>
          </a:xfrm>
          <a:custGeom>
            <a:avLst/>
            <a:gdLst/>
            <a:ahLst/>
            <a:cxnLst/>
            <a:rect l="l" t="t" r="r" b="b"/>
            <a:pathLst>
              <a:path w="1741170" h="1093470">
                <a:moveTo>
                  <a:pt x="76204" y="0"/>
                </a:moveTo>
                <a:lnTo>
                  <a:pt x="1664966" y="0"/>
                </a:lnTo>
                <a:cubicBezTo>
                  <a:pt x="1707052" y="0"/>
                  <a:pt x="1741170" y="34118"/>
                  <a:pt x="1741170" y="76204"/>
                </a:cubicBezTo>
                <a:lnTo>
                  <a:pt x="1741170" y="1017266"/>
                </a:lnTo>
                <a:cubicBezTo>
                  <a:pt x="1741170" y="1059352"/>
                  <a:pt x="1707052" y="1093470"/>
                  <a:pt x="1664966" y="1093470"/>
                </a:cubicBezTo>
                <a:lnTo>
                  <a:pt x="76204" y="1093470"/>
                </a:lnTo>
                <a:cubicBezTo>
                  <a:pt x="34146" y="1093470"/>
                  <a:pt x="0" y="1059324"/>
                  <a:pt x="0" y="101726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10160">
            <a:solidFill>
              <a:srgbClr val="31979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03947" y="5246966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71438"/>
                </a:moveTo>
                <a:cubicBezTo>
                  <a:pt x="0" y="51736"/>
                  <a:pt x="16018" y="35719"/>
                  <a:pt x="35719" y="35719"/>
                </a:cubicBezTo>
                <a:lnTo>
                  <a:pt x="285750" y="35719"/>
                </a:lnTo>
                <a:cubicBezTo>
                  <a:pt x="305451" y="35719"/>
                  <a:pt x="321469" y="51736"/>
                  <a:pt x="321469" y="71438"/>
                </a:cubicBezTo>
                <a:lnTo>
                  <a:pt x="321469" y="107156"/>
                </a:lnTo>
                <a:cubicBezTo>
                  <a:pt x="321469" y="112068"/>
                  <a:pt x="317339" y="115919"/>
                  <a:pt x="312706" y="117537"/>
                </a:cubicBezTo>
                <a:cubicBezTo>
                  <a:pt x="302214" y="121165"/>
                  <a:pt x="294680" y="131155"/>
                  <a:pt x="294680" y="142875"/>
                </a:cubicBezTo>
                <a:cubicBezTo>
                  <a:pt x="294680" y="154595"/>
                  <a:pt x="302214" y="164585"/>
                  <a:pt x="312706" y="168213"/>
                </a:cubicBezTo>
                <a:cubicBezTo>
                  <a:pt x="317339" y="169831"/>
                  <a:pt x="321469" y="173682"/>
                  <a:pt x="321469" y="178594"/>
                </a:cubicBezTo>
                <a:lnTo>
                  <a:pt x="321469" y="214313"/>
                </a:lnTo>
                <a:cubicBezTo>
                  <a:pt x="321469" y="234014"/>
                  <a:pt x="305451" y="250031"/>
                  <a:pt x="285750" y="250031"/>
                </a:cubicBezTo>
                <a:lnTo>
                  <a:pt x="35719" y="250031"/>
                </a:lnTo>
                <a:cubicBezTo>
                  <a:pt x="16018" y="250031"/>
                  <a:pt x="0" y="234014"/>
                  <a:pt x="0" y="214313"/>
                </a:cubicBezTo>
                <a:lnTo>
                  <a:pt x="0" y="178594"/>
                </a:lnTo>
                <a:cubicBezTo>
                  <a:pt x="0" y="173682"/>
                  <a:pt x="4130" y="169831"/>
                  <a:pt x="8762" y="168213"/>
                </a:cubicBezTo>
                <a:cubicBezTo>
                  <a:pt x="19255" y="164585"/>
                  <a:pt x="26789" y="154595"/>
                  <a:pt x="26789" y="142875"/>
                </a:cubicBezTo>
                <a:cubicBezTo>
                  <a:pt x="26789" y="131155"/>
                  <a:pt x="19255" y="121165"/>
                  <a:pt x="8762" y="117537"/>
                </a:cubicBezTo>
                <a:cubicBezTo>
                  <a:pt x="4130" y="115919"/>
                  <a:pt x="0" y="112068"/>
                  <a:pt x="0" y="107156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3" name="Text 21"/>
          <p:cNvSpPr/>
          <p:nvPr/>
        </p:nvSpPr>
        <p:spPr>
          <a:xfrm>
            <a:off x="2407920" y="5608916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Lottery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12683" y="5837516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Equal odds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94810" y="5090755"/>
            <a:ext cx="1741170" cy="1093470"/>
          </a:xfrm>
          <a:custGeom>
            <a:avLst/>
            <a:gdLst/>
            <a:ahLst/>
            <a:cxnLst/>
            <a:rect l="l" t="t" r="r" b="b"/>
            <a:pathLst>
              <a:path w="1741170" h="1093470">
                <a:moveTo>
                  <a:pt x="76204" y="0"/>
                </a:moveTo>
                <a:lnTo>
                  <a:pt x="1664966" y="0"/>
                </a:lnTo>
                <a:cubicBezTo>
                  <a:pt x="1707052" y="0"/>
                  <a:pt x="1741170" y="34118"/>
                  <a:pt x="1741170" y="76204"/>
                </a:cubicBezTo>
                <a:lnTo>
                  <a:pt x="1741170" y="1017266"/>
                </a:lnTo>
                <a:cubicBezTo>
                  <a:pt x="1741170" y="1059352"/>
                  <a:pt x="1707052" y="1093470"/>
                  <a:pt x="1664966" y="1093470"/>
                </a:cubicBezTo>
                <a:lnTo>
                  <a:pt x="76204" y="1093470"/>
                </a:lnTo>
                <a:cubicBezTo>
                  <a:pt x="34146" y="1093470"/>
                  <a:pt x="0" y="1059324"/>
                  <a:pt x="0" y="101726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10160">
            <a:solidFill>
              <a:srgbClr val="319795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26806" y="52469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5363" y="19199"/>
                </a:moveTo>
                <a:cubicBezTo>
                  <a:pt x="232060" y="16408"/>
                  <a:pt x="239706" y="17971"/>
                  <a:pt x="244841" y="23050"/>
                </a:cubicBezTo>
                <a:lnTo>
                  <a:pt x="280560" y="58769"/>
                </a:lnTo>
                <a:cubicBezTo>
                  <a:pt x="283908" y="62117"/>
                  <a:pt x="285806" y="66638"/>
                  <a:pt x="285806" y="71382"/>
                </a:cubicBezTo>
                <a:cubicBezTo>
                  <a:pt x="285806" y="76126"/>
                  <a:pt x="283908" y="80646"/>
                  <a:pt x="280560" y="83995"/>
                </a:cubicBezTo>
                <a:lnTo>
                  <a:pt x="244841" y="119714"/>
                </a:lnTo>
                <a:cubicBezTo>
                  <a:pt x="239706" y="124848"/>
                  <a:pt x="232060" y="126355"/>
                  <a:pt x="225363" y="123565"/>
                </a:cubicBezTo>
                <a:cubicBezTo>
                  <a:pt x="218666" y="120774"/>
                  <a:pt x="214313" y="114356"/>
                  <a:pt x="214313" y="107156"/>
                </a:cubicBezTo>
                <a:lnTo>
                  <a:pt x="214313" y="89297"/>
                </a:lnTo>
                <a:lnTo>
                  <a:pt x="196453" y="89297"/>
                </a:lnTo>
                <a:cubicBezTo>
                  <a:pt x="190816" y="89297"/>
                  <a:pt x="185514" y="91920"/>
                  <a:pt x="182166" y="96441"/>
                </a:cubicBezTo>
                <a:lnTo>
                  <a:pt x="164083" y="120551"/>
                </a:lnTo>
                <a:lnTo>
                  <a:pt x="141759" y="90804"/>
                </a:lnTo>
                <a:lnTo>
                  <a:pt x="153591" y="75009"/>
                </a:lnTo>
                <a:cubicBezTo>
                  <a:pt x="163692" y="61503"/>
                  <a:pt x="179598" y="53578"/>
                  <a:pt x="196453" y="53578"/>
                </a:cubicBezTo>
                <a:lnTo>
                  <a:pt x="214313" y="53578"/>
                </a:lnTo>
                <a:lnTo>
                  <a:pt x="214313" y="35719"/>
                </a:lnTo>
                <a:cubicBezTo>
                  <a:pt x="214313" y="28519"/>
                  <a:pt x="218666" y="21989"/>
                  <a:pt x="225363" y="19199"/>
                </a:cubicBezTo>
                <a:close/>
                <a:moveTo>
                  <a:pt x="85948" y="165199"/>
                </a:moveTo>
                <a:lnTo>
                  <a:pt x="108272" y="194946"/>
                </a:lnTo>
                <a:lnTo>
                  <a:pt x="96441" y="210741"/>
                </a:lnTo>
                <a:cubicBezTo>
                  <a:pt x="86339" y="224247"/>
                  <a:pt x="70433" y="232172"/>
                  <a:pt x="53578" y="232172"/>
                </a:cubicBez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53578" y="196453"/>
                </a:lnTo>
                <a:cubicBezTo>
                  <a:pt x="59215" y="196453"/>
                  <a:pt x="64517" y="193830"/>
                  <a:pt x="67866" y="189309"/>
                </a:cubicBezTo>
                <a:lnTo>
                  <a:pt x="85948" y="165199"/>
                </a:lnTo>
                <a:close/>
                <a:moveTo>
                  <a:pt x="244785" y="262644"/>
                </a:moveTo>
                <a:cubicBezTo>
                  <a:pt x="239650" y="267779"/>
                  <a:pt x="232004" y="269286"/>
                  <a:pt x="225307" y="266495"/>
                </a:cubicBezTo>
                <a:cubicBezTo>
                  <a:pt x="218610" y="263705"/>
                  <a:pt x="214313" y="257231"/>
                  <a:pt x="214313" y="250031"/>
                </a:cubicBezTo>
                <a:lnTo>
                  <a:pt x="214313" y="232172"/>
                </a:lnTo>
                <a:lnTo>
                  <a:pt x="196453" y="232172"/>
                </a:lnTo>
                <a:cubicBezTo>
                  <a:pt x="179598" y="232172"/>
                  <a:pt x="163692" y="224247"/>
                  <a:pt x="153591" y="210741"/>
                </a:cubicBezTo>
                <a:lnTo>
                  <a:pt x="67866" y="96441"/>
                </a:lnTo>
                <a:cubicBezTo>
                  <a:pt x="64517" y="91920"/>
                  <a:pt x="59215" y="89297"/>
                  <a:pt x="53578" y="89297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cubicBezTo>
                  <a:pt x="70433" y="53578"/>
                  <a:pt x="86339" y="61503"/>
                  <a:pt x="96441" y="75009"/>
                </a:cubicBezTo>
                <a:lnTo>
                  <a:pt x="182166" y="189309"/>
                </a:lnTo>
                <a:cubicBezTo>
                  <a:pt x="185514" y="193830"/>
                  <a:pt x="190816" y="196453"/>
                  <a:pt x="196453" y="196453"/>
                </a:cubicBezTo>
                <a:lnTo>
                  <a:pt x="214313" y="196453"/>
                </a:lnTo>
                <a:lnTo>
                  <a:pt x="214313" y="178594"/>
                </a:lnTo>
                <a:cubicBezTo>
                  <a:pt x="214313" y="171394"/>
                  <a:pt x="218666" y="164864"/>
                  <a:pt x="225363" y="162074"/>
                </a:cubicBezTo>
                <a:cubicBezTo>
                  <a:pt x="232060" y="159283"/>
                  <a:pt x="239706" y="160846"/>
                  <a:pt x="244841" y="165925"/>
                </a:cubicBezTo>
                <a:lnTo>
                  <a:pt x="280560" y="201644"/>
                </a:lnTo>
                <a:cubicBezTo>
                  <a:pt x="283908" y="204992"/>
                  <a:pt x="285806" y="209513"/>
                  <a:pt x="285806" y="214257"/>
                </a:cubicBezTo>
                <a:cubicBezTo>
                  <a:pt x="285806" y="219001"/>
                  <a:pt x="283908" y="223521"/>
                  <a:pt x="280560" y="226870"/>
                </a:cubicBezTo>
                <a:lnTo>
                  <a:pt x="244841" y="262589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7" name="Text 25"/>
          <p:cNvSpPr/>
          <p:nvPr/>
        </p:nvSpPr>
        <p:spPr>
          <a:xfrm>
            <a:off x="4312920" y="5608916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Sampling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17683" y="5837516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Unbiased selection</a:t>
            </a:r>
            <a:endParaRPr lang="en-US" sz="1600" dirty="0"/>
          </a:p>
        </p:txBody>
      </p:sp>
      <p:pic>
        <p:nvPicPr>
          <p:cNvPr id="29" name="Image 0" descr="https://kimi-web-img.moonshot.cn/img/plus.maths.org/281a1f0d930846df43efa29fe359de03685e45f0.png">    </p:cNvPr>
          <p:cNvPicPr>
            <a:picLocks noChangeAspect="1"/>
          </p:cNvPicPr>
          <p:nvPr/>
        </p:nvPicPr>
        <p:blipFill>
          <a:blip r:embed="rId1"/>
          <a:srcRect l="18" r="18" t="0" b="0"/>
          <a:stretch/>
        </p:blipFill>
        <p:spPr>
          <a:xfrm>
            <a:off x="6248400" y="1714976"/>
            <a:ext cx="5534025" cy="4124325"/>
          </a:xfrm>
          <a:prstGeom prst="roundRect">
            <a:avLst>
              <a:gd name="adj" fmla="val 2771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10317481" y="5562005"/>
            <a:ext cx="1647825" cy="457200"/>
          </a:xfrm>
          <a:custGeom>
            <a:avLst/>
            <a:gdLst/>
            <a:ahLst/>
            <a:cxnLst/>
            <a:rect l="l" t="t" r="r" b="b"/>
            <a:pathLst>
              <a:path w="1647825" h="457200">
                <a:moveTo>
                  <a:pt x="76202" y="0"/>
                </a:moveTo>
                <a:lnTo>
                  <a:pt x="1571623" y="0"/>
                </a:lnTo>
                <a:cubicBezTo>
                  <a:pt x="1613708" y="0"/>
                  <a:pt x="1647825" y="34117"/>
                  <a:pt x="1647825" y="76202"/>
                </a:cubicBezTo>
                <a:lnTo>
                  <a:pt x="1647825" y="380998"/>
                </a:lnTo>
                <a:cubicBezTo>
                  <a:pt x="1647825" y="423083"/>
                  <a:pt x="1613708" y="457200"/>
                  <a:pt x="15716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546081" y="567630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P(X) = 1/n for all 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464820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4733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Exploitation Bias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" name="Shape 4"/>
          <p:cNvSpPr/>
          <p:nvPr/>
        </p:nvSpPr>
        <p:spPr>
          <a:xfrm>
            <a:off x="384810" y="1108710"/>
            <a:ext cx="11418570" cy="2446020"/>
          </a:xfrm>
          <a:custGeom>
            <a:avLst/>
            <a:gdLst/>
            <a:ahLst/>
            <a:cxnLst/>
            <a:rect l="l" t="t" r="r" b="b"/>
            <a:pathLst>
              <a:path w="11418570" h="2446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2331717"/>
                </a:lnTo>
                <a:cubicBezTo>
                  <a:pt x="11418570" y="2394845"/>
                  <a:pt x="11367395" y="2446020"/>
                  <a:pt x="113042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0070" y="1341120"/>
            <a:ext cx="11068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Vicious Feedback Loop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0475" y="1817251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319795">
              <a:alpha val="30196"/>
            </a:srgbClr>
          </a:solidFill>
          <a:ln w="50800">
            <a:solidFill>
              <a:srgbClr val="3197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4313" y="2083951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0" name="Text 8"/>
          <p:cNvSpPr/>
          <p:nvPr/>
        </p:nvSpPr>
        <p:spPr>
          <a:xfrm>
            <a:off x="3823335" y="2826901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Predicts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2385" y="3093601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Items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91088" y="238875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5604510" y="1817251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319795">
              <a:alpha val="30196"/>
            </a:srgbClr>
          </a:solidFill>
          <a:ln w="50800">
            <a:solidFill>
              <a:srgbClr val="3197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2641" y="2083951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166092"/>
                </a:moveTo>
                <a:cubicBezTo>
                  <a:pt x="194375" y="166092"/>
                  <a:pt x="230386" y="130081"/>
                  <a:pt x="230386" y="85725"/>
                </a:cubicBezTo>
                <a:cubicBezTo>
                  <a:pt x="230386" y="41369"/>
                  <a:pt x="194375" y="5358"/>
                  <a:pt x="150019" y="5358"/>
                </a:cubicBezTo>
                <a:cubicBezTo>
                  <a:pt x="105663" y="5358"/>
                  <a:pt x="69652" y="41369"/>
                  <a:pt x="69652" y="85725"/>
                </a:cubicBezTo>
                <a:cubicBezTo>
                  <a:pt x="69652" y="130081"/>
                  <a:pt x="105663" y="166092"/>
                  <a:pt x="150019" y="166092"/>
                </a:cubicBezTo>
                <a:close/>
                <a:moveTo>
                  <a:pt x="130128" y="203597"/>
                </a:moveTo>
                <a:cubicBezTo>
                  <a:pt x="64160" y="203597"/>
                  <a:pt x="10716" y="257041"/>
                  <a:pt x="10716" y="323009"/>
                </a:cubicBezTo>
                <a:cubicBezTo>
                  <a:pt x="10716" y="333993"/>
                  <a:pt x="19623" y="342900"/>
                  <a:pt x="30607" y="342900"/>
                </a:cubicBezTo>
                <a:lnTo>
                  <a:pt x="269431" y="342900"/>
                </a:lnTo>
                <a:cubicBezTo>
                  <a:pt x="280415" y="342900"/>
                  <a:pt x="289322" y="333993"/>
                  <a:pt x="289322" y="323009"/>
                </a:cubicBezTo>
                <a:cubicBezTo>
                  <a:pt x="289322" y="257041"/>
                  <a:pt x="235878" y="203597"/>
                  <a:pt x="169910" y="203597"/>
                </a:cubicBezTo>
                <a:lnTo>
                  <a:pt x="130128" y="203597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5" name="Text 13"/>
          <p:cNvSpPr/>
          <p:nvPr/>
        </p:nvSpPr>
        <p:spPr>
          <a:xfrm>
            <a:off x="5657850" y="2826901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0" y="3093601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Buys Shown Items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1332" y="238875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8" name="Shape 16"/>
          <p:cNvSpPr/>
          <p:nvPr/>
        </p:nvSpPr>
        <p:spPr>
          <a:xfrm>
            <a:off x="7461885" y="1817251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319795">
              <a:alpha val="30196"/>
            </a:srgbClr>
          </a:solidFill>
          <a:ln w="50800">
            <a:solidFill>
              <a:srgbClr val="31979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8585" y="208395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536" y="128588"/>
                </a:moveTo>
                <a:lnTo>
                  <a:pt x="326827" y="128588"/>
                </a:lnTo>
                <a:cubicBezTo>
                  <a:pt x="335734" y="128588"/>
                  <a:pt x="342900" y="121421"/>
                  <a:pt x="342900" y="112514"/>
                </a:cubicBezTo>
                <a:lnTo>
                  <a:pt x="342900" y="16073"/>
                </a:lnTo>
                <a:cubicBezTo>
                  <a:pt x="342900" y="9577"/>
                  <a:pt x="339016" y="3683"/>
                  <a:pt x="332988" y="1206"/>
                </a:cubicBezTo>
                <a:cubicBezTo>
                  <a:pt x="326961" y="-1272"/>
                  <a:pt x="320062" y="134"/>
                  <a:pt x="315441" y="4688"/>
                </a:cubicBezTo>
                <a:lnTo>
                  <a:pt x="280816" y="39380"/>
                </a:lnTo>
                <a:cubicBezTo>
                  <a:pt x="251147" y="14801"/>
                  <a:pt x="212973" y="0"/>
                  <a:pt x="171450" y="0"/>
                </a:cubicBezTo>
                <a:cubicBezTo>
                  <a:pt x="85055" y="0"/>
                  <a:pt x="13595" y="63892"/>
                  <a:pt x="1741" y="147005"/>
                </a:cubicBezTo>
                <a:cubicBezTo>
                  <a:pt x="67" y="158725"/>
                  <a:pt x="8171" y="169575"/>
                  <a:pt x="19891" y="171249"/>
                </a:cubicBezTo>
                <a:cubicBezTo>
                  <a:pt x="31611" y="172923"/>
                  <a:pt x="42461" y="164753"/>
                  <a:pt x="44135" y="153099"/>
                </a:cubicBezTo>
                <a:cubicBezTo>
                  <a:pt x="53042" y="90748"/>
                  <a:pt x="106687" y="42863"/>
                  <a:pt x="171450" y="42863"/>
                </a:cubicBezTo>
                <a:cubicBezTo>
                  <a:pt x="201186" y="42863"/>
                  <a:pt x="228511" y="52908"/>
                  <a:pt x="250277" y="69852"/>
                </a:cubicBezTo>
                <a:lnTo>
                  <a:pt x="219001" y="101129"/>
                </a:lnTo>
                <a:cubicBezTo>
                  <a:pt x="214379" y="105750"/>
                  <a:pt x="213040" y="112648"/>
                  <a:pt x="215518" y="118676"/>
                </a:cubicBezTo>
                <a:cubicBezTo>
                  <a:pt x="217996" y="124703"/>
                  <a:pt x="223890" y="128588"/>
                  <a:pt x="230386" y="128588"/>
                </a:cubicBezTo>
                <a:lnTo>
                  <a:pt x="321536" y="128588"/>
                </a:lnTo>
                <a:close/>
                <a:moveTo>
                  <a:pt x="341226" y="195895"/>
                </a:moveTo>
                <a:cubicBezTo>
                  <a:pt x="342900" y="184175"/>
                  <a:pt x="334729" y="173325"/>
                  <a:pt x="323076" y="171651"/>
                </a:cubicBezTo>
                <a:cubicBezTo>
                  <a:pt x="311423" y="169977"/>
                  <a:pt x="300506" y="178147"/>
                  <a:pt x="298832" y="189801"/>
                </a:cubicBezTo>
                <a:cubicBezTo>
                  <a:pt x="289925" y="252085"/>
                  <a:pt x="236280" y="299971"/>
                  <a:pt x="171517" y="299971"/>
                </a:cubicBezTo>
                <a:cubicBezTo>
                  <a:pt x="141781" y="299971"/>
                  <a:pt x="114456" y="289925"/>
                  <a:pt x="92690" y="272981"/>
                </a:cubicBezTo>
                <a:lnTo>
                  <a:pt x="123899" y="241771"/>
                </a:lnTo>
                <a:cubicBezTo>
                  <a:pt x="128521" y="237150"/>
                  <a:pt x="129860" y="230252"/>
                  <a:pt x="127382" y="224224"/>
                </a:cubicBezTo>
                <a:cubicBezTo>
                  <a:pt x="124904" y="218197"/>
                  <a:pt x="119010" y="214313"/>
                  <a:pt x="112514" y="214313"/>
                </a:cubicBezTo>
                <a:lnTo>
                  <a:pt x="16073" y="214313"/>
                </a:lnTo>
                <a:cubicBezTo>
                  <a:pt x="7166" y="214313"/>
                  <a:pt x="0" y="221479"/>
                  <a:pt x="0" y="230386"/>
                </a:cubicBezTo>
                <a:lnTo>
                  <a:pt x="0" y="326827"/>
                </a:lnTo>
                <a:cubicBezTo>
                  <a:pt x="0" y="333323"/>
                  <a:pt x="3884" y="339217"/>
                  <a:pt x="9912" y="341694"/>
                </a:cubicBezTo>
                <a:cubicBezTo>
                  <a:pt x="15939" y="344172"/>
                  <a:pt x="22838" y="342766"/>
                  <a:pt x="27459" y="338212"/>
                </a:cubicBezTo>
                <a:lnTo>
                  <a:pt x="62151" y="303520"/>
                </a:lnTo>
                <a:cubicBezTo>
                  <a:pt x="91753" y="328099"/>
                  <a:pt x="129927" y="342900"/>
                  <a:pt x="171450" y="342900"/>
                </a:cubicBezTo>
                <a:cubicBezTo>
                  <a:pt x="257845" y="342900"/>
                  <a:pt x="329305" y="279008"/>
                  <a:pt x="341159" y="195895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0" name="Text 18"/>
          <p:cNvSpPr/>
          <p:nvPr/>
        </p:nvSpPr>
        <p:spPr>
          <a:xfrm>
            <a:off x="7389495" y="2826901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Reinforces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46645" y="3093601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Pattern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3787021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524249" y="0"/>
                </a:lnTo>
                <a:cubicBezTo>
                  <a:pt x="3587376" y="0"/>
                  <a:pt x="3638550" y="51174"/>
                  <a:pt x="3638550" y="114301"/>
                </a:cubicBezTo>
                <a:lnTo>
                  <a:pt x="3638550" y="1466849"/>
                </a:lnTo>
                <a:cubicBezTo>
                  <a:pt x="3638550" y="1529976"/>
                  <a:pt x="3587376" y="1581150"/>
                  <a:pt x="3524249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3787021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275" y="40346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4015621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" y="4396621"/>
            <a:ext cx="3238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Exploitation Bias: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only shows what it already believes works, creating a self-reinforcing cycle that misses hidden opportunities.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86250" y="3787021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524249" y="0"/>
                </a:lnTo>
                <a:cubicBezTo>
                  <a:pt x="3587376" y="0"/>
                  <a:pt x="3638550" y="51174"/>
                  <a:pt x="3638550" y="114301"/>
                </a:cubicBezTo>
                <a:lnTo>
                  <a:pt x="3638550" y="1466849"/>
                </a:lnTo>
                <a:cubicBezTo>
                  <a:pt x="3638550" y="1529976"/>
                  <a:pt x="3587376" y="1581150"/>
                  <a:pt x="3524249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86250" y="3787021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48188" y="403467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63445"/>
                </a:move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07156"/>
                </a:lnTo>
                <a:cubicBezTo>
                  <a:pt x="28575" y="99253"/>
                  <a:pt x="34960" y="92869"/>
                  <a:pt x="42863" y="92869"/>
                </a:cubicBezTo>
                <a:lnTo>
                  <a:pt x="214313" y="92869"/>
                </a:lnTo>
                <a:cubicBezTo>
                  <a:pt x="222215" y="92869"/>
                  <a:pt x="228600" y="99253"/>
                  <a:pt x="228600" y="107156"/>
                </a:cubicBezTo>
                <a:lnTo>
                  <a:pt x="228600" y="214313"/>
                </a:lnTo>
                <a:cubicBezTo>
                  <a:pt x="228600" y="222215"/>
                  <a:pt x="234985" y="228600"/>
                  <a:pt x="242888" y="228600"/>
                </a:cubicBezTo>
                <a:cubicBezTo>
                  <a:pt x="250790" y="228600"/>
                  <a:pt x="257175" y="222215"/>
                  <a:pt x="257175" y="214313"/>
                </a:cubicBezTo>
                <a:lnTo>
                  <a:pt x="257175" y="63445"/>
                </a:lnTo>
                <a:cubicBezTo>
                  <a:pt x="257175" y="51167"/>
                  <a:pt x="249317" y="40228"/>
                  <a:pt x="237619" y="36344"/>
                </a:cubicBezTo>
                <a:lnTo>
                  <a:pt x="135374" y="2277"/>
                </a:lnTo>
                <a:cubicBezTo>
                  <a:pt x="130954" y="804"/>
                  <a:pt x="126221" y="804"/>
                  <a:pt x="121801" y="2277"/>
                </a:cubicBezTo>
                <a:lnTo>
                  <a:pt x="19556" y="36344"/>
                </a:lnTo>
                <a:cubicBezTo>
                  <a:pt x="7858" y="40228"/>
                  <a:pt x="0" y="51167"/>
                  <a:pt x="0" y="63445"/>
                </a:cubicBezTo>
                <a:close/>
                <a:moveTo>
                  <a:pt x="207169" y="114300"/>
                </a:moveTo>
                <a:lnTo>
                  <a:pt x="50006" y="114300"/>
                </a:lnTo>
                <a:lnTo>
                  <a:pt x="50006" y="142875"/>
                </a:lnTo>
                <a:lnTo>
                  <a:pt x="207169" y="142875"/>
                </a:lnTo>
                <a:lnTo>
                  <a:pt x="207169" y="114300"/>
                </a:lnTo>
                <a:close/>
                <a:moveTo>
                  <a:pt x="50006" y="185738"/>
                </a:moveTo>
                <a:lnTo>
                  <a:pt x="207169" y="185738"/>
                </a:lnTo>
                <a:lnTo>
                  <a:pt x="207169" y="157163"/>
                </a:lnTo>
                <a:lnTo>
                  <a:pt x="50006" y="157163"/>
                </a:lnTo>
                <a:lnTo>
                  <a:pt x="50006" y="185738"/>
                </a:lnTo>
                <a:close/>
                <a:moveTo>
                  <a:pt x="207169" y="200025"/>
                </a:moveTo>
                <a:lnTo>
                  <a:pt x="50006" y="200025"/>
                </a:lnTo>
                <a:lnTo>
                  <a:pt x="50006" y="228600"/>
                </a:lnTo>
                <a:lnTo>
                  <a:pt x="207169" y="228600"/>
                </a:lnTo>
                <a:lnTo>
                  <a:pt x="207169" y="200025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0" name="Text 28"/>
          <p:cNvSpPr/>
          <p:nvPr/>
        </p:nvSpPr>
        <p:spPr>
          <a:xfrm>
            <a:off x="4933950" y="4015621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33900" y="4396621"/>
            <a:ext cx="3238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inventory remains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highlight>
                  <a:srgbClr val="F6AD5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unsold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despite containing quality products that never get a chance to be discovered.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72450" y="3787021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524249" y="0"/>
                </a:lnTo>
                <a:cubicBezTo>
                  <a:pt x="3587376" y="0"/>
                  <a:pt x="3638550" y="51174"/>
                  <a:pt x="3638550" y="114301"/>
                </a:cubicBezTo>
                <a:lnTo>
                  <a:pt x="3638550" y="1466849"/>
                </a:lnTo>
                <a:cubicBezTo>
                  <a:pt x="3638550" y="1529976"/>
                  <a:pt x="3587376" y="1581150"/>
                  <a:pt x="3524249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172450" y="3787021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4" name="Shape 32"/>
          <p:cNvSpPr/>
          <p:nvPr/>
        </p:nvSpPr>
        <p:spPr>
          <a:xfrm>
            <a:off x="8448675" y="40346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5" name="Text 33"/>
          <p:cNvSpPr/>
          <p:nvPr/>
        </p:nvSpPr>
        <p:spPr>
          <a:xfrm>
            <a:off x="8820150" y="4015621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20100" y="4396621"/>
            <a:ext cx="3238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Missed revenue opportunities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highlight>
                  <a:srgbClr val="F6AD5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stagnant innovation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the system becomes increasingly narrow in its recommendations.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" name="Text 1"/>
          <p:cNvSpPr/>
          <p:nvPr/>
        </p:nvSpPr>
        <p:spPr>
          <a:xfrm>
            <a:off x="461010" y="438150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5067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 95/5 Split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" name="Shape 4"/>
          <p:cNvSpPr/>
          <p:nvPr/>
        </p:nvSpPr>
        <p:spPr>
          <a:xfrm>
            <a:off x="384810" y="1032510"/>
            <a:ext cx="6370320" cy="3208020"/>
          </a:xfrm>
          <a:custGeom>
            <a:avLst/>
            <a:gdLst/>
            <a:ahLst/>
            <a:cxnLst/>
            <a:rect l="l" t="t" r="r" b="b"/>
            <a:pathLst>
              <a:path w="6370320" h="3208020">
                <a:moveTo>
                  <a:pt x="114302" y="0"/>
                </a:moveTo>
                <a:lnTo>
                  <a:pt x="6256018" y="0"/>
                </a:lnTo>
                <a:cubicBezTo>
                  <a:pt x="6319145" y="0"/>
                  <a:pt x="6370320" y="51175"/>
                  <a:pt x="6370320" y="114302"/>
                </a:cubicBezTo>
                <a:lnTo>
                  <a:pt x="6370320" y="3093718"/>
                </a:lnTo>
                <a:cubicBezTo>
                  <a:pt x="6370320" y="3156845"/>
                  <a:pt x="6319145" y="3208020"/>
                  <a:pt x="6256018" y="3208020"/>
                </a:cubicBezTo>
                <a:lnTo>
                  <a:pt x="114302" y="3208020"/>
                </a:lnTo>
                <a:cubicBezTo>
                  <a:pt x="51175" y="3208020"/>
                  <a:pt x="0" y="3156845"/>
                  <a:pt x="0" y="309371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495" y="1226820"/>
            <a:ext cx="607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Split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18153" b="18153"/>
          <a:stretch/>
        </p:blipFill>
        <p:spPr>
          <a:xfrm>
            <a:off x="579120" y="1645920"/>
            <a:ext cx="5981700" cy="15240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1351359" y="3322320"/>
            <a:ext cx="1371600" cy="419100"/>
          </a:xfrm>
          <a:custGeom>
            <a:avLst/>
            <a:gdLst/>
            <a:ahLst/>
            <a:cxnLst/>
            <a:rect l="l" t="t" r="r" b="b"/>
            <a:pathLst>
              <a:path w="1371600" h="419100">
                <a:moveTo>
                  <a:pt x="76201" y="0"/>
                </a:moveTo>
                <a:lnTo>
                  <a:pt x="1295399" y="0"/>
                </a:lnTo>
                <a:cubicBezTo>
                  <a:pt x="1337484" y="0"/>
                  <a:pt x="1371600" y="34116"/>
                  <a:pt x="1371600" y="76201"/>
                </a:cubicBezTo>
                <a:lnTo>
                  <a:pt x="1371600" y="342899"/>
                </a:lnTo>
                <a:cubicBezTo>
                  <a:pt x="1371600" y="384984"/>
                  <a:pt x="1337484" y="419100"/>
                  <a:pt x="12953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19795">
              <a:alpha val="3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460897" y="339852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Predictions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1020" y="381762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Proven recommendations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4227" y="3322320"/>
            <a:ext cx="1619250" cy="419100"/>
          </a:xfrm>
          <a:custGeom>
            <a:avLst/>
            <a:gdLst/>
            <a:ahLst/>
            <a:cxnLst/>
            <a:rect l="l" t="t" r="r" b="b"/>
            <a:pathLst>
              <a:path w="1619250" h="419100">
                <a:moveTo>
                  <a:pt x="76201" y="0"/>
                </a:moveTo>
                <a:lnTo>
                  <a:pt x="1543049" y="0"/>
                </a:lnTo>
                <a:cubicBezTo>
                  <a:pt x="1585134" y="0"/>
                  <a:pt x="1619250" y="34116"/>
                  <a:pt x="1619250" y="76201"/>
                </a:cubicBezTo>
                <a:lnTo>
                  <a:pt x="1619250" y="342899"/>
                </a:lnTo>
                <a:cubicBezTo>
                  <a:pt x="1619250" y="384984"/>
                  <a:pt x="1585134" y="419100"/>
                  <a:pt x="15430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403765" y="339852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Random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09618" y="381762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 &amp; discovery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22056" y="1036320"/>
            <a:ext cx="4882515" cy="1529715"/>
          </a:xfrm>
          <a:custGeom>
            <a:avLst/>
            <a:gdLst/>
            <a:ahLst/>
            <a:cxnLst/>
            <a:rect l="l" t="t" r="r" b="b"/>
            <a:pathLst>
              <a:path w="4882515" h="1529715">
                <a:moveTo>
                  <a:pt x="114300" y="0"/>
                </a:moveTo>
                <a:lnTo>
                  <a:pt x="4768215" y="0"/>
                </a:lnTo>
                <a:cubicBezTo>
                  <a:pt x="4831341" y="0"/>
                  <a:pt x="4882515" y="51174"/>
                  <a:pt x="4882515" y="114300"/>
                </a:cubicBezTo>
                <a:lnTo>
                  <a:pt x="4882515" y="1415415"/>
                </a:lnTo>
                <a:cubicBezTo>
                  <a:pt x="4882515" y="1478541"/>
                  <a:pt x="4831341" y="1529715"/>
                  <a:pt x="4768215" y="1529715"/>
                </a:cubicBezTo>
                <a:lnTo>
                  <a:pt x="114300" y="1529715"/>
                </a:lnTo>
                <a:cubicBezTo>
                  <a:pt x="51174" y="1529715"/>
                  <a:pt x="0" y="1478541"/>
                  <a:pt x="0" y="141541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20320">
            <a:solidFill>
              <a:srgbClr val="31979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24938" y="142113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7" name="Text 14"/>
          <p:cNvSpPr/>
          <p:nvPr/>
        </p:nvSpPr>
        <p:spPr>
          <a:xfrm>
            <a:off x="7412712" y="138303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5%?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12712" y="1725930"/>
            <a:ext cx="426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enough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statistically significant insights, yet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enough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protect core revenue streams.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33486" y="2727961"/>
            <a:ext cx="4876800" cy="1514475"/>
          </a:xfrm>
          <a:custGeom>
            <a:avLst/>
            <a:gdLst/>
            <a:ahLst/>
            <a:cxnLst/>
            <a:rect l="l" t="t" r="r" b="b"/>
            <a:pathLst>
              <a:path w="4876800" h="1514475">
                <a:moveTo>
                  <a:pt x="38100" y="0"/>
                </a:moveTo>
                <a:lnTo>
                  <a:pt x="4800607" y="0"/>
                </a:lnTo>
                <a:cubicBezTo>
                  <a:pt x="4842687" y="0"/>
                  <a:pt x="4876800" y="34113"/>
                  <a:pt x="4876800" y="76193"/>
                </a:cubicBezTo>
                <a:lnTo>
                  <a:pt x="4876800" y="1438282"/>
                </a:lnTo>
                <a:cubicBezTo>
                  <a:pt x="4876800" y="1480362"/>
                  <a:pt x="4842687" y="1514475"/>
                  <a:pt x="4800607" y="1514475"/>
                </a:cubicBezTo>
                <a:lnTo>
                  <a:pt x="38100" y="1514475"/>
                </a:lnTo>
                <a:cubicBezTo>
                  <a:pt x="17072" y="1514475"/>
                  <a:pt x="0" y="1497403"/>
                  <a:pt x="0" y="1476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933486" y="2727961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3810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38100" y="1514475"/>
                </a:lnTo>
                <a:cubicBezTo>
                  <a:pt x="17072" y="1514475"/>
                  <a:pt x="0" y="1497403"/>
                  <a:pt x="0" y="1476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1" name="Shape 18"/>
          <p:cNvSpPr/>
          <p:nvPr/>
        </p:nvSpPr>
        <p:spPr>
          <a:xfrm>
            <a:off x="7114461" y="3105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2" name="Text 19"/>
          <p:cNvSpPr/>
          <p:nvPr/>
        </p:nvSpPr>
        <p:spPr>
          <a:xfrm>
            <a:off x="7432596" y="306705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Detail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32596" y="3409950"/>
            <a:ext cx="426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per interaction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per customer. Every recommendation opportunity includes exploration.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4810" y="4400551"/>
            <a:ext cx="3703320" cy="1207770"/>
          </a:xfrm>
          <a:custGeom>
            <a:avLst/>
            <a:gdLst/>
            <a:ahLst/>
            <a:cxnLst/>
            <a:rect l="l" t="t" r="r" b="b"/>
            <a:pathLst>
              <a:path w="3703320" h="1207770">
                <a:moveTo>
                  <a:pt x="76198" y="0"/>
                </a:moveTo>
                <a:lnTo>
                  <a:pt x="3627122" y="0"/>
                </a:lnTo>
                <a:cubicBezTo>
                  <a:pt x="3669205" y="0"/>
                  <a:pt x="3703320" y="34115"/>
                  <a:pt x="3703320" y="76198"/>
                </a:cubicBezTo>
                <a:lnTo>
                  <a:pt x="3703320" y="1131572"/>
                </a:lnTo>
                <a:cubicBezTo>
                  <a:pt x="3703320" y="1173655"/>
                  <a:pt x="3669205" y="1207770"/>
                  <a:pt x="36271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94667" y="45567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6" name="Text 23"/>
          <p:cNvSpPr/>
          <p:nvPr/>
        </p:nvSpPr>
        <p:spPr>
          <a:xfrm>
            <a:off x="498157" y="4918711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Protection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02920" y="5223511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 proven performance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245531" y="4400551"/>
            <a:ext cx="3703320" cy="1207770"/>
          </a:xfrm>
          <a:custGeom>
            <a:avLst/>
            <a:gdLst/>
            <a:ahLst/>
            <a:cxnLst/>
            <a:rect l="l" t="t" r="r" b="b"/>
            <a:pathLst>
              <a:path w="3703320" h="1207770">
                <a:moveTo>
                  <a:pt x="76198" y="0"/>
                </a:moveTo>
                <a:lnTo>
                  <a:pt x="3627122" y="0"/>
                </a:lnTo>
                <a:cubicBezTo>
                  <a:pt x="3669205" y="0"/>
                  <a:pt x="3703320" y="34115"/>
                  <a:pt x="3703320" y="76198"/>
                </a:cubicBezTo>
                <a:lnTo>
                  <a:pt x="3703320" y="1131572"/>
                </a:lnTo>
                <a:cubicBezTo>
                  <a:pt x="3703320" y="1173655"/>
                  <a:pt x="3669205" y="1207770"/>
                  <a:pt x="36271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55387" y="45567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0" name="Text 27"/>
          <p:cNvSpPr/>
          <p:nvPr/>
        </p:nvSpPr>
        <p:spPr>
          <a:xfrm>
            <a:off x="4358878" y="4918711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Discovery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363641" y="5223511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5% explores full inventory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106371" y="4400551"/>
            <a:ext cx="3703320" cy="1207770"/>
          </a:xfrm>
          <a:custGeom>
            <a:avLst/>
            <a:gdLst/>
            <a:ahLst/>
            <a:cxnLst/>
            <a:rect l="l" t="t" r="r" b="b"/>
            <a:pathLst>
              <a:path w="3703320" h="1207770">
                <a:moveTo>
                  <a:pt x="76198" y="0"/>
                </a:moveTo>
                <a:lnTo>
                  <a:pt x="3627122" y="0"/>
                </a:lnTo>
                <a:cubicBezTo>
                  <a:pt x="3669205" y="0"/>
                  <a:pt x="3703320" y="34115"/>
                  <a:pt x="3703320" y="76198"/>
                </a:cubicBezTo>
                <a:lnTo>
                  <a:pt x="3703320" y="1131572"/>
                </a:lnTo>
                <a:cubicBezTo>
                  <a:pt x="3703320" y="1173655"/>
                  <a:pt x="3669205" y="1207770"/>
                  <a:pt x="36271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80509" y="455676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4" name="Text 31"/>
          <p:cNvSpPr/>
          <p:nvPr/>
        </p:nvSpPr>
        <p:spPr>
          <a:xfrm>
            <a:off x="8219718" y="4918711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Balance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224481" y="5223511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proportion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" name="Text 1"/>
          <p:cNvSpPr/>
          <p:nvPr/>
        </p:nvSpPr>
        <p:spPr>
          <a:xfrm>
            <a:off x="461010" y="438150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575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Works: The Five-Step Process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487805"/>
            <a:ext cx="1819275" cy="3543300"/>
          </a:xfrm>
          <a:custGeom>
            <a:avLst/>
            <a:gdLst/>
            <a:ahLst/>
            <a:cxnLst/>
            <a:rect l="l" t="t" r="r" b="b"/>
            <a:pathLst>
              <a:path w="1819275" h="3543300">
                <a:moveTo>
                  <a:pt x="38100" y="0"/>
                </a:moveTo>
                <a:lnTo>
                  <a:pt x="1781175" y="0"/>
                </a:lnTo>
                <a:cubicBezTo>
                  <a:pt x="1802217" y="0"/>
                  <a:pt x="1819275" y="17058"/>
                  <a:pt x="1819275" y="38100"/>
                </a:cubicBezTo>
                <a:lnTo>
                  <a:pt x="1819275" y="3428995"/>
                </a:lnTo>
                <a:cubicBezTo>
                  <a:pt x="1819275" y="3492124"/>
                  <a:pt x="1768099" y="3543300"/>
                  <a:pt x="1704970" y="3543300"/>
                </a:cubicBezTo>
                <a:lnTo>
                  <a:pt x="114305" y="3543300"/>
                </a:lnTo>
                <a:cubicBezTo>
                  <a:pt x="51176" y="3543300"/>
                  <a:pt x="0" y="3492124"/>
                  <a:pt x="0" y="342899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487805"/>
            <a:ext cx="1819275" cy="38100"/>
          </a:xfrm>
          <a:custGeom>
            <a:avLst/>
            <a:gdLst/>
            <a:ahLst/>
            <a:cxnLst/>
            <a:rect l="l" t="t" r="r" b="b"/>
            <a:pathLst>
              <a:path w="1819275" h="38100">
                <a:moveTo>
                  <a:pt x="38100" y="0"/>
                </a:moveTo>
                <a:lnTo>
                  <a:pt x="1781175" y="0"/>
                </a:lnTo>
                <a:cubicBezTo>
                  <a:pt x="1802203" y="0"/>
                  <a:pt x="1819275" y="17072"/>
                  <a:pt x="1819275" y="38100"/>
                </a:cubicBezTo>
                <a:lnTo>
                  <a:pt x="1819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8" name="Shape 6"/>
          <p:cNvSpPr/>
          <p:nvPr/>
        </p:nvSpPr>
        <p:spPr>
          <a:xfrm>
            <a:off x="984885" y="169735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098" y="1830705"/>
            <a:ext cx="257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8235" y="245935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70436" y="23039"/>
                </a:moveTo>
                <a:cubicBezTo>
                  <a:pt x="278472" y="19690"/>
                  <a:pt x="287648" y="21565"/>
                  <a:pt x="293809" y="27660"/>
                </a:cubicBezTo>
                <a:lnTo>
                  <a:pt x="336672" y="70522"/>
                </a:lnTo>
                <a:cubicBezTo>
                  <a:pt x="340690" y="74541"/>
                  <a:pt x="342967" y="79965"/>
                  <a:pt x="342967" y="85658"/>
                </a:cubicBezTo>
                <a:cubicBezTo>
                  <a:pt x="342967" y="91351"/>
                  <a:pt x="340690" y="96775"/>
                  <a:pt x="336672" y="100794"/>
                </a:cubicBezTo>
                <a:lnTo>
                  <a:pt x="293809" y="143656"/>
                </a:lnTo>
                <a:cubicBezTo>
                  <a:pt x="287648" y="149818"/>
                  <a:pt x="278472" y="151626"/>
                  <a:pt x="270436" y="148277"/>
                </a:cubicBezTo>
                <a:cubicBezTo>
                  <a:pt x="262399" y="144929"/>
                  <a:pt x="257175" y="137227"/>
                  <a:pt x="257175" y="128588"/>
                </a:cubicBezTo>
                <a:lnTo>
                  <a:pt x="257175" y="107156"/>
                </a:lnTo>
                <a:lnTo>
                  <a:pt x="235744" y="107156"/>
                </a:lnTo>
                <a:cubicBezTo>
                  <a:pt x="228980" y="107156"/>
                  <a:pt x="222617" y="110304"/>
                  <a:pt x="218599" y="115729"/>
                </a:cubicBezTo>
                <a:lnTo>
                  <a:pt x="196900" y="144661"/>
                </a:lnTo>
                <a:lnTo>
                  <a:pt x="170111" y="108965"/>
                </a:lnTo>
                <a:lnTo>
                  <a:pt x="184309" y="90011"/>
                </a:lnTo>
                <a:cubicBezTo>
                  <a:pt x="196431" y="73804"/>
                  <a:pt x="215518" y="64294"/>
                  <a:pt x="235744" y="64294"/>
                </a:cubicBezTo>
                <a:lnTo>
                  <a:pt x="257175" y="64294"/>
                </a:lnTo>
                <a:lnTo>
                  <a:pt x="257175" y="42863"/>
                </a:lnTo>
                <a:cubicBezTo>
                  <a:pt x="257175" y="34223"/>
                  <a:pt x="262399" y="26387"/>
                  <a:pt x="270436" y="23039"/>
                </a:cubicBezTo>
                <a:close/>
                <a:moveTo>
                  <a:pt x="103138" y="198239"/>
                </a:moveTo>
                <a:lnTo>
                  <a:pt x="129927" y="233935"/>
                </a:lnTo>
                <a:lnTo>
                  <a:pt x="115729" y="252889"/>
                </a:lnTo>
                <a:cubicBezTo>
                  <a:pt x="103607" y="269096"/>
                  <a:pt x="84519" y="278606"/>
                  <a:pt x="64294" y="278606"/>
                </a:cubicBezTo>
                <a:lnTo>
                  <a:pt x="21431" y="278606"/>
                </a:lnTo>
                <a:cubicBezTo>
                  <a:pt x="9577" y="278606"/>
                  <a:pt x="0" y="269029"/>
                  <a:pt x="0" y="257175"/>
                </a:cubicBezTo>
                <a:cubicBezTo>
                  <a:pt x="0" y="245321"/>
                  <a:pt x="9577" y="235744"/>
                  <a:pt x="21431" y="235744"/>
                </a:cubicBezTo>
                <a:lnTo>
                  <a:pt x="64294" y="235744"/>
                </a:lnTo>
                <a:cubicBezTo>
                  <a:pt x="71058" y="235744"/>
                  <a:pt x="77420" y="232596"/>
                  <a:pt x="81439" y="227171"/>
                </a:cubicBezTo>
                <a:lnTo>
                  <a:pt x="103138" y="198239"/>
                </a:lnTo>
                <a:close/>
                <a:moveTo>
                  <a:pt x="293742" y="315173"/>
                </a:moveTo>
                <a:cubicBezTo>
                  <a:pt x="287581" y="321335"/>
                  <a:pt x="278405" y="323143"/>
                  <a:pt x="270369" y="319794"/>
                </a:cubicBezTo>
                <a:cubicBezTo>
                  <a:pt x="262332" y="316446"/>
                  <a:pt x="257175" y="308677"/>
                  <a:pt x="257175" y="300038"/>
                </a:cubicBezTo>
                <a:lnTo>
                  <a:pt x="257175" y="278606"/>
                </a:lnTo>
                <a:lnTo>
                  <a:pt x="235744" y="278606"/>
                </a:lnTo>
                <a:cubicBezTo>
                  <a:pt x="215518" y="278606"/>
                  <a:pt x="196431" y="269096"/>
                  <a:pt x="184309" y="252889"/>
                </a:cubicBezTo>
                <a:lnTo>
                  <a:pt x="81439" y="115729"/>
                </a:lnTo>
                <a:cubicBezTo>
                  <a:pt x="77420" y="110304"/>
                  <a:pt x="71058" y="107156"/>
                  <a:pt x="64294" y="107156"/>
                </a:cubicBezTo>
                <a:lnTo>
                  <a:pt x="21431" y="107156"/>
                </a:lnTo>
                <a:cubicBezTo>
                  <a:pt x="9577" y="107156"/>
                  <a:pt x="0" y="97579"/>
                  <a:pt x="0" y="85725"/>
                </a:cubicBezTo>
                <a:cubicBezTo>
                  <a:pt x="0" y="73871"/>
                  <a:pt x="9577" y="64294"/>
                  <a:pt x="21431" y="64294"/>
                </a:cubicBezTo>
                <a:lnTo>
                  <a:pt x="64294" y="64294"/>
                </a:lnTo>
                <a:cubicBezTo>
                  <a:pt x="84519" y="64294"/>
                  <a:pt x="103607" y="73804"/>
                  <a:pt x="115729" y="90011"/>
                </a:cubicBezTo>
                <a:lnTo>
                  <a:pt x="218599" y="227171"/>
                </a:lnTo>
                <a:cubicBezTo>
                  <a:pt x="222617" y="232596"/>
                  <a:pt x="228980" y="235744"/>
                  <a:pt x="235744" y="235744"/>
                </a:cubicBezTo>
                <a:lnTo>
                  <a:pt x="257175" y="235744"/>
                </a:lnTo>
                <a:lnTo>
                  <a:pt x="257175" y="214313"/>
                </a:lnTo>
                <a:cubicBezTo>
                  <a:pt x="257175" y="205673"/>
                  <a:pt x="262399" y="197837"/>
                  <a:pt x="270436" y="194489"/>
                </a:cubicBezTo>
                <a:cubicBezTo>
                  <a:pt x="278472" y="191140"/>
                  <a:pt x="287648" y="193015"/>
                  <a:pt x="293809" y="199110"/>
                </a:cubicBezTo>
                <a:lnTo>
                  <a:pt x="336672" y="241972"/>
                </a:lnTo>
                <a:cubicBezTo>
                  <a:pt x="340690" y="245991"/>
                  <a:pt x="342967" y="251415"/>
                  <a:pt x="342967" y="257108"/>
                </a:cubicBezTo>
                <a:cubicBezTo>
                  <a:pt x="342967" y="262801"/>
                  <a:pt x="340690" y="268225"/>
                  <a:pt x="336672" y="272244"/>
                </a:cubicBezTo>
                <a:lnTo>
                  <a:pt x="293809" y="315106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1" name="Text 9"/>
          <p:cNvSpPr/>
          <p:nvPr/>
        </p:nvSpPr>
        <p:spPr>
          <a:xfrm>
            <a:off x="849630" y="2954655"/>
            <a:ext cx="87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3602355"/>
            <a:ext cx="15144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item in inventory receives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8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equal probability 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being recommended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50770" y="310705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4158" y="1611630"/>
            <a:ext cx="1819275" cy="3295650"/>
          </a:xfrm>
          <a:custGeom>
            <a:avLst/>
            <a:gdLst/>
            <a:ahLst/>
            <a:cxnLst/>
            <a:rect l="l" t="t" r="r" b="b"/>
            <a:pathLst>
              <a:path w="1819275" h="3295650">
                <a:moveTo>
                  <a:pt x="38100" y="0"/>
                </a:moveTo>
                <a:lnTo>
                  <a:pt x="1781175" y="0"/>
                </a:lnTo>
                <a:cubicBezTo>
                  <a:pt x="1802217" y="0"/>
                  <a:pt x="1819275" y="17058"/>
                  <a:pt x="1819275" y="38100"/>
                </a:cubicBezTo>
                <a:lnTo>
                  <a:pt x="1819275" y="3181345"/>
                </a:lnTo>
                <a:cubicBezTo>
                  <a:pt x="1819275" y="3244474"/>
                  <a:pt x="1768099" y="3295650"/>
                  <a:pt x="1704970" y="3295650"/>
                </a:cubicBezTo>
                <a:lnTo>
                  <a:pt x="114305" y="3295650"/>
                </a:lnTo>
                <a:cubicBezTo>
                  <a:pt x="51176" y="3295650"/>
                  <a:pt x="0" y="3244474"/>
                  <a:pt x="0" y="31813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84158" y="1611630"/>
            <a:ext cx="1819275" cy="38100"/>
          </a:xfrm>
          <a:custGeom>
            <a:avLst/>
            <a:gdLst/>
            <a:ahLst/>
            <a:cxnLst/>
            <a:rect l="l" t="t" r="r" b="b"/>
            <a:pathLst>
              <a:path w="1819275" h="38100">
                <a:moveTo>
                  <a:pt x="38100" y="0"/>
                </a:moveTo>
                <a:lnTo>
                  <a:pt x="1781175" y="0"/>
                </a:lnTo>
                <a:cubicBezTo>
                  <a:pt x="1802203" y="0"/>
                  <a:pt x="1819275" y="17072"/>
                  <a:pt x="1819275" y="38100"/>
                </a:cubicBezTo>
                <a:lnTo>
                  <a:pt x="1819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8043" y="18211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37585" y="1954530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21393" y="258318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33285" y="21431"/>
                  <a:pt x="42863" y="31008"/>
                  <a:pt x="42863" y="42863"/>
                </a:cubicBez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321469" y="278606"/>
                </a:lnTo>
                <a:cubicBezTo>
                  <a:pt x="333323" y="278606"/>
                  <a:pt x="342900" y="288183"/>
                  <a:pt x="342900" y="300038"/>
                </a:cubicBezTo>
                <a:cubicBezTo>
                  <a:pt x="342900" y="311892"/>
                  <a:pt x="333323" y="321469"/>
                  <a:pt x="321469" y="321469"/>
                </a:cubicBezTo>
                <a:lnTo>
                  <a:pt x="53578" y="321469"/>
                </a:lnTo>
                <a:cubicBezTo>
                  <a:pt x="23976" y="321469"/>
                  <a:pt x="0" y="297493"/>
                  <a:pt x="0" y="267891"/>
                </a:cubicBezTo>
                <a:lnTo>
                  <a:pt x="0" y="42863"/>
                </a:lnTo>
                <a:cubicBezTo>
                  <a:pt x="0" y="31008"/>
                  <a:pt x="9577" y="21431"/>
                  <a:pt x="21431" y="21431"/>
                </a:cubicBezTo>
                <a:close/>
                <a:moveTo>
                  <a:pt x="85725" y="64294"/>
                </a:moveTo>
                <a:cubicBezTo>
                  <a:pt x="85725" y="52440"/>
                  <a:pt x="95302" y="42863"/>
                  <a:pt x="107156" y="42863"/>
                </a:cubicBezTo>
                <a:lnTo>
                  <a:pt x="235744" y="42863"/>
                </a:lnTo>
                <a:cubicBezTo>
                  <a:pt x="247598" y="42863"/>
                  <a:pt x="257175" y="52440"/>
                  <a:pt x="257175" y="64294"/>
                </a:cubicBezTo>
                <a:cubicBezTo>
                  <a:pt x="257175" y="76148"/>
                  <a:pt x="247598" y="85725"/>
                  <a:pt x="235744" y="85725"/>
                </a:cubicBezTo>
                <a:lnTo>
                  <a:pt x="107156" y="85725"/>
                </a:lnTo>
                <a:cubicBezTo>
                  <a:pt x="95302" y="85725"/>
                  <a:pt x="85725" y="76148"/>
                  <a:pt x="85725" y="64294"/>
                </a:cubicBezTo>
                <a:close/>
                <a:moveTo>
                  <a:pt x="107156" y="117872"/>
                </a:moveTo>
                <a:lnTo>
                  <a:pt x="192881" y="117872"/>
                </a:lnTo>
                <a:cubicBezTo>
                  <a:pt x="204735" y="117872"/>
                  <a:pt x="214313" y="127449"/>
                  <a:pt x="214313" y="139303"/>
                </a:cubicBezTo>
                <a:cubicBezTo>
                  <a:pt x="214313" y="151157"/>
                  <a:pt x="204735" y="160734"/>
                  <a:pt x="192881" y="160734"/>
                </a:cubicBezTo>
                <a:lnTo>
                  <a:pt x="107156" y="160734"/>
                </a:lnTo>
                <a:cubicBezTo>
                  <a:pt x="95302" y="160734"/>
                  <a:pt x="85725" y="151157"/>
                  <a:pt x="85725" y="139303"/>
                </a:cubicBezTo>
                <a:cubicBezTo>
                  <a:pt x="85725" y="127449"/>
                  <a:pt x="95302" y="117872"/>
                  <a:pt x="107156" y="117872"/>
                </a:cubicBezTo>
                <a:close/>
                <a:moveTo>
                  <a:pt x="107156" y="192881"/>
                </a:moveTo>
                <a:lnTo>
                  <a:pt x="278606" y="192881"/>
                </a:lnTo>
                <a:cubicBezTo>
                  <a:pt x="290460" y="192881"/>
                  <a:pt x="300038" y="202458"/>
                  <a:pt x="300038" y="214313"/>
                </a:cubicBezTo>
                <a:cubicBezTo>
                  <a:pt x="300038" y="226167"/>
                  <a:pt x="290460" y="235744"/>
                  <a:pt x="278606" y="235744"/>
                </a:cubicBezTo>
                <a:lnTo>
                  <a:pt x="107156" y="235744"/>
                </a:lnTo>
                <a:cubicBezTo>
                  <a:pt x="95302" y="235744"/>
                  <a:pt x="85725" y="226167"/>
                  <a:pt x="85725" y="214313"/>
                </a:cubicBezTo>
                <a:cubicBezTo>
                  <a:pt x="85725" y="202458"/>
                  <a:pt x="95302" y="192881"/>
                  <a:pt x="107156" y="192881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9" name="Text 17"/>
          <p:cNvSpPr/>
          <p:nvPr/>
        </p:nvSpPr>
        <p:spPr>
          <a:xfrm>
            <a:off x="3325178" y="3078480"/>
            <a:ext cx="733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36558" y="3726180"/>
            <a:ext cx="1514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8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Keep Rate 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both Uniform and AI recommendation groups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3928" y="310705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2" name="Shape 20"/>
          <p:cNvSpPr/>
          <p:nvPr/>
        </p:nvSpPr>
        <p:spPr>
          <a:xfrm>
            <a:off x="5187315" y="1611630"/>
            <a:ext cx="1819275" cy="3295650"/>
          </a:xfrm>
          <a:custGeom>
            <a:avLst/>
            <a:gdLst/>
            <a:ahLst/>
            <a:cxnLst/>
            <a:rect l="l" t="t" r="r" b="b"/>
            <a:pathLst>
              <a:path w="1819275" h="3295650">
                <a:moveTo>
                  <a:pt x="38100" y="0"/>
                </a:moveTo>
                <a:lnTo>
                  <a:pt x="1781175" y="0"/>
                </a:lnTo>
                <a:cubicBezTo>
                  <a:pt x="1802217" y="0"/>
                  <a:pt x="1819275" y="17058"/>
                  <a:pt x="1819275" y="38100"/>
                </a:cubicBezTo>
                <a:lnTo>
                  <a:pt x="1819275" y="3181345"/>
                </a:lnTo>
                <a:cubicBezTo>
                  <a:pt x="1819275" y="3244474"/>
                  <a:pt x="1768099" y="3295650"/>
                  <a:pt x="1704970" y="3295650"/>
                </a:cubicBezTo>
                <a:lnTo>
                  <a:pt x="114305" y="3295650"/>
                </a:lnTo>
                <a:cubicBezTo>
                  <a:pt x="51176" y="3295650"/>
                  <a:pt x="0" y="3244474"/>
                  <a:pt x="0" y="31813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187315" y="1611630"/>
            <a:ext cx="1819275" cy="38100"/>
          </a:xfrm>
          <a:custGeom>
            <a:avLst/>
            <a:gdLst/>
            <a:ahLst/>
            <a:cxnLst/>
            <a:rect l="l" t="t" r="r" b="b"/>
            <a:pathLst>
              <a:path w="1819275" h="38100">
                <a:moveTo>
                  <a:pt x="38100" y="0"/>
                </a:moveTo>
                <a:lnTo>
                  <a:pt x="1781175" y="0"/>
                </a:lnTo>
                <a:cubicBezTo>
                  <a:pt x="1802203" y="0"/>
                  <a:pt x="1819275" y="17072"/>
                  <a:pt x="1819275" y="38100"/>
                </a:cubicBezTo>
                <a:lnTo>
                  <a:pt x="1819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Shape 22"/>
          <p:cNvSpPr/>
          <p:nvPr/>
        </p:nvSpPr>
        <p:spPr>
          <a:xfrm>
            <a:off x="5791200" y="18211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0743" y="1954530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24550" y="258318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78157" y="22637"/>
                </a:moveTo>
                <a:cubicBezTo>
                  <a:pt x="81171" y="18551"/>
                  <a:pt x="85993" y="16073"/>
                  <a:pt x="91083" y="16073"/>
                </a:cubicBezTo>
                <a:lnTo>
                  <a:pt x="251817" y="16073"/>
                </a:lnTo>
                <a:cubicBezTo>
                  <a:pt x="256907" y="16073"/>
                  <a:pt x="261729" y="18484"/>
                  <a:pt x="264743" y="22637"/>
                </a:cubicBezTo>
                <a:lnTo>
                  <a:pt x="339752" y="124435"/>
                </a:lnTo>
                <a:cubicBezTo>
                  <a:pt x="344306" y="130597"/>
                  <a:pt x="343838" y="139102"/>
                  <a:pt x="338748" y="144795"/>
                </a:cubicBezTo>
                <a:lnTo>
                  <a:pt x="183371" y="316245"/>
                </a:lnTo>
                <a:cubicBezTo>
                  <a:pt x="180357" y="319594"/>
                  <a:pt x="176004" y="321536"/>
                  <a:pt x="171450" y="321536"/>
                </a:cubicBezTo>
                <a:cubicBezTo>
                  <a:pt x="166896" y="321536"/>
                  <a:pt x="162610" y="319594"/>
                  <a:pt x="159529" y="316245"/>
                </a:cubicBezTo>
                <a:lnTo>
                  <a:pt x="4152" y="144795"/>
                </a:lnTo>
                <a:cubicBezTo>
                  <a:pt x="-1005" y="139102"/>
                  <a:pt x="-1406" y="130597"/>
                  <a:pt x="3148" y="124435"/>
                </a:cubicBezTo>
                <a:lnTo>
                  <a:pt x="78157" y="22637"/>
                </a:lnTo>
                <a:close/>
                <a:moveTo>
                  <a:pt x="103942" y="49292"/>
                </a:moveTo>
                <a:cubicBezTo>
                  <a:pt x="101731" y="50966"/>
                  <a:pt x="101129" y="53980"/>
                  <a:pt x="102535" y="56324"/>
                </a:cubicBezTo>
                <a:lnTo>
                  <a:pt x="140977" y="120417"/>
                </a:lnTo>
                <a:lnTo>
                  <a:pt x="42394" y="128588"/>
                </a:lnTo>
                <a:cubicBezTo>
                  <a:pt x="39648" y="128788"/>
                  <a:pt x="37505" y="131132"/>
                  <a:pt x="37505" y="133945"/>
                </a:cubicBezTo>
                <a:cubicBezTo>
                  <a:pt x="37505" y="136758"/>
                  <a:pt x="39648" y="139035"/>
                  <a:pt x="42394" y="139303"/>
                </a:cubicBezTo>
                <a:lnTo>
                  <a:pt x="170981" y="150019"/>
                </a:lnTo>
                <a:cubicBezTo>
                  <a:pt x="171249" y="150019"/>
                  <a:pt x="171584" y="150019"/>
                  <a:pt x="171852" y="150019"/>
                </a:cubicBezTo>
                <a:lnTo>
                  <a:pt x="300439" y="139303"/>
                </a:lnTo>
                <a:cubicBezTo>
                  <a:pt x="303185" y="139102"/>
                  <a:pt x="305328" y="136758"/>
                  <a:pt x="305328" y="133945"/>
                </a:cubicBezTo>
                <a:cubicBezTo>
                  <a:pt x="305328" y="131132"/>
                  <a:pt x="303185" y="128855"/>
                  <a:pt x="300439" y="128588"/>
                </a:cubicBezTo>
                <a:lnTo>
                  <a:pt x="201856" y="120350"/>
                </a:lnTo>
                <a:lnTo>
                  <a:pt x="240298" y="56324"/>
                </a:lnTo>
                <a:cubicBezTo>
                  <a:pt x="241704" y="53980"/>
                  <a:pt x="241102" y="50899"/>
                  <a:pt x="238891" y="49292"/>
                </a:cubicBezTo>
                <a:cubicBezTo>
                  <a:pt x="236681" y="47685"/>
                  <a:pt x="233601" y="47952"/>
                  <a:pt x="231725" y="49962"/>
                </a:cubicBezTo>
                <a:lnTo>
                  <a:pt x="171450" y="115327"/>
                </a:lnTo>
                <a:lnTo>
                  <a:pt x="111108" y="49962"/>
                </a:lnTo>
                <a:cubicBezTo>
                  <a:pt x="109232" y="47952"/>
                  <a:pt x="106152" y="47685"/>
                  <a:pt x="103942" y="49292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5545455" y="3078480"/>
            <a:ext cx="110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 Hidden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9715" y="3726180"/>
            <a:ext cx="1514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80000"/>
                  </a:srgbClr>
                </a:solidFill>
                <a:highlight>
                  <a:srgbClr val="F6AD5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Positive Residuals 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Uniform outperforms AI predictions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57085" y="310705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0" name="Shape 28"/>
          <p:cNvSpPr/>
          <p:nvPr/>
        </p:nvSpPr>
        <p:spPr>
          <a:xfrm>
            <a:off x="7590473" y="1487805"/>
            <a:ext cx="1819275" cy="3543300"/>
          </a:xfrm>
          <a:custGeom>
            <a:avLst/>
            <a:gdLst/>
            <a:ahLst/>
            <a:cxnLst/>
            <a:rect l="l" t="t" r="r" b="b"/>
            <a:pathLst>
              <a:path w="1819275" h="3543300">
                <a:moveTo>
                  <a:pt x="38100" y="0"/>
                </a:moveTo>
                <a:lnTo>
                  <a:pt x="1781175" y="0"/>
                </a:lnTo>
                <a:cubicBezTo>
                  <a:pt x="1802217" y="0"/>
                  <a:pt x="1819275" y="17058"/>
                  <a:pt x="1819275" y="38100"/>
                </a:cubicBezTo>
                <a:lnTo>
                  <a:pt x="1819275" y="3428995"/>
                </a:lnTo>
                <a:cubicBezTo>
                  <a:pt x="1819275" y="3492124"/>
                  <a:pt x="1768099" y="3543300"/>
                  <a:pt x="1704970" y="3543300"/>
                </a:cubicBezTo>
                <a:lnTo>
                  <a:pt x="114305" y="3543300"/>
                </a:lnTo>
                <a:cubicBezTo>
                  <a:pt x="51176" y="3543300"/>
                  <a:pt x="0" y="3492124"/>
                  <a:pt x="0" y="342899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590473" y="1487805"/>
            <a:ext cx="1819275" cy="38100"/>
          </a:xfrm>
          <a:custGeom>
            <a:avLst/>
            <a:gdLst/>
            <a:ahLst/>
            <a:cxnLst/>
            <a:rect l="l" t="t" r="r" b="b"/>
            <a:pathLst>
              <a:path w="1819275" h="38100">
                <a:moveTo>
                  <a:pt x="38100" y="0"/>
                </a:moveTo>
                <a:lnTo>
                  <a:pt x="1781175" y="0"/>
                </a:lnTo>
                <a:cubicBezTo>
                  <a:pt x="1802203" y="0"/>
                  <a:pt x="1819275" y="17072"/>
                  <a:pt x="1819275" y="38100"/>
                </a:cubicBezTo>
                <a:lnTo>
                  <a:pt x="1819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94357" y="169735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43900" y="1830705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70570" y="2459355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67365" y="44738"/>
                </a:moveTo>
                <a:cubicBezTo>
                  <a:pt x="174330" y="35161"/>
                  <a:pt x="172187" y="21766"/>
                  <a:pt x="162610" y="14801"/>
                </a:cubicBezTo>
                <a:cubicBezTo>
                  <a:pt x="153033" y="7836"/>
                  <a:pt x="139638" y="9979"/>
                  <a:pt x="132673" y="19556"/>
                </a:cubicBezTo>
                <a:lnTo>
                  <a:pt x="61682" y="117135"/>
                </a:lnTo>
                <a:lnTo>
                  <a:pt x="36567" y="92020"/>
                </a:lnTo>
                <a:cubicBezTo>
                  <a:pt x="28195" y="83649"/>
                  <a:pt x="14600" y="83649"/>
                  <a:pt x="6228" y="92020"/>
                </a:cubicBezTo>
                <a:cubicBezTo>
                  <a:pt x="-2143" y="100392"/>
                  <a:pt x="-2143" y="113987"/>
                  <a:pt x="6228" y="122359"/>
                </a:cubicBezTo>
                <a:lnTo>
                  <a:pt x="49091" y="165222"/>
                </a:lnTo>
                <a:cubicBezTo>
                  <a:pt x="53511" y="169642"/>
                  <a:pt x="59673" y="171919"/>
                  <a:pt x="65901" y="171450"/>
                </a:cubicBezTo>
                <a:cubicBezTo>
                  <a:pt x="72130" y="170981"/>
                  <a:pt x="77889" y="167767"/>
                  <a:pt x="81573" y="162677"/>
                </a:cubicBezTo>
                <a:lnTo>
                  <a:pt x="167298" y="44805"/>
                </a:lnTo>
                <a:close/>
                <a:moveTo>
                  <a:pt x="253090" y="135821"/>
                </a:moveTo>
                <a:cubicBezTo>
                  <a:pt x="260055" y="126243"/>
                  <a:pt x="257912" y="112849"/>
                  <a:pt x="248335" y="105884"/>
                </a:cubicBezTo>
                <a:cubicBezTo>
                  <a:pt x="238758" y="98919"/>
                  <a:pt x="225363" y="101062"/>
                  <a:pt x="218398" y="110639"/>
                </a:cubicBezTo>
                <a:lnTo>
                  <a:pt x="104544" y="267154"/>
                </a:lnTo>
                <a:lnTo>
                  <a:pt x="57998" y="220608"/>
                </a:lnTo>
                <a:cubicBezTo>
                  <a:pt x="49627" y="212236"/>
                  <a:pt x="36031" y="212236"/>
                  <a:pt x="27660" y="220608"/>
                </a:cubicBezTo>
                <a:cubicBezTo>
                  <a:pt x="19288" y="228980"/>
                  <a:pt x="19288" y="242575"/>
                  <a:pt x="27660" y="250947"/>
                </a:cubicBezTo>
                <a:lnTo>
                  <a:pt x="91953" y="315240"/>
                </a:lnTo>
                <a:cubicBezTo>
                  <a:pt x="96374" y="319660"/>
                  <a:pt x="102535" y="321938"/>
                  <a:pt x="108764" y="321469"/>
                </a:cubicBezTo>
                <a:cubicBezTo>
                  <a:pt x="114992" y="321000"/>
                  <a:pt x="120752" y="317785"/>
                  <a:pt x="124435" y="312695"/>
                </a:cubicBezTo>
                <a:lnTo>
                  <a:pt x="253023" y="135888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5" name="Text 33"/>
          <p:cNvSpPr/>
          <p:nvPr/>
        </p:nvSpPr>
        <p:spPr>
          <a:xfrm>
            <a:off x="8024812" y="2954655"/>
            <a:ext cx="95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42873" y="3602355"/>
            <a:ext cx="15144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8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Paired t-test 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confirm discoveries are statistically significant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560243" y="310705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8" name="Shape 36"/>
          <p:cNvSpPr/>
          <p:nvPr/>
        </p:nvSpPr>
        <p:spPr>
          <a:xfrm>
            <a:off x="9993631" y="1611630"/>
            <a:ext cx="1819275" cy="3295650"/>
          </a:xfrm>
          <a:custGeom>
            <a:avLst/>
            <a:gdLst/>
            <a:ahLst/>
            <a:cxnLst/>
            <a:rect l="l" t="t" r="r" b="b"/>
            <a:pathLst>
              <a:path w="1819275" h="3295650">
                <a:moveTo>
                  <a:pt x="38100" y="0"/>
                </a:moveTo>
                <a:lnTo>
                  <a:pt x="1781175" y="0"/>
                </a:lnTo>
                <a:cubicBezTo>
                  <a:pt x="1802217" y="0"/>
                  <a:pt x="1819275" y="17058"/>
                  <a:pt x="1819275" y="38100"/>
                </a:cubicBezTo>
                <a:lnTo>
                  <a:pt x="1819275" y="3181345"/>
                </a:lnTo>
                <a:cubicBezTo>
                  <a:pt x="1819275" y="3244474"/>
                  <a:pt x="1768099" y="3295650"/>
                  <a:pt x="1704970" y="3295650"/>
                </a:cubicBezTo>
                <a:lnTo>
                  <a:pt x="114305" y="3295650"/>
                </a:lnTo>
                <a:cubicBezTo>
                  <a:pt x="51176" y="3295650"/>
                  <a:pt x="0" y="3244474"/>
                  <a:pt x="0" y="31813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993631" y="1611630"/>
            <a:ext cx="1819275" cy="38100"/>
          </a:xfrm>
          <a:custGeom>
            <a:avLst/>
            <a:gdLst/>
            <a:ahLst/>
            <a:cxnLst/>
            <a:rect l="l" t="t" r="r" b="b"/>
            <a:pathLst>
              <a:path w="1819275" h="38100">
                <a:moveTo>
                  <a:pt x="38100" y="0"/>
                </a:moveTo>
                <a:lnTo>
                  <a:pt x="1781175" y="0"/>
                </a:lnTo>
                <a:cubicBezTo>
                  <a:pt x="1802203" y="0"/>
                  <a:pt x="1819275" y="17072"/>
                  <a:pt x="1819275" y="38100"/>
                </a:cubicBezTo>
                <a:lnTo>
                  <a:pt x="1819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97515" y="18211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747058" y="1954530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730865" y="258318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43" name="Text 41"/>
          <p:cNvSpPr/>
          <p:nvPr/>
        </p:nvSpPr>
        <p:spPr>
          <a:xfrm>
            <a:off x="10454640" y="3078480"/>
            <a:ext cx="89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&amp;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146031" y="3726180"/>
            <a:ext cx="1514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validated winners into AI model and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7FAFC">
                    <a:alpha val="8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scale success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4810" y="5627371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769620"/>
                </a:lnTo>
                <a:cubicBezTo>
                  <a:pt x="11418570" y="811704"/>
                  <a:pt x="11384454" y="845820"/>
                  <a:pt x="113423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10160">
            <a:solidFill>
              <a:srgbClr val="31979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739" y="590740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7" name="Text 45"/>
          <p:cNvSpPr/>
          <p:nvPr/>
        </p:nvSpPr>
        <p:spPr>
          <a:xfrm>
            <a:off x="982147" y="5783580"/>
            <a:ext cx="10753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iterative process continuously improves the AI model by discovering items that statistical patterns miss, creating a self-improving recommendation system.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464820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6410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Results: Measurable Business Impact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" name="Shape 4"/>
          <p:cNvSpPr/>
          <p:nvPr/>
        </p:nvSpPr>
        <p:spPr>
          <a:xfrm>
            <a:off x="384810" y="1032510"/>
            <a:ext cx="5589270" cy="4150995"/>
          </a:xfrm>
          <a:custGeom>
            <a:avLst/>
            <a:gdLst/>
            <a:ahLst/>
            <a:cxnLst/>
            <a:rect l="l" t="t" r="r" b="b"/>
            <a:pathLst>
              <a:path w="5589270" h="4150995">
                <a:moveTo>
                  <a:pt x="114318" y="0"/>
                </a:moveTo>
                <a:lnTo>
                  <a:pt x="5474952" y="0"/>
                </a:lnTo>
                <a:cubicBezTo>
                  <a:pt x="5538088" y="0"/>
                  <a:pt x="5589270" y="51182"/>
                  <a:pt x="5589270" y="114318"/>
                </a:cubicBezTo>
                <a:lnTo>
                  <a:pt x="5589270" y="4036677"/>
                </a:lnTo>
                <a:cubicBezTo>
                  <a:pt x="5589270" y="4099813"/>
                  <a:pt x="5538088" y="4150995"/>
                  <a:pt x="5474952" y="4150995"/>
                </a:cubicBezTo>
                <a:lnTo>
                  <a:pt x="114318" y="4150995"/>
                </a:lnTo>
                <a:cubicBezTo>
                  <a:pt x="51182" y="4150995"/>
                  <a:pt x="0" y="4099813"/>
                  <a:pt x="0" y="403667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970" y="1226820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 Comparison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120" y="1683902"/>
            <a:ext cx="5200650" cy="914400"/>
          </a:xfrm>
          <a:custGeom>
            <a:avLst/>
            <a:gdLst/>
            <a:ahLst/>
            <a:cxnLst/>
            <a:rect l="l" t="t" r="r" b="b"/>
            <a:pathLst>
              <a:path w="5200650" h="914400">
                <a:moveTo>
                  <a:pt x="76197" y="0"/>
                </a:moveTo>
                <a:lnTo>
                  <a:pt x="5124453" y="0"/>
                </a:lnTo>
                <a:cubicBezTo>
                  <a:pt x="5166535" y="0"/>
                  <a:pt x="5200650" y="34115"/>
                  <a:pt x="5200650" y="76197"/>
                </a:cubicBezTo>
                <a:lnTo>
                  <a:pt x="5200650" y="838203"/>
                </a:lnTo>
                <a:cubicBezTo>
                  <a:pt x="5200650" y="880285"/>
                  <a:pt x="5166535" y="914400"/>
                  <a:pt x="5124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36302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0300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0856" y="19982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2" name="Text 10"/>
          <p:cNvSpPr/>
          <p:nvPr/>
        </p:nvSpPr>
        <p:spPr>
          <a:xfrm>
            <a:off x="3436144" y="1836302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69469" y="210300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10-15%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" y="2750702"/>
            <a:ext cx="5200650" cy="914400"/>
          </a:xfrm>
          <a:custGeom>
            <a:avLst/>
            <a:gdLst/>
            <a:ahLst/>
            <a:cxnLst/>
            <a:rect l="l" t="t" r="r" b="b"/>
            <a:pathLst>
              <a:path w="5200650" h="914400">
                <a:moveTo>
                  <a:pt x="76197" y="0"/>
                </a:moveTo>
                <a:lnTo>
                  <a:pt x="5124453" y="0"/>
                </a:lnTo>
                <a:cubicBezTo>
                  <a:pt x="5166535" y="0"/>
                  <a:pt x="5200650" y="34115"/>
                  <a:pt x="5200650" y="76197"/>
                </a:cubicBezTo>
                <a:lnTo>
                  <a:pt x="5200650" y="838203"/>
                </a:lnTo>
                <a:cubicBezTo>
                  <a:pt x="5200650" y="880285"/>
                  <a:pt x="5166535" y="914400"/>
                  <a:pt x="5124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03102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Waste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16980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30-40%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0856" y="30650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8" name="Text 16"/>
          <p:cNvSpPr/>
          <p:nvPr/>
        </p:nvSpPr>
        <p:spPr>
          <a:xfrm>
            <a:off x="3436144" y="2903102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Waste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69469" y="316980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Significant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9120" y="3817502"/>
            <a:ext cx="5200650" cy="914400"/>
          </a:xfrm>
          <a:custGeom>
            <a:avLst/>
            <a:gdLst/>
            <a:ahLst/>
            <a:cxnLst/>
            <a:rect l="l" t="t" r="r" b="b"/>
            <a:pathLst>
              <a:path w="5200650" h="914400">
                <a:moveTo>
                  <a:pt x="76197" y="0"/>
                </a:moveTo>
                <a:lnTo>
                  <a:pt x="5124453" y="0"/>
                </a:lnTo>
                <a:cubicBezTo>
                  <a:pt x="5166535" y="0"/>
                  <a:pt x="5200650" y="34115"/>
                  <a:pt x="5200650" y="76197"/>
                </a:cubicBezTo>
                <a:lnTo>
                  <a:pt x="5200650" y="838203"/>
                </a:lnTo>
                <a:cubicBezTo>
                  <a:pt x="5200650" y="880285"/>
                  <a:pt x="5166535" y="914400"/>
                  <a:pt x="51244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69902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23660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40856" y="41318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Text 22"/>
          <p:cNvSpPr/>
          <p:nvPr/>
        </p:nvSpPr>
        <p:spPr>
          <a:xfrm>
            <a:off x="3436144" y="3969902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Rate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69469" y="4236602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8620" y="5349243"/>
            <a:ext cx="5587365" cy="1120140"/>
          </a:xfrm>
          <a:custGeom>
            <a:avLst/>
            <a:gdLst/>
            <a:ahLst/>
            <a:cxnLst/>
            <a:rect l="l" t="t" r="r" b="b"/>
            <a:pathLst>
              <a:path w="5587365" h="1120140">
                <a:moveTo>
                  <a:pt x="114299" y="0"/>
                </a:moveTo>
                <a:lnTo>
                  <a:pt x="5473066" y="0"/>
                </a:lnTo>
                <a:cubicBezTo>
                  <a:pt x="5536192" y="0"/>
                  <a:pt x="5587365" y="51173"/>
                  <a:pt x="5587365" y="114299"/>
                </a:cubicBezTo>
                <a:lnTo>
                  <a:pt x="5587365" y="1005841"/>
                </a:lnTo>
                <a:cubicBezTo>
                  <a:pt x="5587365" y="1068967"/>
                  <a:pt x="5536192" y="1120140"/>
                  <a:pt x="5473066" y="1120140"/>
                </a:cubicBezTo>
                <a:lnTo>
                  <a:pt x="114299" y="1120140"/>
                </a:lnTo>
                <a:cubicBezTo>
                  <a:pt x="51173" y="1120140"/>
                  <a:pt x="0" y="1068967"/>
                  <a:pt x="0" y="1005841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20320">
            <a:solidFill>
              <a:srgbClr val="3197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6740" y="57664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8" name="Text 26"/>
          <p:cNvSpPr/>
          <p:nvPr/>
        </p:nvSpPr>
        <p:spPr>
          <a:xfrm>
            <a:off x="1020127" y="5509259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Confidence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0127" y="5737859"/>
            <a:ext cx="1885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0127" y="6080759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Validated via Paired t-test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4110" y="1032510"/>
            <a:ext cx="5589270" cy="5436870"/>
          </a:xfrm>
          <a:custGeom>
            <a:avLst/>
            <a:gdLst/>
            <a:ahLst/>
            <a:cxnLst/>
            <a:rect l="l" t="t" r="r" b="b"/>
            <a:pathLst>
              <a:path w="5589270" h="5436870">
                <a:moveTo>
                  <a:pt x="114283" y="0"/>
                </a:moveTo>
                <a:lnTo>
                  <a:pt x="5474987" y="0"/>
                </a:lnTo>
                <a:cubicBezTo>
                  <a:pt x="5538104" y="0"/>
                  <a:pt x="5589270" y="51166"/>
                  <a:pt x="5589270" y="114283"/>
                </a:cubicBezTo>
                <a:lnTo>
                  <a:pt x="5589270" y="5322587"/>
                </a:lnTo>
                <a:cubicBezTo>
                  <a:pt x="5589270" y="5385704"/>
                  <a:pt x="5538104" y="5436870"/>
                  <a:pt x="5474987" y="5436870"/>
                </a:cubicBezTo>
                <a:lnTo>
                  <a:pt x="114283" y="5436870"/>
                </a:lnTo>
                <a:cubicBezTo>
                  <a:pt x="51166" y="5436870"/>
                  <a:pt x="0" y="5385704"/>
                  <a:pt x="0" y="5322587"/>
                </a:cubicBezTo>
                <a:lnTo>
                  <a:pt x="0" y="114283"/>
                </a:lnTo>
                <a:cubicBezTo>
                  <a:pt x="0" y="51208"/>
                  <a:pt x="51208" y="0"/>
                  <a:pt x="114283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1270" y="1226820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6040" y="1691522"/>
            <a:ext cx="2510790" cy="1805940"/>
          </a:xfrm>
          <a:custGeom>
            <a:avLst/>
            <a:gdLst/>
            <a:ahLst/>
            <a:cxnLst/>
            <a:rect l="l" t="t" r="r" b="b"/>
            <a:pathLst>
              <a:path w="2510790" h="1805940">
                <a:moveTo>
                  <a:pt x="76193" y="0"/>
                </a:moveTo>
                <a:lnTo>
                  <a:pt x="2434597" y="0"/>
                </a:lnTo>
                <a:cubicBezTo>
                  <a:pt x="2476677" y="0"/>
                  <a:pt x="2510790" y="34113"/>
                  <a:pt x="2510790" y="76193"/>
                </a:cubicBezTo>
                <a:lnTo>
                  <a:pt x="2510790" y="1729747"/>
                </a:lnTo>
                <a:cubicBezTo>
                  <a:pt x="2510790" y="1771827"/>
                  <a:pt x="2476677" y="1805940"/>
                  <a:pt x="2434597" y="1805940"/>
                </a:cubicBezTo>
                <a:lnTo>
                  <a:pt x="76193" y="1805940"/>
                </a:lnTo>
                <a:cubicBezTo>
                  <a:pt x="34113" y="1805940"/>
                  <a:pt x="0" y="1771827"/>
                  <a:pt x="0" y="172974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0320">
            <a:solidFill>
              <a:srgbClr val="319795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21416" y="185154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28588" y="85725"/>
                </a:moveTo>
                <a:cubicBezTo>
                  <a:pt x="128588" y="50240"/>
                  <a:pt x="99778" y="21431"/>
                  <a:pt x="64294" y="21431"/>
                </a:cubicBezTo>
                <a:cubicBezTo>
                  <a:pt x="28809" y="21431"/>
                  <a:pt x="0" y="50240"/>
                  <a:pt x="0" y="85725"/>
                </a:cubicBezTo>
                <a:cubicBezTo>
                  <a:pt x="0" y="121210"/>
                  <a:pt x="28809" y="150019"/>
                  <a:pt x="64294" y="150019"/>
                </a:cubicBezTo>
                <a:cubicBezTo>
                  <a:pt x="99778" y="150019"/>
                  <a:pt x="128588" y="121210"/>
                  <a:pt x="128588" y="85725"/>
                </a:cubicBezTo>
                <a:close/>
                <a:moveTo>
                  <a:pt x="300038" y="257175"/>
                </a:moveTo>
                <a:cubicBezTo>
                  <a:pt x="300038" y="221690"/>
                  <a:pt x="271228" y="192881"/>
                  <a:pt x="235744" y="192881"/>
                </a:cubicBezTo>
                <a:cubicBezTo>
                  <a:pt x="200259" y="192881"/>
                  <a:pt x="171450" y="221690"/>
                  <a:pt x="171450" y="257175"/>
                </a:cubicBezTo>
                <a:cubicBezTo>
                  <a:pt x="171450" y="292660"/>
                  <a:pt x="200259" y="321469"/>
                  <a:pt x="235744" y="321469"/>
                </a:cubicBezTo>
                <a:cubicBezTo>
                  <a:pt x="271228" y="321469"/>
                  <a:pt x="300038" y="292660"/>
                  <a:pt x="300038" y="257175"/>
                </a:cubicBezTo>
                <a:close/>
                <a:moveTo>
                  <a:pt x="293742" y="57998"/>
                </a:moveTo>
                <a:cubicBezTo>
                  <a:pt x="302114" y="49627"/>
                  <a:pt x="302114" y="36031"/>
                  <a:pt x="293742" y="27660"/>
                </a:cubicBezTo>
                <a:cubicBezTo>
                  <a:pt x="285370" y="19288"/>
                  <a:pt x="271775" y="19288"/>
                  <a:pt x="263403" y="27660"/>
                </a:cubicBezTo>
                <a:lnTo>
                  <a:pt x="6228" y="284835"/>
                </a:lnTo>
                <a:cubicBezTo>
                  <a:pt x="-2143" y="293206"/>
                  <a:pt x="-2143" y="306802"/>
                  <a:pt x="6228" y="315173"/>
                </a:cubicBezTo>
                <a:cubicBezTo>
                  <a:pt x="14600" y="323545"/>
                  <a:pt x="28195" y="323545"/>
                  <a:pt x="36567" y="315173"/>
                </a:cubicBezTo>
                <a:lnTo>
                  <a:pt x="293742" y="57998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30874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Rate Improvement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61760" y="2613543"/>
            <a:ext cx="2419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10-15%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7960" y="310884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Percentage increase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94470" y="1691522"/>
            <a:ext cx="2510790" cy="1805940"/>
          </a:xfrm>
          <a:custGeom>
            <a:avLst/>
            <a:gdLst/>
            <a:ahLst/>
            <a:cxnLst/>
            <a:rect l="l" t="t" r="r" b="b"/>
            <a:pathLst>
              <a:path w="2510790" h="1805940">
                <a:moveTo>
                  <a:pt x="76193" y="0"/>
                </a:moveTo>
                <a:lnTo>
                  <a:pt x="2434597" y="0"/>
                </a:lnTo>
                <a:cubicBezTo>
                  <a:pt x="2476677" y="0"/>
                  <a:pt x="2510790" y="34113"/>
                  <a:pt x="2510790" y="76193"/>
                </a:cubicBezTo>
                <a:lnTo>
                  <a:pt x="2510790" y="1729747"/>
                </a:lnTo>
                <a:cubicBezTo>
                  <a:pt x="2510790" y="1771827"/>
                  <a:pt x="2476677" y="1805940"/>
                  <a:pt x="2434597" y="1805940"/>
                </a:cubicBezTo>
                <a:lnTo>
                  <a:pt x="76193" y="1805940"/>
                </a:lnTo>
                <a:cubicBezTo>
                  <a:pt x="34113" y="1805940"/>
                  <a:pt x="0" y="1771827"/>
                  <a:pt x="0" y="172974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032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78415" y="185154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0019" y="0"/>
                </a:moveTo>
                <a:lnTo>
                  <a:pt x="150019" y="42863"/>
                </a:lnTo>
                <a:cubicBezTo>
                  <a:pt x="150019" y="48756"/>
                  <a:pt x="154841" y="53578"/>
                  <a:pt x="160734" y="53578"/>
                </a:cubicBezTo>
                <a:lnTo>
                  <a:pt x="182166" y="53578"/>
                </a:lnTo>
                <a:cubicBezTo>
                  <a:pt x="188059" y="53578"/>
                  <a:pt x="192881" y="48756"/>
                  <a:pt x="192881" y="42863"/>
                </a:cubicBezTo>
                <a:lnTo>
                  <a:pt x="192881" y="0"/>
                </a:lnTo>
                <a:lnTo>
                  <a:pt x="214313" y="0"/>
                </a:lnTo>
                <a:cubicBezTo>
                  <a:pt x="237954" y="0"/>
                  <a:pt x="257175" y="19221"/>
                  <a:pt x="257175" y="42863"/>
                </a:cubicBezTo>
                <a:lnTo>
                  <a:pt x="257175" y="128588"/>
                </a:lnTo>
                <a:cubicBezTo>
                  <a:pt x="257175" y="132271"/>
                  <a:pt x="256706" y="135888"/>
                  <a:pt x="255836" y="139303"/>
                </a:cubicBezTo>
                <a:lnTo>
                  <a:pt x="87064" y="139303"/>
                </a:lnTo>
                <a:cubicBezTo>
                  <a:pt x="86194" y="135888"/>
                  <a:pt x="85725" y="132271"/>
                  <a:pt x="85725" y="128588"/>
                </a:cubicBezTo>
                <a:lnTo>
                  <a:pt x="85725" y="42863"/>
                </a:lnTo>
                <a:cubicBezTo>
                  <a:pt x="85725" y="19221"/>
                  <a:pt x="104946" y="0"/>
                  <a:pt x="128588" y="0"/>
                </a:cubicBezTo>
                <a:lnTo>
                  <a:pt x="150019" y="0"/>
                </a:lnTo>
                <a:close/>
                <a:moveTo>
                  <a:pt x="214313" y="342900"/>
                </a:moveTo>
                <a:cubicBezTo>
                  <a:pt x="206812" y="342900"/>
                  <a:pt x="199712" y="340958"/>
                  <a:pt x="193551" y="337542"/>
                </a:cubicBezTo>
                <a:cubicBezTo>
                  <a:pt x="199913" y="326492"/>
                  <a:pt x="203597" y="313700"/>
                  <a:pt x="203597" y="300038"/>
                </a:cubicBezTo>
                <a:lnTo>
                  <a:pt x="203597" y="214313"/>
                </a:lnTo>
                <a:cubicBezTo>
                  <a:pt x="203597" y="200650"/>
                  <a:pt x="199913" y="187858"/>
                  <a:pt x="193551" y="176808"/>
                </a:cubicBezTo>
                <a:cubicBezTo>
                  <a:pt x="199712" y="173392"/>
                  <a:pt x="206745" y="171450"/>
                  <a:pt x="214313" y="171450"/>
                </a:cubicBezTo>
                <a:lnTo>
                  <a:pt x="235744" y="171450"/>
                </a:lnTo>
                <a:lnTo>
                  <a:pt x="235744" y="214313"/>
                </a:lnTo>
                <a:cubicBezTo>
                  <a:pt x="235744" y="220206"/>
                  <a:pt x="240566" y="225028"/>
                  <a:pt x="246459" y="225028"/>
                </a:cubicBezTo>
                <a:lnTo>
                  <a:pt x="267891" y="225028"/>
                </a:lnTo>
                <a:cubicBezTo>
                  <a:pt x="273784" y="225028"/>
                  <a:pt x="278606" y="220206"/>
                  <a:pt x="278606" y="214313"/>
                </a:cubicBezTo>
                <a:lnTo>
                  <a:pt x="278606" y="171450"/>
                </a:lnTo>
                <a:lnTo>
                  <a:pt x="300038" y="171450"/>
                </a:lnTo>
                <a:cubicBezTo>
                  <a:pt x="323679" y="171450"/>
                  <a:pt x="342900" y="190671"/>
                  <a:pt x="342900" y="214313"/>
                </a:cubicBezTo>
                <a:lnTo>
                  <a:pt x="342900" y="300038"/>
                </a:lnTo>
                <a:cubicBezTo>
                  <a:pt x="342900" y="323679"/>
                  <a:pt x="323679" y="342900"/>
                  <a:pt x="300038" y="342900"/>
                </a:cubicBezTo>
                <a:lnTo>
                  <a:pt x="214313" y="342900"/>
                </a:lnTo>
                <a:close/>
                <a:moveTo>
                  <a:pt x="0" y="214313"/>
                </a:moveTo>
                <a:cubicBezTo>
                  <a:pt x="0" y="190671"/>
                  <a:pt x="19221" y="171450"/>
                  <a:pt x="42863" y="171450"/>
                </a:cubicBezTo>
                <a:lnTo>
                  <a:pt x="64294" y="171450"/>
                </a:lnTo>
                <a:lnTo>
                  <a:pt x="64294" y="214313"/>
                </a:lnTo>
                <a:cubicBezTo>
                  <a:pt x="64294" y="220206"/>
                  <a:pt x="69116" y="225028"/>
                  <a:pt x="75009" y="225028"/>
                </a:cubicBezTo>
                <a:lnTo>
                  <a:pt x="96441" y="225028"/>
                </a:lnTo>
                <a:cubicBezTo>
                  <a:pt x="102334" y="225028"/>
                  <a:pt x="107156" y="220206"/>
                  <a:pt x="107156" y="214313"/>
                </a:cubicBezTo>
                <a:lnTo>
                  <a:pt x="107156" y="171450"/>
                </a:lnTo>
                <a:lnTo>
                  <a:pt x="128588" y="171450"/>
                </a:lnTo>
                <a:cubicBezTo>
                  <a:pt x="152229" y="171450"/>
                  <a:pt x="171450" y="190671"/>
                  <a:pt x="171450" y="214313"/>
                </a:cubicBezTo>
                <a:lnTo>
                  <a:pt x="171450" y="300038"/>
                </a:lnTo>
                <a:cubicBezTo>
                  <a:pt x="171450" y="323679"/>
                  <a:pt x="152229" y="342900"/>
                  <a:pt x="128588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21431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0" name="Text 38"/>
          <p:cNvSpPr/>
          <p:nvPr/>
        </p:nvSpPr>
        <p:spPr>
          <a:xfrm>
            <a:off x="9216390" y="230874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Optimization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0190" y="2613543"/>
            <a:ext cx="2419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30-40%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16390" y="310884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Waste reduction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6040" y="3665104"/>
            <a:ext cx="2510790" cy="1805940"/>
          </a:xfrm>
          <a:custGeom>
            <a:avLst/>
            <a:gdLst/>
            <a:ahLst/>
            <a:cxnLst/>
            <a:rect l="l" t="t" r="r" b="b"/>
            <a:pathLst>
              <a:path w="2510790" h="1805940">
                <a:moveTo>
                  <a:pt x="76193" y="0"/>
                </a:moveTo>
                <a:lnTo>
                  <a:pt x="2434597" y="0"/>
                </a:lnTo>
                <a:cubicBezTo>
                  <a:pt x="2476677" y="0"/>
                  <a:pt x="2510790" y="34113"/>
                  <a:pt x="2510790" y="76193"/>
                </a:cubicBezTo>
                <a:lnTo>
                  <a:pt x="2510790" y="1729747"/>
                </a:lnTo>
                <a:cubicBezTo>
                  <a:pt x="2510790" y="1771827"/>
                  <a:pt x="2476677" y="1805940"/>
                  <a:pt x="2434597" y="1805940"/>
                </a:cubicBezTo>
                <a:lnTo>
                  <a:pt x="76193" y="1805940"/>
                </a:lnTo>
                <a:cubicBezTo>
                  <a:pt x="34113" y="1805940"/>
                  <a:pt x="0" y="1771827"/>
                  <a:pt x="0" y="172974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0320">
            <a:solidFill>
              <a:srgbClr val="319795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4279" y="3825120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91083" y="16073"/>
                </a:moveTo>
                <a:cubicBezTo>
                  <a:pt x="91083" y="7166"/>
                  <a:pt x="98249" y="0"/>
                  <a:pt x="107156" y="0"/>
                </a:cubicBezTo>
                <a:cubicBezTo>
                  <a:pt x="116064" y="0"/>
                  <a:pt x="123230" y="7166"/>
                  <a:pt x="123230" y="16073"/>
                </a:cubicBezTo>
                <a:lnTo>
                  <a:pt x="123230" y="42863"/>
                </a:lnTo>
                <a:lnTo>
                  <a:pt x="160734" y="42863"/>
                </a:lnTo>
                <a:cubicBezTo>
                  <a:pt x="172589" y="42863"/>
                  <a:pt x="182166" y="52440"/>
                  <a:pt x="182166" y="64294"/>
                </a:cubicBezTo>
                <a:cubicBezTo>
                  <a:pt x="182166" y="76148"/>
                  <a:pt x="172589" y="85725"/>
                  <a:pt x="160734" y="85725"/>
                </a:cubicBezTo>
                <a:lnTo>
                  <a:pt x="83783" y="85725"/>
                </a:lnTo>
                <a:cubicBezTo>
                  <a:pt x="67107" y="85725"/>
                  <a:pt x="53578" y="99253"/>
                  <a:pt x="53578" y="115930"/>
                </a:cubicBezTo>
                <a:cubicBezTo>
                  <a:pt x="53578" y="130999"/>
                  <a:pt x="64629" y="143723"/>
                  <a:pt x="79497" y="145866"/>
                </a:cubicBezTo>
                <a:lnTo>
                  <a:pt x="140843" y="154640"/>
                </a:lnTo>
                <a:cubicBezTo>
                  <a:pt x="176875" y="159797"/>
                  <a:pt x="203597" y="190604"/>
                  <a:pt x="203597" y="226970"/>
                </a:cubicBezTo>
                <a:cubicBezTo>
                  <a:pt x="203597" y="267355"/>
                  <a:pt x="170847" y="300038"/>
                  <a:pt x="130530" y="300038"/>
                </a:cubicBezTo>
                <a:lnTo>
                  <a:pt x="123230" y="300038"/>
                </a:lnTo>
                <a:lnTo>
                  <a:pt x="123230" y="326827"/>
                </a:lnTo>
                <a:cubicBezTo>
                  <a:pt x="123230" y="335734"/>
                  <a:pt x="116064" y="342900"/>
                  <a:pt x="107156" y="342900"/>
                </a:cubicBezTo>
                <a:cubicBezTo>
                  <a:pt x="98249" y="342900"/>
                  <a:pt x="91083" y="335734"/>
                  <a:pt x="91083" y="326827"/>
                </a:cubicBezTo>
                <a:lnTo>
                  <a:pt x="91083" y="300038"/>
                </a:lnTo>
                <a:lnTo>
                  <a:pt x="42863" y="300038"/>
                </a:lnTo>
                <a:cubicBezTo>
                  <a:pt x="31008" y="300038"/>
                  <a:pt x="21431" y="290460"/>
                  <a:pt x="21431" y="278606"/>
                </a:cubicBezTo>
                <a:cubicBezTo>
                  <a:pt x="21431" y="266752"/>
                  <a:pt x="31008" y="257175"/>
                  <a:pt x="42863" y="257175"/>
                </a:cubicBezTo>
                <a:lnTo>
                  <a:pt x="130530" y="257175"/>
                </a:lnTo>
                <a:cubicBezTo>
                  <a:pt x="147206" y="257175"/>
                  <a:pt x="160734" y="243647"/>
                  <a:pt x="160734" y="226970"/>
                </a:cubicBezTo>
                <a:cubicBezTo>
                  <a:pt x="160734" y="211901"/>
                  <a:pt x="149684" y="199177"/>
                  <a:pt x="134816" y="197034"/>
                </a:cubicBezTo>
                <a:lnTo>
                  <a:pt x="73469" y="188260"/>
                </a:lnTo>
                <a:cubicBezTo>
                  <a:pt x="37438" y="183170"/>
                  <a:pt x="10716" y="152296"/>
                  <a:pt x="10716" y="115930"/>
                </a:cubicBezTo>
                <a:cubicBezTo>
                  <a:pt x="10716" y="75612"/>
                  <a:pt x="43465" y="42863"/>
                  <a:pt x="83783" y="42863"/>
                </a:cubicBezTo>
                <a:lnTo>
                  <a:pt x="91083" y="42863"/>
                </a:lnTo>
                <a:lnTo>
                  <a:pt x="91083" y="16073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428232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Generated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61760" y="4587120"/>
            <a:ext cx="2419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$1.3B+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7960" y="508242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impact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94470" y="3665104"/>
            <a:ext cx="2510790" cy="1805940"/>
          </a:xfrm>
          <a:custGeom>
            <a:avLst/>
            <a:gdLst/>
            <a:ahLst/>
            <a:cxnLst/>
            <a:rect l="l" t="t" r="r" b="b"/>
            <a:pathLst>
              <a:path w="2510790" h="1805940">
                <a:moveTo>
                  <a:pt x="76193" y="0"/>
                </a:moveTo>
                <a:lnTo>
                  <a:pt x="2434597" y="0"/>
                </a:lnTo>
                <a:cubicBezTo>
                  <a:pt x="2476677" y="0"/>
                  <a:pt x="2510790" y="34113"/>
                  <a:pt x="2510790" y="76193"/>
                </a:cubicBezTo>
                <a:lnTo>
                  <a:pt x="2510790" y="1729747"/>
                </a:lnTo>
                <a:cubicBezTo>
                  <a:pt x="2510790" y="1771827"/>
                  <a:pt x="2476677" y="1805940"/>
                  <a:pt x="2434597" y="1805940"/>
                </a:cubicBezTo>
                <a:lnTo>
                  <a:pt x="76193" y="1805940"/>
                </a:lnTo>
                <a:cubicBezTo>
                  <a:pt x="34113" y="1805940"/>
                  <a:pt x="0" y="1771827"/>
                  <a:pt x="0" y="172974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0320">
            <a:solidFill>
              <a:srgbClr val="F6AD55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99846" y="382512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92881" y="0"/>
                </a:moveTo>
                <a:lnTo>
                  <a:pt x="85725" y="0"/>
                </a:lnTo>
                <a:cubicBezTo>
                  <a:pt x="73871" y="0"/>
                  <a:pt x="64294" y="9577"/>
                  <a:pt x="64294" y="21431"/>
                </a:cubicBezTo>
                <a:cubicBezTo>
                  <a:pt x="64294" y="33285"/>
                  <a:pt x="73871" y="42863"/>
                  <a:pt x="85725" y="42863"/>
                </a:cubicBezTo>
                <a:lnTo>
                  <a:pt x="85725" y="144326"/>
                </a:lnTo>
                <a:lnTo>
                  <a:pt x="5023" y="285504"/>
                </a:lnTo>
                <a:cubicBezTo>
                  <a:pt x="1741" y="291331"/>
                  <a:pt x="0" y="297827"/>
                  <a:pt x="0" y="304525"/>
                </a:cubicBezTo>
                <a:cubicBezTo>
                  <a:pt x="0" y="325755"/>
                  <a:pt x="17145" y="342900"/>
                  <a:pt x="38375" y="342900"/>
                </a:cubicBezTo>
                <a:lnTo>
                  <a:pt x="261662" y="342900"/>
                </a:lnTo>
                <a:cubicBezTo>
                  <a:pt x="282826" y="342900"/>
                  <a:pt x="300038" y="325755"/>
                  <a:pt x="300038" y="304525"/>
                </a:cubicBezTo>
                <a:cubicBezTo>
                  <a:pt x="300038" y="297827"/>
                  <a:pt x="298296" y="291264"/>
                  <a:pt x="295015" y="285504"/>
                </a:cubicBezTo>
                <a:lnTo>
                  <a:pt x="214313" y="144326"/>
                </a:lnTo>
                <a:lnTo>
                  <a:pt x="214313" y="42863"/>
                </a:lnTo>
                <a:cubicBezTo>
                  <a:pt x="226167" y="42863"/>
                  <a:pt x="235744" y="33285"/>
                  <a:pt x="235744" y="21431"/>
                </a:cubicBezTo>
                <a:cubicBezTo>
                  <a:pt x="235744" y="9577"/>
                  <a:pt x="226167" y="0"/>
                  <a:pt x="214313" y="0"/>
                </a:cubicBezTo>
                <a:lnTo>
                  <a:pt x="192881" y="0"/>
                </a:lnTo>
                <a:close/>
                <a:moveTo>
                  <a:pt x="128588" y="144326"/>
                </a:moveTo>
                <a:lnTo>
                  <a:pt x="128588" y="42863"/>
                </a:lnTo>
                <a:lnTo>
                  <a:pt x="171450" y="42863"/>
                </a:lnTo>
                <a:lnTo>
                  <a:pt x="171450" y="144326"/>
                </a:lnTo>
                <a:cubicBezTo>
                  <a:pt x="171450" y="151760"/>
                  <a:pt x="173392" y="159127"/>
                  <a:pt x="177076" y="165623"/>
                </a:cubicBezTo>
                <a:lnTo>
                  <a:pt x="204936" y="214313"/>
                </a:lnTo>
                <a:lnTo>
                  <a:pt x="95101" y="214313"/>
                </a:lnTo>
                <a:lnTo>
                  <a:pt x="122962" y="165623"/>
                </a:lnTo>
                <a:cubicBezTo>
                  <a:pt x="126645" y="159127"/>
                  <a:pt x="128588" y="151827"/>
                  <a:pt x="128588" y="14432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0" name="Text 48"/>
          <p:cNvSpPr/>
          <p:nvPr/>
        </p:nvSpPr>
        <p:spPr>
          <a:xfrm>
            <a:off x="9216390" y="428232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Method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83053" y="4587120"/>
            <a:ext cx="2333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Paired t-test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16390" y="496812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approach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3" name="Text 1"/>
          <p:cNvSpPr/>
          <p:nvPr/>
        </p:nvSpPr>
        <p:spPr>
          <a:xfrm>
            <a:off x="461010" y="438150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739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Evolution: From Uniform to Thompson Sampling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" name="Shape 4"/>
          <p:cNvSpPr/>
          <p:nvPr/>
        </p:nvSpPr>
        <p:spPr>
          <a:xfrm>
            <a:off x="1381125" y="1028700"/>
            <a:ext cx="38100" cy="4429125"/>
          </a:xfrm>
          <a:custGeom>
            <a:avLst/>
            <a:gdLst/>
            <a:ahLst/>
            <a:cxnLst/>
            <a:rect l="l" t="t" r="r" b="b"/>
            <a:pathLst>
              <a:path w="38100" h="4429125">
                <a:moveTo>
                  <a:pt x="0" y="0"/>
                </a:moveTo>
                <a:lnTo>
                  <a:pt x="38100" y="0"/>
                </a:lnTo>
                <a:lnTo>
                  <a:pt x="38100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4143375" y="1028700"/>
            <a:ext cx="38100" cy="4429125"/>
          </a:xfrm>
          <a:custGeom>
            <a:avLst/>
            <a:gdLst/>
            <a:ahLst/>
            <a:cxnLst/>
            <a:rect l="l" t="t" r="r" b="b"/>
            <a:pathLst>
              <a:path w="38100" h="4429125">
                <a:moveTo>
                  <a:pt x="0" y="0"/>
                </a:moveTo>
                <a:lnTo>
                  <a:pt x="38100" y="0"/>
                </a:lnTo>
                <a:lnTo>
                  <a:pt x="38100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8" name="Shape 6"/>
          <p:cNvSpPr/>
          <p:nvPr/>
        </p:nvSpPr>
        <p:spPr>
          <a:xfrm>
            <a:off x="6905625" y="1028700"/>
            <a:ext cx="38100" cy="4429125"/>
          </a:xfrm>
          <a:custGeom>
            <a:avLst/>
            <a:gdLst/>
            <a:ahLst/>
            <a:cxnLst/>
            <a:rect l="l" t="t" r="r" b="b"/>
            <a:pathLst>
              <a:path w="38100" h="4429125">
                <a:moveTo>
                  <a:pt x="0" y="0"/>
                </a:moveTo>
                <a:lnTo>
                  <a:pt x="38100" y="0"/>
                </a:lnTo>
                <a:lnTo>
                  <a:pt x="38100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9" name="Shape 7"/>
          <p:cNvSpPr/>
          <p:nvPr/>
        </p:nvSpPr>
        <p:spPr>
          <a:xfrm>
            <a:off x="381000" y="1028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850" y="1238250"/>
            <a:ext cx="257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954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2" name="Shape 10"/>
          <p:cNvSpPr/>
          <p:nvPr/>
        </p:nvSpPr>
        <p:spPr>
          <a:xfrm>
            <a:off x="388620" y="1950720"/>
            <a:ext cx="3644265" cy="3501390"/>
          </a:xfrm>
          <a:custGeom>
            <a:avLst/>
            <a:gdLst/>
            <a:ahLst/>
            <a:cxnLst/>
            <a:rect l="l" t="t" r="r" b="b"/>
            <a:pathLst>
              <a:path w="3644265" h="3501390">
                <a:moveTo>
                  <a:pt x="114285" y="0"/>
                </a:moveTo>
                <a:lnTo>
                  <a:pt x="3529980" y="0"/>
                </a:lnTo>
                <a:cubicBezTo>
                  <a:pt x="3593098" y="0"/>
                  <a:pt x="3644265" y="51167"/>
                  <a:pt x="3644265" y="114285"/>
                </a:cubicBezTo>
                <a:lnTo>
                  <a:pt x="3644265" y="3387105"/>
                </a:lnTo>
                <a:cubicBezTo>
                  <a:pt x="3644265" y="3450223"/>
                  <a:pt x="3593098" y="3501390"/>
                  <a:pt x="3529980" y="3501390"/>
                </a:cubicBezTo>
                <a:lnTo>
                  <a:pt x="114285" y="3501390"/>
                </a:lnTo>
                <a:cubicBezTo>
                  <a:pt x="51167" y="3501390"/>
                  <a:pt x="0" y="3450223"/>
                  <a:pt x="0" y="3387105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w="20320">
            <a:solidFill>
              <a:srgbClr val="3197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" y="21582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5363" y="19199"/>
                </a:moveTo>
                <a:cubicBezTo>
                  <a:pt x="232060" y="16408"/>
                  <a:pt x="239706" y="17971"/>
                  <a:pt x="244841" y="23050"/>
                </a:cubicBezTo>
                <a:lnTo>
                  <a:pt x="280560" y="58769"/>
                </a:lnTo>
                <a:cubicBezTo>
                  <a:pt x="283908" y="62117"/>
                  <a:pt x="285806" y="66638"/>
                  <a:pt x="285806" y="71382"/>
                </a:cubicBezTo>
                <a:cubicBezTo>
                  <a:pt x="285806" y="76126"/>
                  <a:pt x="283908" y="80646"/>
                  <a:pt x="280560" y="83995"/>
                </a:cubicBezTo>
                <a:lnTo>
                  <a:pt x="244841" y="119714"/>
                </a:lnTo>
                <a:cubicBezTo>
                  <a:pt x="239706" y="124848"/>
                  <a:pt x="232060" y="126355"/>
                  <a:pt x="225363" y="123565"/>
                </a:cubicBezTo>
                <a:cubicBezTo>
                  <a:pt x="218666" y="120774"/>
                  <a:pt x="214313" y="114356"/>
                  <a:pt x="214313" y="107156"/>
                </a:cubicBezTo>
                <a:lnTo>
                  <a:pt x="214313" y="89297"/>
                </a:lnTo>
                <a:lnTo>
                  <a:pt x="196453" y="89297"/>
                </a:lnTo>
                <a:cubicBezTo>
                  <a:pt x="190816" y="89297"/>
                  <a:pt x="185514" y="91920"/>
                  <a:pt x="182166" y="96441"/>
                </a:cubicBezTo>
                <a:lnTo>
                  <a:pt x="164083" y="120551"/>
                </a:lnTo>
                <a:lnTo>
                  <a:pt x="141759" y="90804"/>
                </a:lnTo>
                <a:lnTo>
                  <a:pt x="153591" y="75009"/>
                </a:lnTo>
                <a:cubicBezTo>
                  <a:pt x="163692" y="61503"/>
                  <a:pt x="179598" y="53578"/>
                  <a:pt x="196453" y="53578"/>
                </a:cubicBezTo>
                <a:lnTo>
                  <a:pt x="214313" y="53578"/>
                </a:lnTo>
                <a:lnTo>
                  <a:pt x="214313" y="35719"/>
                </a:lnTo>
                <a:cubicBezTo>
                  <a:pt x="214313" y="28519"/>
                  <a:pt x="218666" y="21989"/>
                  <a:pt x="225363" y="19199"/>
                </a:cubicBezTo>
                <a:close/>
                <a:moveTo>
                  <a:pt x="85948" y="165199"/>
                </a:moveTo>
                <a:lnTo>
                  <a:pt x="108272" y="194946"/>
                </a:lnTo>
                <a:lnTo>
                  <a:pt x="96441" y="210741"/>
                </a:lnTo>
                <a:cubicBezTo>
                  <a:pt x="86339" y="224247"/>
                  <a:pt x="70433" y="232172"/>
                  <a:pt x="53578" y="232172"/>
                </a:cubicBez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53578" y="196453"/>
                </a:lnTo>
                <a:cubicBezTo>
                  <a:pt x="59215" y="196453"/>
                  <a:pt x="64517" y="193830"/>
                  <a:pt x="67866" y="189309"/>
                </a:cubicBezTo>
                <a:lnTo>
                  <a:pt x="85948" y="165199"/>
                </a:lnTo>
                <a:close/>
                <a:moveTo>
                  <a:pt x="244785" y="262644"/>
                </a:moveTo>
                <a:cubicBezTo>
                  <a:pt x="239650" y="267779"/>
                  <a:pt x="232004" y="269286"/>
                  <a:pt x="225307" y="266495"/>
                </a:cubicBezTo>
                <a:cubicBezTo>
                  <a:pt x="218610" y="263705"/>
                  <a:pt x="214313" y="257231"/>
                  <a:pt x="214313" y="250031"/>
                </a:cubicBezTo>
                <a:lnTo>
                  <a:pt x="214313" y="232172"/>
                </a:lnTo>
                <a:lnTo>
                  <a:pt x="196453" y="232172"/>
                </a:lnTo>
                <a:cubicBezTo>
                  <a:pt x="179598" y="232172"/>
                  <a:pt x="163692" y="224247"/>
                  <a:pt x="153591" y="210741"/>
                </a:cubicBezTo>
                <a:lnTo>
                  <a:pt x="67866" y="96441"/>
                </a:lnTo>
                <a:cubicBezTo>
                  <a:pt x="64517" y="91920"/>
                  <a:pt x="59215" y="89297"/>
                  <a:pt x="53578" y="89297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cubicBezTo>
                  <a:pt x="70433" y="53578"/>
                  <a:pt x="86339" y="61503"/>
                  <a:pt x="96441" y="75009"/>
                </a:cubicBezTo>
                <a:lnTo>
                  <a:pt x="182166" y="189309"/>
                </a:lnTo>
                <a:cubicBezTo>
                  <a:pt x="185514" y="193830"/>
                  <a:pt x="190816" y="196453"/>
                  <a:pt x="196453" y="196453"/>
                </a:cubicBezTo>
                <a:lnTo>
                  <a:pt x="214313" y="196453"/>
                </a:lnTo>
                <a:lnTo>
                  <a:pt x="214313" y="178594"/>
                </a:lnTo>
                <a:cubicBezTo>
                  <a:pt x="214313" y="171394"/>
                  <a:pt x="218666" y="164864"/>
                  <a:pt x="225363" y="162074"/>
                </a:cubicBezTo>
                <a:cubicBezTo>
                  <a:pt x="232060" y="159283"/>
                  <a:pt x="239706" y="160846"/>
                  <a:pt x="244841" y="165925"/>
                </a:cubicBezTo>
                <a:lnTo>
                  <a:pt x="280560" y="201644"/>
                </a:lnTo>
                <a:cubicBezTo>
                  <a:pt x="283908" y="204992"/>
                  <a:pt x="285806" y="209513"/>
                  <a:pt x="285806" y="214257"/>
                </a:cubicBezTo>
                <a:cubicBezTo>
                  <a:pt x="285806" y="219001"/>
                  <a:pt x="283908" y="223521"/>
                  <a:pt x="280560" y="226870"/>
                </a:cubicBezTo>
                <a:lnTo>
                  <a:pt x="244841" y="262589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8227" y="2148841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Uniform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6740" y="2605920"/>
            <a:ext cx="3248025" cy="723900"/>
          </a:xfrm>
          <a:custGeom>
            <a:avLst/>
            <a:gdLst/>
            <a:ahLst/>
            <a:cxnLst/>
            <a:rect l="l" t="t" r="r" b="b"/>
            <a:pathLst>
              <a:path w="3248025" h="723900">
                <a:moveTo>
                  <a:pt x="76198" y="0"/>
                </a:moveTo>
                <a:lnTo>
                  <a:pt x="3171827" y="0"/>
                </a:lnTo>
                <a:cubicBezTo>
                  <a:pt x="3213882" y="0"/>
                  <a:pt x="3248025" y="34143"/>
                  <a:pt x="3248025" y="76198"/>
                </a:cubicBezTo>
                <a:lnTo>
                  <a:pt x="3248025" y="647702"/>
                </a:lnTo>
                <a:cubicBezTo>
                  <a:pt x="3248025" y="689757"/>
                  <a:pt x="3213882" y="723900"/>
                  <a:pt x="31718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1040" y="272022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Stage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1040" y="298692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all bias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5315" y="35203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9" name="Text 17"/>
          <p:cNvSpPr/>
          <p:nvPr/>
        </p:nvSpPr>
        <p:spPr>
          <a:xfrm>
            <a:off x="853440" y="348222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Equal probability for all items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5315" y="38251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1" name="Text 19"/>
          <p:cNvSpPr/>
          <p:nvPr/>
        </p:nvSpPr>
        <p:spPr>
          <a:xfrm>
            <a:off x="853440" y="378702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Completely unbiased exploration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315" y="41299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3" name="Text 21"/>
          <p:cNvSpPr/>
          <p:nvPr/>
        </p:nvSpPr>
        <p:spPr>
          <a:xfrm>
            <a:off x="853440" y="409182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Maximum discovery potential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6740" y="4865369"/>
            <a:ext cx="3248025" cy="7620"/>
          </a:xfrm>
          <a:custGeom>
            <a:avLst/>
            <a:gdLst/>
            <a:ahLst/>
            <a:cxnLst/>
            <a:rect l="l" t="t" r="r" b="b"/>
            <a:pathLst>
              <a:path w="3248025" h="7620">
                <a:moveTo>
                  <a:pt x="0" y="0"/>
                </a:moveTo>
                <a:lnTo>
                  <a:pt x="3248025" y="0"/>
                </a:lnTo>
                <a:lnTo>
                  <a:pt x="3248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5" name="Shape 23"/>
          <p:cNvSpPr/>
          <p:nvPr/>
        </p:nvSpPr>
        <p:spPr>
          <a:xfrm>
            <a:off x="596265" y="50596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6" name="Text 24"/>
          <p:cNvSpPr/>
          <p:nvPr/>
        </p:nvSpPr>
        <p:spPr>
          <a:xfrm>
            <a:off x="834390" y="5021582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essential foundation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67200" y="1028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6AD5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64380" y="1238250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16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0" name="Shape 28"/>
          <p:cNvSpPr/>
          <p:nvPr/>
        </p:nvSpPr>
        <p:spPr>
          <a:xfrm>
            <a:off x="4274820" y="1950720"/>
            <a:ext cx="3644265" cy="3501390"/>
          </a:xfrm>
          <a:custGeom>
            <a:avLst/>
            <a:gdLst/>
            <a:ahLst/>
            <a:cxnLst/>
            <a:rect l="l" t="t" r="r" b="b"/>
            <a:pathLst>
              <a:path w="3644265" h="3501390">
                <a:moveTo>
                  <a:pt x="114285" y="0"/>
                </a:moveTo>
                <a:lnTo>
                  <a:pt x="3529980" y="0"/>
                </a:lnTo>
                <a:cubicBezTo>
                  <a:pt x="3593098" y="0"/>
                  <a:pt x="3644265" y="51167"/>
                  <a:pt x="3644265" y="114285"/>
                </a:cubicBezTo>
                <a:lnTo>
                  <a:pt x="3644265" y="3387105"/>
                </a:lnTo>
                <a:cubicBezTo>
                  <a:pt x="3644265" y="3450223"/>
                  <a:pt x="3593098" y="3501390"/>
                  <a:pt x="3529980" y="3501390"/>
                </a:cubicBezTo>
                <a:lnTo>
                  <a:pt x="114285" y="3501390"/>
                </a:lnTo>
                <a:cubicBezTo>
                  <a:pt x="51167" y="3501390"/>
                  <a:pt x="0" y="3450223"/>
                  <a:pt x="0" y="3387105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w="20320">
            <a:solidFill>
              <a:srgbClr val="F6AD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75321" y="215824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2" name="Text 30"/>
          <p:cNvSpPr/>
          <p:nvPr/>
        </p:nvSpPr>
        <p:spPr>
          <a:xfrm>
            <a:off x="4944428" y="2148841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Epsilon-Greedy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72940" y="2605920"/>
            <a:ext cx="3248025" cy="723900"/>
          </a:xfrm>
          <a:custGeom>
            <a:avLst/>
            <a:gdLst/>
            <a:ahLst/>
            <a:cxnLst/>
            <a:rect l="l" t="t" r="r" b="b"/>
            <a:pathLst>
              <a:path w="3248025" h="723900">
                <a:moveTo>
                  <a:pt x="76198" y="0"/>
                </a:moveTo>
                <a:lnTo>
                  <a:pt x="3171827" y="0"/>
                </a:lnTo>
                <a:cubicBezTo>
                  <a:pt x="3213882" y="0"/>
                  <a:pt x="3248025" y="34143"/>
                  <a:pt x="3248025" y="76198"/>
                </a:cubicBezTo>
                <a:lnTo>
                  <a:pt x="3248025" y="647702"/>
                </a:lnTo>
                <a:cubicBezTo>
                  <a:pt x="3248025" y="689757"/>
                  <a:pt x="3213882" y="723900"/>
                  <a:pt x="31718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87240" y="272022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Standard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87240" y="298692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95/5 split approach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01515" y="35203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7" name="Text 35"/>
          <p:cNvSpPr/>
          <p:nvPr/>
        </p:nvSpPr>
        <p:spPr>
          <a:xfrm>
            <a:off x="4739640" y="348222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Balances exploitation &amp; exploration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01515" y="38251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9" name="Text 37"/>
          <p:cNvSpPr/>
          <p:nvPr/>
        </p:nvSpPr>
        <p:spPr>
          <a:xfrm>
            <a:off x="4739640" y="378702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Protects revenue streams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01515" y="41299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1" name="Text 39"/>
          <p:cNvSpPr/>
          <p:nvPr/>
        </p:nvSpPr>
        <p:spPr>
          <a:xfrm>
            <a:off x="4739640" y="409182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Industry-proven approach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72940" y="4865369"/>
            <a:ext cx="3248025" cy="7620"/>
          </a:xfrm>
          <a:custGeom>
            <a:avLst/>
            <a:gdLst/>
            <a:ahLst/>
            <a:cxnLst/>
            <a:rect l="l" t="t" r="r" b="b"/>
            <a:pathLst>
              <a:path w="3248025" h="7620">
                <a:moveTo>
                  <a:pt x="0" y="0"/>
                </a:moveTo>
                <a:lnTo>
                  <a:pt x="3248025" y="0"/>
                </a:lnTo>
                <a:lnTo>
                  <a:pt x="3248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3" name="Shape 41"/>
          <p:cNvSpPr/>
          <p:nvPr/>
        </p:nvSpPr>
        <p:spPr>
          <a:xfrm>
            <a:off x="4511040" y="50596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44" name="Text 42"/>
          <p:cNvSpPr/>
          <p:nvPr/>
        </p:nvSpPr>
        <p:spPr>
          <a:xfrm>
            <a:off x="4720590" y="5021582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Stitch Fix uses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53400" y="1028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19795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450580" y="1238250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61020" y="1950720"/>
            <a:ext cx="3644265" cy="3501390"/>
          </a:xfrm>
          <a:custGeom>
            <a:avLst/>
            <a:gdLst/>
            <a:ahLst/>
            <a:cxnLst/>
            <a:rect l="l" t="t" r="r" b="b"/>
            <a:pathLst>
              <a:path w="3644265" h="3501390">
                <a:moveTo>
                  <a:pt x="114285" y="0"/>
                </a:moveTo>
                <a:lnTo>
                  <a:pt x="3529980" y="0"/>
                </a:lnTo>
                <a:cubicBezTo>
                  <a:pt x="3593098" y="0"/>
                  <a:pt x="3644265" y="51167"/>
                  <a:pt x="3644265" y="114285"/>
                </a:cubicBezTo>
                <a:lnTo>
                  <a:pt x="3644265" y="3387105"/>
                </a:lnTo>
                <a:cubicBezTo>
                  <a:pt x="3644265" y="3450223"/>
                  <a:pt x="3593098" y="3501390"/>
                  <a:pt x="3529980" y="3501390"/>
                </a:cubicBezTo>
                <a:lnTo>
                  <a:pt x="114285" y="3501390"/>
                </a:lnTo>
                <a:cubicBezTo>
                  <a:pt x="51167" y="3501390"/>
                  <a:pt x="0" y="3450223"/>
                  <a:pt x="0" y="3387105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w="20320">
            <a:solidFill>
              <a:srgbClr val="31979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97240" y="21582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49" name="Text 47"/>
          <p:cNvSpPr/>
          <p:nvPr/>
        </p:nvSpPr>
        <p:spPr>
          <a:xfrm>
            <a:off x="8830628" y="2148841"/>
            <a:ext cx="2181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Thompson Sampling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59140" y="2605920"/>
            <a:ext cx="3248025" cy="723900"/>
          </a:xfrm>
          <a:custGeom>
            <a:avLst/>
            <a:gdLst/>
            <a:ahLst/>
            <a:cxnLst/>
            <a:rect l="l" t="t" r="r" b="b"/>
            <a:pathLst>
              <a:path w="3248025" h="723900">
                <a:moveTo>
                  <a:pt x="76198" y="0"/>
                </a:moveTo>
                <a:lnTo>
                  <a:pt x="3171827" y="0"/>
                </a:lnTo>
                <a:cubicBezTo>
                  <a:pt x="3213882" y="0"/>
                  <a:pt x="3248025" y="34143"/>
                  <a:pt x="3248025" y="76198"/>
                </a:cubicBezTo>
                <a:lnTo>
                  <a:pt x="3248025" y="647702"/>
                </a:lnTo>
                <a:cubicBezTo>
                  <a:pt x="3248025" y="689757"/>
                  <a:pt x="3213882" y="723900"/>
                  <a:pt x="31718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473440" y="272022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Stage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73440" y="298692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per item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87715" y="35203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54" name="Text 52"/>
          <p:cNvSpPr/>
          <p:nvPr/>
        </p:nvSpPr>
        <p:spPr>
          <a:xfrm>
            <a:off x="8625840" y="348222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Adapts exploration per item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87715" y="38251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56" name="Text 54"/>
          <p:cNvSpPr/>
          <p:nvPr/>
        </p:nvSpPr>
        <p:spPr>
          <a:xfrm>
            <a:off x="8625840" y="378702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Bayesian approach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87715" y="41299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58" name="Text 56"/>
          <p:cNvSpPr/>
          <p:nvPr/>
        </p:nvSpPr>
        <p:spPr>
          <a:xfrm>
            <a:off x="8625840" y="409182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regret bounds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59140" y="4865369"/>
            <a:ext cx="3248025" cy="7620"/>
          </a:xfrm>
          <a:custGeom>
            <a:avLst/>
            <a:gdLst/>
            <a:ahLst/>
            <a:cxnLst/>
            <a:rect l="l" t="t" r="r" b="b"/>
            <a:pathLst>
              <a:path w="3248025" h="7620">
                <a:moveTo>
                  <a:pt x="0" y="0"/>
                </a:moveTo>
                <a:lnTo>
                  <a:pt x="3248025" y="0"/>
                </a:lnTo>
                <a:lnTo>
                  <a:pt x="32480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0" name="Shape 58"/>
          <p:cNvSpPr/>
          <p:nvPr/>
        </p:nvSpPr>
        <p:spPr>
          <a:xfrm>
            <a:off x="8378190" y="50596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1" name="Text 59"/>
          <p:cNvSpPr/>
          <p:nvPr/>
        </p:nvSpPr>
        <p:spPr>
          <a:xfrm>
            <a:off x="8606790" y="5021582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Next-generation approach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88620" y="5615943"/>
            <a:ext cx="11416665" cy="853440"/>
          </a:xfrm>
          <a:custGeom>
            <a:avLst/>
            <a:gdLst/>
            <a:ahLst/>
            <a:cxnLst/>
            <a:rect l="l" t="t" r="r" b="b"/>
            <a:pathLst>
              <a:path w="11416665" h="853440">
                <a:moveTo>
                  <a:pt x="114301" y="0"/>
                </a:moveTo>
                <a:lnTo>
                  <a:pt x="11302364" y="0"/>
                </a:lnTo>
                <a:cubicBezTo>
                  <a:pt x="11365491" y="0"/>
                  <a:pt x="11416665" y="51174"/>
                  <a:pt x="11416665" y="114301"/>
                </a:cubicBezTo>
                <a:lnTo>
                  <a:pt x="11416665" y="739139"/>
                </a:lnTo>
                <a:cubicBezTo>
                  <a:pt x="11416665" y="802266"/>
                  <a:pt x="11365491" y="853440"/>
                  <a:pt x="11302364" y="853440"/>
                </a:cubicBezTo>
                <a:lnTo>
                  <a:pt x="114301" y="853440"/>
                </a:lnTo>
                <a:cubicBezTo>
                  <a:pt x="51174" y="853440"/>
                  <a:pt x="0" y="802266"/>
                  <a:pt x="0" y="73913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20320">
            <a:solidFill>
              <a:srgbClr val="31979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4834" y="5899784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4" name="Text 62"/>
          <p:cNvSpPr/>
          <p:nvPr/>
        </p:nvSpPr>
        <p:spPr>
          <a:xfrm>
            <a:off x="968454" y="5775959"/>
            <a:ext cx="1076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>
                    <a:alpha val="90000"/>
                  </a:srgbClr>
                </a:solidFill>
                <a:highlight>
                  <a:srgbClr val="319795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 Uniform distribution remains the foundation 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throughout all evolutionary stages. Each advancement builds upon the bias-removal principle that uniform sampling provides.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4c801806bae93acf2f12cb77a84568ab3299495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98" b="79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19795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92395"/>
            <a:ext cx="1293495" cy="388620"/>
          </a:xfrm>
          <a:custGeom>
            <a:avLst/>
            <a:gdLst/>
            <a:ahLst/>
            <a:cxnLst/>
            <a:rect l="l" t="t" r="r" b="b"/>
            <a:pathLst>
              <a:path w="1293495" h="388620">
                <a:moveTo>
                  <a:pt x="76201" y="0"/>
                </a:moveTo>
                <a:lnTo>
                  <a:pt x="1217294" y="0"/>
                </a:lnTo>
                <a:cubicBezTo>
                  <a:pt x="1259379" y="0"/>
                  <a:pt x="1293495" y="34116"/>
                  <a:pt x="1293495" y="76201"/>
                </a:cubicBezTo>
                <a:lnTo>
                  <a:pt x="1293495" y="312419"/>
                </a:lnTo>
                <a:cubicBezTo>
                  <a:pt x="1293495" y="354504"/>
                  <a:pt x="1259379" y="388620"/>
                  <a:pt x="121729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10160">
            <a:solidFill>
              <a:srgbClr val="31979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72403"/>
            <a:ext cx="10591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18222"/>
            <a:ext cx="1165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distribution doesn't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world —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discovers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961322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" name="Shape 5"/>
          <p:cNvSpPr/>
          <p:nvPr/>
        </p:nvSpPr>
        <p:spPr>
          <a:xfrm>
            <a:off x="384810" y="3384232"/>
            <a:ext cx="3646170" cy="1893570"/>
          </a:xfrm>
          <a:custGeom>
            <a:avLst/>
            <a:gdLst/>
            <a:ahLst/>
            <a:cxnLst/>
            <a:rect l="l" t="t" r="r" b="b"/>
            <a:pathLst>
              <a:path w="3646170" h="1893570">
                <a:moveTo>
                  <a:pt x="114296" y="0"/>
                </a:moveTo>
                <a:lnTo>
                  <a:pt x="3531874" y="0"/>
                </a:lnTo>
                <a:cubicBezTo>
                  <a:pt x="3594998" y="0"/>
                  <a:pt x="3646170" y="51172"/>
                  <a:pt x="3646170" y="114296"/>
                </a:cubicBezTo>
                <a:lnTo>
                  <a:pt x="3646170" y="1779274"/>
                </a:lnTo>
                <a:cubicBezTo>
                  <a:pt x="3646170" y="1842398"/>
                  <a:pt x="3594998" y="1893570"/>
                  <a:pt x="35318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7220" y="36166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19795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83908" y="376904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11" name="Text 8"/>
          <p:cNvSpPr/>
          <p:nvPr/>
        </p:nvSpPr>
        <p:spPr>
          <a:xfrm>
            <a:off x="1264920" y="3749994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A/B Testing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7220" y="4302444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unbiased experimental design by randomly assigning subjects to treatment and control groups.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71010" y="3384232"/>
            <a:ext cx="3646170" cy="1893570"/>
          </a:xfrm>
          <a:custGeom>
            <a:avLst/>
            <a:gdLst/>
            <a:ahLst/>
            <a:cxnLst/>
            <a:rect l="l" t="t" r="r" b="b"/>
            <a:pathLst>
              <a:path w="3646170" h="1893570">
                <a:moveTo>
                  <a:pt x="114296" y="0"/>
                </a:moveTo>
                <a:lnTo>
                  <a:pt x="3531874" y="0"/>
                </a:lnTo>
                <a:cubicBezTo>
                  <a:pt x="3594998" y="0"/>
                  <a:pt x="3646170" y="51172"/>
                  <a:pt x="3646170" y="114296"/>
                </a:cubicBezTo>
                <a:lnTo>
                  <a:pt x="3646170" y="1779274"/>
                </a:lnTo>
                <a:cubicBezTo>
                  <a:pt x="3646170" y="1842398"/>
                  <a:pt x="3594998" y="1893570"/>
                  <a:pt x="35318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3420" y="36166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55820" y="37690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6" name="Text 13"/>
          <p:cNvSpPr/>
          <p:nvPr/>
        </p:nvSpPr>
        <p:spPr>
          <a:xfrm>
            <a:off x="5151120" y="3749994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03420" y="4302444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out of local optima in recommendation systems and discover hidden opportunities in large datasets.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7210" y="3384232"/>
            <a:ext cx="3646170" cy="1893570"/>
          </a:xfrm>
          <a:custGeom>
            <a:avLst/>
            <a:gdLst/>
            <a:ahLst/>
            <a:cxnLst/>
            <a:rect l="l" t="t" r="r" b="b"/>
            <a:pathLst>
              <a:path w="3646170" h="1893570">
                <a:moveTo>
                  <a:pt x="114296" y="0"/>
                </a:moveTo>
                <a:lnTo>
                  <a:pt x="3531874" y="0"/>
                </a:lnTo>
                <a:cubicBezTo>
                  <a:pt x="3594998" y="0"/>
                  <a:pt x="3646170" y="51172"/>
                  <a:pt x="3646170" y="114296"/>
                </a:cubicBezTo>
                <a:lnTo>
                  <a:pt x="3646170" y="1779274"/>
                </a:lnTo>
                <a:cubicBezTo>
                  <a:pt x="3646170" y="1842398"/>
                  <a:pt x="3594998" y="1893570"/>
                  <a:pt x="35318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w="1016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89620" y="36166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19795">
              <a:alpha val="3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542020" y="37690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1" name="Text 18"/>
          <p:cNvSpPr/>
          <p:nvPr/>
        </p:nvSpPr>
        <p:spPr>
          <a:xfrm>
            <a:off x="9037320" y="3749994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197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Detection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9620" y="4302444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emerging patterns before they become obvious by maintaining continuous unbiased sampling.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8620" y="5670233"/>
            <a:ext cx="11416665" cy="1091565"/>
          </a:xfrm>
          <a:custGeom>
            <a:avLst/>
            <a:gdLst/>
            <a:ahLst/>
            <a:cxnLst/>
            <a:rect l="l" t="t" r="r" b="b"/>
            <a:pathLst>
              <a:path w="11416665" h="1091565">
                <a:moveTo>
                  <a:pt x="114298" y="0"/>
                </a:moveTo>
                <a:lnTo>
                  <a:pt x="11302367" y="0"/>
                </a:lnTo>
                <a:cubicBezTo>
                  <a:pt x="11365492" y="0"/>
                  <a:pt x="11416665" y="51173"/>
                  <a:pt x="11416665" y="114298"/>
                </a:cubicBezTo>
                <a:lnTo>
                  <a:pt x="11416665" y="977267"/>
                </a:lnTo>
                <a:cubicBezTo>
                  <a:pt x="11416665" y="1040392"/>
                  <a:pt x="11365492" y="1091565"/>
                  <a:pt x="11302367" y="1091565"/>
                </a:cubicBezTo>
                <a:lnTo>
                  <a:pt x="114298" y="1091565"/>
                </a:lnTo>
                <a:cubicBezTo>
                  <a:pt x="51173" y="1091565"/>
                  <a:pt x="0" y="1040392"/>
                  <a:pt x="0" y="97726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19795">
              <a:alpha val="20000"/>
            </a:srgbClr>
          </a:solidFill>
          <a:ln w="20320">
            <a:solidFill>
              <a:srgbClr val="31979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0799" y="607314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5" name="Text 22"/>
          <p:cNvSpPr/>
          <p:nvPr/>
        </p:nvSpPr>
        <p:spPr>
          <a:xfrm>
            <a:off x="1134427" y="5906453"/>
            <a:ext cx="10020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a world driven by AI predictions, the courage to explore randomly is what separates innovative companies from those trapped in their own assumptions.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265932" y="607314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65199"/>
                </a:moveTo>
                <a:cubicBezTo>
                  <a:pt x="250031" y="202202"/>
                  <a:pt x="220061" y="232172"/>
                  <a:pt x="183059" y="232172"/>
                </a:cubicBezTo>
                <a:lnTo>
                  <a:pt x="178594" y="232172"/>
                </a:lnTo>
                <a:cubicBezTo>
                  <a:pt x="168715" y="232172"/>
                  <a:pt x="160734" y="224191"/>
                  <a:pt x="160734" y="214313"/>
                </a:cubicBezTo>
                <a:cubicBezTo>
                  <a:pt x="160734" y="204434"/>
                  <a:pt x="168715" y="196453"/>
                  <a:pt x="178594" y="196453"/>
                </a:cubicBezTo>
                <a:lnTo>
                  <a:pt x="183059" y="196453"/>
                </a:lnTo>
                <a:cubicBezTo>
                  <a:pt x="200304" y="196453"/>
                  <a:pt x="214313" y="182445"/>
                  <a:pt x="214313" y="165199"/>
                </a:cubicBezTo>
                <a:lnTo>
                  <a:pt x="214313" y="160734"/>
                </a:lnTo>
                <a:lnTo>
                  <a:pt x="178594" y="160734"/>
                </a:lnTo>
                <a:cubicBezTo>
                  <a:pt x="158893" y="160734"/>
                  <a:pt x="142875" y="144717"/>
                  <a:pt x="142875" y="125016"/>
                </a:cubicBezTo>
                <a:lnTo>
                  <a:pt x="142875" y="89297"/>
                </a:lnTo>
                <a:cubicBezTo>
                  <a:pt x="142875" y="69596"/>
                  <a:pt x="158893" y="53578"/>
                  <a:pt x="178594" y="53578"/>
                </a:cubicBezTo>
                <a:lnTo>
                  <a:pt x="214313" y="53578"/>
                </a:lnTo>
                <a:cubicBezTo>
                  <a:pt x="234014" y="53578"/>
                  <a:pt x="250031" y="69596"/>
                  <a:pt x="250031" y="89297"/>
                </a:cubicBezTo>
                <a:lnTo>
                  <a:pt x="250031" y="165199"/>
                </a:lnTo>
                <a:close/>
                <a:moveTo>
                  <a:pt x="107156" y="165199"/>
                </a:moveTo>
                <a:cubicBezTo>
                  <a:pt x="107156" y="202202"/>
                  <a:pt x="77186" y="232172"/>
                  <a:pt x="40184" y="232172"/>
                </a:cubicBezTo>
                <a:lnTo>
                  <a:pt x="35719" y="232172"/>
                </a:lnTo>
                <a:cubicBezTo>
                  <a:pt x="25840" y="232172"/>
                  <a:pt x="17859" y="224191"/>
                  <a:pt x="17859" y="214313"/>
                </a:cubicBezTo>
                <a:cubicBezTo>
                  <a:pt x="17859" y="204434"/>
                  <a:pt x="25840" y="196453"/>
                  <a:pt x="35719" y="196453"/>
                </a:cubicBezTo>
                <a:lnTo>
                  <a:pt x="40184" y="196453"/>
                </a:lnTo>
                <a:cubicBezTo>
                  <a:pt x="57429" y="196453"/>
                  <a:pt x="71438" y="182445"/>
                  <a:pt x="71438" y="165199"/>
                </a:cubicBezTo>
                <a:lnTo>
                  <a:pt x="71438" y="160734"/>
                </a:lnTo>
                <a:lnTo>
                  <a:pt x="35719" y="160734"/>
                </a:lnTo>
                <a:cubicBezTo>
                  <a:pt x="16018" y="160734"/>
                  <a:pt x="0" y="144717"/>
                  <a:pt x="0" y="125016"/>
                </a:cubicBezTo>
                <a:lnTo>
                  <a:pt x="0" y="89297"/>
                </a:lnTo>
                <a:cubicBezTo>
                  <a:pt x="0" y="69596"/>
                  <a:pt x="16018" y="53578"/>
                  <a:pt x="35719" y="53578"/>
                </a:cubicBezTo>
                <a:lnTo>
                  <a:pt x="71438" y="53578"/>
                </a:lnTo>
                <a:cubicBezTo>
                  <a:pt x="91139" y="53578"/>
                  <a:pt x="107156" y="69596"/>
                  <a:pt x="107156" y="89297"/>
                </a:cubicBezTo>
                <a:lnTo>
                  <a:pt x="107156" y="165199"/>
                </a:lnTo>
                <a:close/>
              </a:path>
            </a:pathLst>
          </a:custGeom>
          <a:solidFill>
            <a:srgbClr val="319795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Distribution &amp; Paired t-Test: The Stitch Fix Case Study</dc:title>
  <dc:subject>Uniform Distribution &amp; Paired t-Test: The Stitch Fix Case Study</dc:subject>
  <dc:creator>Kimi</dc:creator>
  <cp:lastModifiedBy>Kimi</cp:lastModifiedBy>
  <cp:revision>1</cp:revision>
  <dcterms:created xsi:type="dcterms:W3CDTF">2026-02-02T07:31:26Z</dcterms:created>
  <dcterms:modified xsi:type="dcterms:W3CDTF">2026-02-02T07:31:26Z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{"Label":"Uniform Distribution &amp; Paired t-Test: The Stitch Fix Case Study","ContentProducer":"001191110108MACG2KBH8F10000","ProduceID":"19c1d421-6702-8696-8000-00008cd3932e","ReservedCode1":"","ContentPropagator":"001191110108MACG2KBH8F20000","PropagateID":"19c1d421-6702-8696-8000-00008cd3932e","ReservedCode2":""}</vt:lpwstr>
  </property>
</Properties>
</file>