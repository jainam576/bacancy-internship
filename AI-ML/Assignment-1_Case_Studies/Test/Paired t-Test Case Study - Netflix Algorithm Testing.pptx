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embeddedFontLst>
    <p:embeddedFont>
      <p:font typeface="Quattrocento Sans" charset="-122" pitchFamily="34"/>
      <p:regular r:id="rId16"/>
    </p:embeddedFont>
    <p:embeddedFont>
      <p:font typeface="Liter" charset="-122" pitchFamily="34"/>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font" Target="fonts/font1.fntdata"/><Relationship Id="rId17"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pic>
        <p:nvPicPr>
          <p:cNvPr id="2" name="Image 0" descr="https://kimi-web-img.moonshot.cn/img/images.ctfassets.net/53435d5d4417030a82f3f9da94c4209bd2ef2fd3.jpg">    </p:cNvPr>
          <p:cNvPicPr>
            <a:picLocks noChangeAspect="1"/>
          </p:cNvPicPr>
          <p:nvPr/>
        </p:nvPicPr>
        <p:blipFill>
          <a:blip r:embed="rId1">
            <a:alphaModFix amt="30000"/>
          </a:blip>
          <a:srcRect l="0" r="0" t="24" b="24"/>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111827">
                  <a:alpha val="90000"/>
                </a:srgbClr>
              </a:gs>
              <a:gs pos="50000">
                <a:srgbClr val="111827">
                  <a:alpha val="85000"/>
                </a:srgbClr>
              </a:gs>
              <a:gs pos="100000">
                <a:srgbClr val="F97316">
                  <a:alpha val="20000"/>
                </a:srgbClr>
              </a:gs>
            </a:gsLst>
            <a:lin ang="2700000" scaled="1"/>
          </a:gradFill>
          <a:ln/>
        </p:spPr>
      </p:sp>
      <p:sp>
        <p:nvSpPr>
          <p:cNvPr id="4" name="Shape 1"/>
          <p:cNvSpPr/>
          <p:nvPr/>
        </p:nvSpPr>
        <p:spPr>
          <a:xfrm>
            <a:off x="384810" y="921068"/>
            <a:ext cx="3046095" cy="388620"/>
          </a:xfrm>
          <a:custGeom>
            <a:avLst/>
            <a:gdLst/>
            <a:ahLst/>
            <a:cxnLst/>
            <a:rect l="l" t="t" r="r" b="b"/>
            <a:pathLst>
              <a:path w="3046095" h="388620">
                <a:moveTo>
                  <a:pt x="38100" y="0"/>
                </a:moveTo>
                <a:lnTo>
                  <a:pt x="3007995" y="0"/>
                </a:lnTo>
                <a:cubicBezTo>
                  <a:pt x="3029037" y="0"/>
                  <a:pt x="3046095" y="17058"/>
                  <a:pt x="3046095" y="38100"/>
                </a:cubicBezTo>
                <a:lnTo>
                  <a:pt x="3046095" y="350520"/>
                </a:lnTo>
                <a:cubicBezTo>
                  <a:pt x="3046095" y="371562"/>
                  <a:pt x="3029037" y="388620"/>
                  <a:pt x="3007995" y="388620"/>
                </a:cubicBezTo>
                <a:lnTo>
                  <a:pt x="38100" y="388620"/>
                </a:lnTo>
                <a:cubicBezTo>
                  <a:pt x="17058" y="388620"/>
                  <a:pt x="0" y="371562"/>
                  <a:pt x="0" y="350520"/>
                </a:cubicBezTo>
                <a:lnTo>
                  <a:pt x="0" y="38100"/>
                </a:lnTo>
                <a:cubicBezTo>
                  <a:pt x="0" y="17072"/>
                  <a:pt x="17072" y="0"/>
                  <a:pt x="38100" y="0"/>
                </a:cubicBezTo>
                <a:close/>
              </a:path>
            </a:pathLst>
          </a:custGeom>
          <a:solidFill>
            <a:srgbClr val="F97316">
              <a:alpha val="20000"/>
            </a:srgbClr>
          </a:solidFill>
          <a:ln w="10160">
            <a:solidFill>
              <a:srgbClr val="F97316">
                <a:alpha val="40000"/>
              </a:srgbClr>
            </a:solidFill>
            <a:prstDash val="solid"/>
          </a:ln>
        </p:spPr>
      </p:sp>
      <p:sp>
        <p:nvSpPr>
          <p:cNvPr id="5" name="Text 2"/>
          <p:cNvSpPr/>
          <p:nvPr/>
        </p:nvSpPr>
        <p:spPr>
          <a:xfrm>
            <a:off x="541020" y="1031558"/>
            <a:ext cx="2811780" cy="167640"/>
          </a:xfrm>
          <a:prstGeom prst="rect">
            <a:avLst/>
          </a:prstGeom>
          <a:noFill/>
          <a:ln/>
        </p:spPr>
        <p:txBody>
          <a:bodyPr wrap="square" lIns="0" tIns="0" rIns="0" bIns="0" rtlCol="0" anchor="ctr"/>
          <a:lstStyle/>
          <a:p>
            <a:pPr>
              <a:lnSpc>
                <a:spcPct val="130000"/>
              </a:lnSpc>
            </a:pPr>
            <a:r>
              <a:rPr lang="en-US" sz="1200" b="1" spc="60" kern="0" dirty="0">
                <a:solidFill>
                  <a:srgbClr val="F97316"/>
                </a:solidFill>
                <a:latin typeface="Quattrocento Sans" pitchFamily="34" charset="0"/>
                <a:ea typeface="Quattrocento Sans" pitchFamily="34" charset="-122"/>
                <a:cs typeface="Quattrocento Sans" pitchFamily="34" charset="-120"/>
              </a:rPr>
              <a:t>STATISTICAL METHODS CASE STUDY</a:t>
            </a:r>
            <a:endParaRPr lang="en-US" sz="1600" dirty="0"/>
          </a:p>
        </p:txBody>
      </p:sp>
      <p:sp>
        <p:nvSpPr>
          <p:cNvPr id="6" name="Text 3"/>
          <p:cNvSpPr/>
          <p:nvPr/>
        </p:nvSpPr>
        <p:spPr>
          <a:xfrm>
            <a:off x="381000" y="1542098"/>
            <a:ext cx="6858000" cy="1828800"/>
          </a:xfrm>
          <a:prstGeom prst="rect">
            <a:avLst/>
          </a:prstGeom>
          <a:noFill/>
          <a:ln/>
        </p:spPr>
        <p:txBody>
          <a:bodyPr wrap="square" lIns="0" tIns="0" rIns="0" bIns="0" rtlCol="0" anchor="ctr"/>
          <a:lstStyle/>
          <a:p>
            <a:pPr>
              <a:lnSpc>
                <a:spcPct val="80000"/>
              </a:lnSpc>
            </a:pPr>
            <a:r>
              <a:rPr lang="en-US" sz="7200" b="1" dirty="0">
                <a:solidFill>
                  <a:srgbClr val="F9FAFB"/>
                </a:solidFill>
                <a:latin typeface="Liter" pitchFamily="34" charset="0"/>
                <a:ea typeface="Liter" pitchFamily="34" charset="-122"/>
                <a:cs typeface="Liter" pitchFamily="34" charset="-120"/>
              </a:rPr>
              <a:t>Paired</a:t>
            </a:r>
            <a:endParaRPr lang="en-US" sz="1600" dirty="0"/>
          </a:p>
          <a:p>
            <a:pPr>
              <a:lnSpc>
                <a:spcPct val="80000"/>
              </a:lnSpc>
            </a:pPr>
            <a:r>
              <a:rPr lang="en-US" sz="7200" b="1" dirty="0">
                <a:solidFill>
                  <a:srgbClr val="F97316"/>
                </a:solidFill>
                <a:latin typeface="Liter" pitchFamily="34" charset="0"/>
                <a:ea typeface="Liter" pitchFamily="34" charset="-122"/>
                <a:cs typeface="Liter" pitchFamily="34" charset="-120"/>
              </a:rPr>
              <a:t>t-Test</a:t>
            </a:r>
            <a:endParaRPr lang="en-US" sz="1600" dirty="0"/>
          </a:p>
        </p:txBody>
      </p:sp>
      <p:sp>
        <p:nvSpPr>
          <p:cNvPr id="7" name="Shape 4"/>
          <p:cNvSpPr/>
          <p:nvPr/>
        </p:nvSpPr>
        <p:spPr>
          <a:xfrm>
            <a:off x="381000" y="3599497"/>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F97316"/>
          </a:solidFill>
          <a:ln/>
        </p:spPr>
      </p:sp>
      <p:sp>
        <p:nvSpPr>
          <p:cNvPr id="8" name="Text 5"/>
          <p:cNvSpPr/>
          <p:nvPr/>
        </p:nvSpPr>
        <p:spPr>
          <a:xfrm>
            <a:off x="381000" y="3866197"/>
            <a:ext cx="6572250" cy="381000"/>
          </a:xfrm>
          <a:prstGeom prst="rect">
            <a:avLst/>
          </a:prstGeom>
          <a:noFill/>
          <a:ln/>
        </p:spPr>
        <p:txBody>
          <a:bodyPr wrap="square" lIns="0" tIns="0" rIns="0" bIns="0" rtlCol="0" anchor="ctr"/>
          <a:lstStyle/>
          <a:p>
            <a:pPr>
              <a:lnSpc>
                <a:spcPct val="90000"/>
              </a:lnSpc>
            </a:pPr>
            <a:r>
              <a:rPr lang="en-US" sz="2700" dirty="0">
                <a:solidFill>
                  <a:srgbClr val="F9FAFB">
                    <a:alpha val="90000"/>
                  </a:srgbClr>
                </a:solidFill>
                <a:latin typeface="Liter" pitchFamily="34" charset="0"/>
                <a:ea typeface="Liter" pitchFamily="34" charset="-122"/>
                <a:cs typeface="Liter" pitchFamily="34" charset="-120"/>
              </a:rPr>
              <a:t>Netflix Algorithm Testing</a:t>
            </a:r>
            <a:endParaRPr lang="en-US" sz="1600" dirty="0"/>
          </a:p>
        </p:txBody>
      </p:sp>
      <p:sp>
        <p:nvSpPr>
          <p:cNvPr id="9" name="Text 6"/>
          <p:cNvSpPr/>
          <p:nvPr/>
        </p:nvSpPr>
        <p:spPr>
          <a:xfrm>
            <a:off x="381000" y="4551997"/>
            <a:ext cx="6496050" cy="619125"/>
          </a:xfrm>
          <a:prstGeom prst="rect">
            <a:avLst/>
          </a:prstGeom>
          <a:noFill/>
          <a:ln/>
        </p:spPr>
        <p:txBody>
          <a:bodyPr wrap="square" lIns="0" tIns="0" rIns="0" bIns="0" rtlCol="0" anchor="ctr"/>
          <a:lstStyle/>
          <a:p>
            <a:pPr>
              <a:lnSpc>
                <a:spcPct val="140000"/>
              </a:lnSpc>
            </a:pPr>
            <a:r>
              <a:rPr lang="en-US" sz="1500" dirty="0">
                <a:solidFill>
                  <a:srgbClr val="F9FAFB">
                    <a:alpha val="70000"/>
                  </a:srgbClr>
                </a:solidFill>
                <a:latin typeface="Quattrocento Sans" pitchFamily="34" charset="0"/>
                <a:ea typeface="Quattrocento Sans" pitchFamily="34" charset="-122"/>
                <a:cs typeface="Quattrocento Sans" pitchFamily="34" charset="-120"/>
              </a:rPr>
              <a:t>How statistical precision enabled a $330M business decision with 99.99% confidence</a:t>
            </a:r>
            <a:endParaRPr lang="en-US" sz="1600" dirty="0"/>
          </a:p>
        </p:txBody>
      </p:sp>
      <p:sp>
        <p:nvSpPr>
          <p:cNvPr id="10" name="Shape 7"/>
          <p:cNvSpPr/>
          <p:nvPr/>
        </p:nvSpPr>
        <p:spPr>
          <a:xfrm>
            <a:off x="381000" y="5711190"/>
            <a:ext cx="11430000" cy="7620"/>
          </a:xfrm>
          <a:custGeom>
            <a:avLst/>
            <a:gdLst/>
            <a:ahLst/>
            <a:cxnLst/>
            <a:rect l="l" t="t" r="r" b="b"/>
            <a:pathLst>
              <a:path w="11430000" h="7620">
                <a:moveTo>
                  <a:pt x="0" y="0"/>
                </a:moveTo>
                <a:lnTo>
                  <a:pt x="11430000" y="0"/>
                </a:lnTo>
                <a:lnTo>
                  <a:pt x="11430000" y="7620"/>
                </a:lnTo>
                <a:lnTo>
                  <a:pt x="0" y="7620"/>
                </a:lnTo>
                <a:lnTo>
                  <a:pt x="0" y="0"/>
                </a:lnTo>
                <a:close/>
              </a:path>
            </a:pathLst>
          </a:custGeom>
          <a:solidFill>
            <a:srgbClr val="F9FAFB">
              <a:alpha val="10196"/>
            </a:srgbClr>
          </a:solidFill>
          <a:ln/>
        </p:spPr>
      </p:sp>
      <p:sp>
        <p:nvSpPr>
          <p:cNvPr id="11" name="Shape 8"/>
          <p:cNvSpPr/>
          <p:nvPr/>
        </p:nvSpPr>
        <p:spPr>
          <a:xfrm>
            <a:off x="381000" y="5943600"/>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97316"/>
          </a:solidFill>
          <a:ln/>
        </p:spPr>
      </p:sp>
      <p:sp>
        <p:nvSpPr>
          <p:cNvPr id="12" name="Text 9"/>
          <p:cNvSpPr/>
          <p:nvPr/>
        </p:nvSpPr>
        <p:spPr>
          <a:xfrm>
            <a:off x="552450" y="6057900"/>
            <a:ext cx="304800" cy="304800"/>
          </a:xfrm>
          <a:prstGeom prst="rect">
            <a:avLst/>
          </a:prstGeom>
          <a:noFill/>
          <a:ln/>
        </p:spPr>
        <p:txBody>
          <a:bodyPr wrap="square" lIns="0" tIns="0" rIns="0" bIns="0" rtlCol="0" anchor="ctr"/>
          <a:lstStyle/>
          <a:p>
            <a:pPr>
              <a:lnSpc>
                <a:spcPct val="110000"/>
              </a:lnSpc>
            </a:pPr>
            <a:r>
              <a:rPr lang="en-US" sz="1800" b="1" dirty="0">
                <a:solidFill>
                  <a:srgbClr val="FFFFFF"/>
                </a:solidFill>
                <a:latin typeface="Quattrocento Sans" pitchFamily="34" charset="0"/>
                <a:ea typeface="Quattrocento Sans" pitchFamily="34" charset="-122"/>
                <a:cs typeface="Quattrocento Sans" pitchFamily="34" charset="-120"/>
              </a:rPr>
              <a:t>JS</a:t>
            </a:r>
            <a:endParaRPr lang="en-US" sz="1600" dirty="0"/>
          </a:p>
        </p:txBody>
      </p:sp>
      <p:sp>
        <p:nvSpPr>
          <p:cNvPr id="13" name="Text 10"/>
          <p:cNvSpPr/>
          <p:nvPr/>
        </p:nvSpPr>
        <p:spPr>
          <a:xfrm>
            <a:off x="1066800" y="5962650"/>
            <a:ext cx="2466975"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Quattrocento Sans" pitchFamily="34" charset="0"/>
                <a:ea typeface="Quattrocento Sans" pitchFamily="34" charset="-122"/>
                <a:cs typeface="Quattrocento Sans" pitchFamily="34" charset="-120"/>
              </a:rPr>
              <a:t>Jainam Sanghavin</a:t>
            </a:r>
            <a:endParaRPr lang="en-US" sz="1600" dirty="0"/>
          </a:p>
        </p:txBody>
      </p:sp>
      <p:sp>
        <p:nvSpPr>
          <p:cNvPr id="14" name="Text 11"/>
          <p:cNvSpPr/>
          <p:nvPr/>
        </p:nvSpPr>
        <p:spPr>
          <a:xfrm>
            <a:off x="1066800" y="6229350"/>
            <a:ext cx="2457450" cy="228600"/>
          </a:xfrm>
          <a:prstGeom prst="rect">
            <a:avLst/>
          </a:prstGeom>
          <a:noFill/>
          <a:ln/>
        </p:spPr>
        <p:txBody>
          <a:bodyPr wrap="square" lIns="0" tIns="0" rIns="0" bIns="0" rtlCol="0" anchor="ctr"/>
          <a:lstStyle/>
          <a:p>
            <a:pPr>
              <a:lnSpc>
                <a:spcPct val="130000"/>
              </a:lnSpc>
            </a:pPr>
            <a:r>
              <a:rPr lang="en-US" sz="1200" dirty="0">
                <a:solidFill>
                  <a:srgbClr val="F9FAFB">
                    <a:alpha val="60000"/>
                  </a:srgbClr>
                </a:solidFill>
                <a:latin typeface="Quattrocento Sans" pitchFamily="34" charset="0"/>
                <a:ea typeface="Quattrocento Sans" pitchFamily="34" charset="-122"/>
                <a:cs typeface="Quattrocento Sans" pitchFamily="34" charset="-120"/>
              </a:rPr>
              <a:t>Data Analytics &amp; Statistical Methods</a:t>
            </a:r>
            <a:endParaRPr lang="en-US" sz="1600" dirty="0"/>
          </a:p>
        </p:txBody>
      </p:sp>
      <p:sp>
        <p:nvSpPr>
          <p:cNvPr id="15" name="Text 12"/>
          <p:cNvSpPr/>
          <p:nvPr/>
        </p:nvSpPr>
        <p:spPr>
          <a:xfrm>
            <a:off x="10142220" y="5962650"/>
            <a:ext cx="1666875" cy="228600"/>
          </a:xfrm>
          <a:prstGeom prst="rect">
            <a:avLst/>
          </a:prstGeom>
          <a:noFill/>
          <a:ln/>
        </p:spPr>
        <p:txBody>
          <a:bodyPr wrap="square" lIns="0" tIns="0" rIns="0" bIns="0" rtlCol="0" anchor="ctr"/>
          <a:lstStyle/>
          <a:p>
            <a:pPr algn="r">
              <a:lnSpc>
                <a:spcPct val="130000"/>
              </a:lnSpc>
            </a:pPr>
            <a:r>
              <a:rPr lang="en-US" sz="1200" dirty="0">
                <a:solidFill>
                  <a:srgbClr val="F9FAFB">
                    <a:alpha val="60000"/>
                  </a:srgbClr>
                </a:solidFill>
                <a:latin typeface="Quattrocento Sans" pitchFamily="34" charset="0"/>
                <a:ea typeface="Quattrocento Sans" pitchFamily="34" charset="-122"/>
                <a:cs typeface="Quattrocento Sans" pitchFamily="34" charset="-120"/>
              </a:rPr>
              <a:t>Case Study Presentation</a:t>
            </a:r>
            <a:endParaRPr lang="en-US" sz="1600" dirty="0"/>
          </a:p>
        </p:txBody>
      </p:sp>
      <p:sp>
        <p:nvSpPr>
          <p:cNvPr id="16" name="Text 13"/>
          <p:cNvSpPr/>
          <p:nvPr/>
        </p:nvSpPr>
        <p:spPr>
          <a:xfrm>
            <a:off x="10132695" y="6191250"/>
            <a:ext cx="1676400" cy="266700"/>
          </a:xfrm>
          <a:prstGeom prst="rect">
            <a:avLst/>
          </a:prstGeom>
          <a:noFill/>
          <a:ln/>
        </p:spPr>
        <p:txBody>
          <a:bodyPr wrap="square" lIns="0" tIns="0" rIns="0" bIns="0" rtlCol="0" anchor="ctr"/>
          <a:lstStyle/>
          <a:p>
            <a:pPr algn="r">
              <a:lnSpc>
                <a:spcPct val="130000"/>
              </a:lnSpc>
            </a:pPr>
            <a:r>
              <a:rPr lang="en-US" sz="1350" b="1" dirty="0">
                <a:solidFill>
                  <a:srgbClr val="F9FAFB"/>
                </a:solidFill>
                <a:latin typeface="Quattrocento Sans" pitchFamily="34" charset="0"/>
                <a:ea typeface="Quattrocento Sans" pitchFamily="34" charset="-122"/>
                <a:cs typeface="Quattrocento Sans" pitchFamily="34" charset="-120"/>
              </a:rPr>
              <a:t>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53" kern="0" dirty="0">
                <a:solidFill>
                  <a:srgbClr val="F97316"/>
                </a:solidFill>
                <a:latin typeface="Quattrocento Sans" pitchFamily="34" charset="0"/>
                <a:ea typeface="Quattrocento Sans" pitchFamily="34" charset="-122"/>
                <a:cs typeface="Quattrocento Sans" pitchFamily="34" charset="-120"/>
              </a:rPr>
              <a:t>FOUNDATION</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9FAFB"/>
                </a:solidFill>
                <a:latin typeface="Liter" pitchFamily="34" charset="0"/>
                <a:ea typeface="Liter" pitchFamily="34" charset="-122"/>
                <a:cs typeface="Liter" pitchFamily="34" charset="-120"/>
              </a:rPr>
              <a:t>What is Paired t-Test?</a:t>
            </a:r>
            <a:endParaRPr lang="en-US" sz="1600" dirty="0"/>
          </a:p>
        </p:txBody>
      </p:sp>
      <p:sp>
        <p:nvSpPr>
          <p:cNvPr id="4" name="Shape 2"/>
          <p:cNvSpPr/>
          <p:nvPr/>
        </p:nvSpPr>
        <p:spPr>
          <a:xfrm>
            <a:off x="400050" y="1333500"/>
            <a:ext cx="5543550" cy="2381250"/>
          </a:xfrm>
          <a:custGeom>
            <a:avLst/>
            <a:gdLst/>
            <a:ahLst/>
            <a:cxnLst/>
            <a:rect l="l" t="t" r="r" b="b"/>
            <a:pathLst>
              <a:path w="5543550" h="2381250">
                <a:moveTo>
                  <a:pt x="38100" y="0"/>
                </a:moveTo>
                <a:lnTo>
                  <a:pt x="5467350" y="0"/>
                </a:lnTo>
                <a:cubicBezTo>
                  <a:pt x="5509406" y="0"/>
                  <a:pt x="5543550" y="34144"/>
                  <a:pt x="5543550" y="76200"/>
                </a:cubicBezTo>
                <a:lnTo>
                  <a:pt x="5543550" y="2305050"/>
                </a:lnTo>
                <a:cubicBezTo>
                  <a:pt x="5543550" y="2347106"/>
                  <a:pt x="5509406" y="2381250"/>
                  <a:pt x="5467350" y="2381250"/>
                </a:cubicBezTo>
                <a:lnTo>
                  <a:pt x="38100" y="2381250"/>
                </a:lnTo>
                <a:cubicBezTo>
                  <a:pt x="17072" y="2381250"/>
                  <a:pt x="0" y="2364178"/>
                  <a:pt x="0" y="2343150"/>
                </a:cubicBezTo>
                <a:lnTo>
                  <a:pt x="0" y="38100"/>
                </a:lnTo>
                <a:cubicBezTo>
                  <a:pt x="0" y="17072"/>
                  <a:pt x="17072" y="0"/>
                  <a:pt x="38100" y="0"/>
                </a:cubicBezTo>
                <a:close/>
              </a:path>
            </a:pathLst>
          </a:custGeom>
          <a:solidFill>
            <a:srgbClr val="374151"/>
          </a:solidFill>
          <a:ln/>
        </p:spPr>
      </p:sp>
      <p:sp>
        <p:nvSpPr>
          <p:cNvPr id="5" name="Shape 3"/>
          <p:cNvSpPr/>
          <p:nvPr/>
        </p:nvSpPr>
        <p:spPr>
          <a:xfrm>
            <a:off x="400050" y="1333500"/>
            <a:ext cx="38100" cy="2381250"/>
          </a:xfrm>
          <a:custGeom>
            <a:avLst/>
            <a:gdLst/>
            <a:ahLst/>
            <a:cxnLst/>
            <a:rect l="l" t="t" r="r" b="b"/>
            <a:pathLst>
              <a:path w="38100" h="2381250">
                <a:moveTo>
                  <a:pt x="38100" y="0"/>
                </a:moveTo>
                <a:lnTo>
                  <a:pt x="38100" y="0"/>
                </a:lnTo>
                <a:lnTo>
                  <a:pt x="38100" y="2381250"/>
                </a:lnTo>
                <a:lnTo>
                  <a:pt x="38100" y="2381250"/>
                </a:lnTo>
                <a:cubicBezTo>
                  <a:pt x="17072" y="2381250"/>
                  <a:pt x="0" y="2364178"/>
                  <a:pt x="0" y="2343150"/>
                </a:cubicBezTo>
                <a:lnTo>
                  <a:pt x="0" y="38100"/>
                </a:lnTo>
                <a:cubicBezTo>
                  <a:pt x="0" y="17072"/>
                  <a:pt x="17072" y="0"/>
                  <a:pt x="38100" y="0"/>
                </a:cubicBezTo>
                <a:close/>
              </a:path>
            </a:pathLst>
          </a:custGeom>
          <a:solidFill>
            <a:srgbClr val="F97316"/>
          </a:solidFill>
          <a:ln/>
        </p:spPr>
      </p:sp>
      <p:sp>
        <p:nvSpPr>
          <p:cNvPr id="6" name="Shape 4"/>
          <p:cNvSpPr/>
          <p:nvPr/>
        </p:nvSpPr>
        <p:spPr>
          <a:xfrm>
            <a:off x="676275" y="1600081"/>
            <a:ext cx="228600" cy="228600"/>
          </a:xfrm>
          <a:custGeom>
            <a:avLst/>
            <a:gdLst/>
            <a:ahLst/>
            <a:cxnLst/>
            <a:rect l="l" t="t" r="r" b="b"/>
            <a:pathLst>
              <a:path w="228600" h="228600">
                <a:moveTo>
                  <a:pt x="28575" y="28575"/>
                </a:moveTo>
                <a:cubicBezTo>
                  <a:pt x="28575" y="20672"/>
                  <a:pt x="22190" y="14288"/>
                  <a:pt x="14288" y="14288"/>
                </a:cubicBezTo>
                <a:cubicBezTo>
                  <a:pt x="6385" y="14288"/>
                  <a:pt x="0" y="20672"/>
                  <a:pt x="0" y="28575"/>
                </a:cubicBezTo>
                <a:lnTo>
                  <a:pt x="0" y="178594"/>
                </a:lnTo>
                <a:cubicBezTo>
                  <a:pt x="0" y="198328"/>
                  <a:pt x="15984" y="214313"/>
                  <a:pt x="35719" y="214313"/>
                </a:cubicBezTo>
                <a:lnTo>
                  <a:pt x="214313" y="214313"/>
                </a:lnTo>
                <a:cubicBezTo>
                  <a:pt x="222215" y="214313"/>
                  <a:pt x="228600" y="207928"/>
                  <a:pt x="228600" y="200025"/>
                </a:cubicBezTo>
                <a:cubicBezTo>
                  <a:pt x="228600" y="192122"/>
                  <a:pt x="222215" y="185738"/>
                  <a:pt x="214313" y="185738"/>
                </a:cubicBezTo>
                <a:lnTo>
                  <a:pt x="35719" y="185738"/>
                </a:lnTo>
                <a:cubicBezTo>
                  <a:pt x="31790" y="185738"/>
                  <a:pt x="28575" y="182523"/>
                  <a:pt x="28575" y="178594"/>
                </a:cubicBezTo>
                <a:lnTo>
                  <a:pt x="28575" y="28575"/>
                </a:lnTo>
                <a:close/>
                <a:moveTo>
                  <a:pt x="210116" y="67241"/>
                </a:moveTo>
                <a:cubicBezTo>
                  <a:pt x="215697" y="61659"/>
                  <a:pt x="215697" y="52596"/>
                  <a:pt x="210116" y="47015"/>
                </a:cubicBezTo>
                <a:cubicBezTo>
                  <a:pt x="204534" y="41434"/>
                  <a:pt x="195471" y="41434"/>
                  <a:pt x="189890" y="47015"/>
                </a:cubicBezTo>
                <a:lnTo>
                  <a:pt x="142875" y="94074"/>
                </a:lnTo>
                <a:lnTo>
                  <a:pt x="117247" y="68491"/>
                </a:lnTo>
                <a:cubicBezTo>
                  <a:pt x="111666" y="62910"/>
                  <a:pt x="102602" y="62910"/>
                  <a:pt x="97021" y="68491"/>
                </a:cubicBezTo>
                <a:lnTo>
                  <a:pt x="54159" y="111353"/>
                </a:lnTo>
                <a:cubicBezTo>
                  <a:pt x="48578" y="116934"/>
                  <a:pt x="48578" y="125998"/>
                  <a:pt x="54159" y="131579"/>
                </a:cubicBezTo>
                <a:cubicBezTo>
                  <a:pt x="59740" y="137160"/>
                  <a:pt x="68803" y="137160"/>
                  <a:pt x="74384" y="131579"/>
                </a:cubicBezTo>
                <a:lnTo>
                  <a:pt x="107156" y="98807"/>
                </a:lnTo>
                <a:lnTo>
                  <a:pt x="132784" y="124435"/>
                </a:lnTo>
                <a:cubicBezTo>
                  <a:pt x="138366" y="130016"/>
                  <a:pt x="147429" y="130016"/>
                  <a:pt x="153010" y="124435"/>
                </a:cubicBezTo>
                <a:lnTo>
                  <a:pt x="210160" y="67285"/>
                </a:lnTo>
                <a:close/>
              </a:path>
            </a:pathLst>
          </a:custGeom>
          <a:solidFill>
            <a:srgbClr val="F97316"/>
          </a:solidFill>
          <a:ln/>
        </p:spPr>
      </p:sp>
      <p:sp>
        <p:nvSpPr>
          <p:cNvPr id="7" name="Text 5"/>
          <p:cNvSpPr/>
          <p:nvPr/>
        </p:nvSpPr>
        <p:spPr>
          <a:xfrm>
            <a:off x="933450" y="1562100"/>
            <a:ext cx="4895850"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Liter" pitchFamily="34" charset="0"/>
                <a:ea typeface="Liter" pitchFamily="34" charset="-122"/>
                <a:cs typeface="Liter" pitchFamily="34" charset="-120"/>
              </a:rPr>
              <a:t>Core Definition</a:t>
            </a:r>
            <a:endParaRPr lang="en-US" sz="1600" dirty="0"/>
          </a:p>
        </p:txBody>
      </p:sp>
      <p:sp>
        <p:nvSpPr>
          <p:cNvPr id="8" name="Text 6"/>
          <p:cNvSpPr/>
          <p:nvPr/>
        </p:nvSpPr>
        <p:spPr>
          <a:xfrm>
            <a:off x="647700" y="2019181"/>
            <a:ext cx="5153025" cy="561975"/>
          </a:xfrm>
          <a:prstGeom prst="rect">
            <a:avLst/>
          </a:prstGeom>
          <a:noFill/>
          <a:ln/>
        </p:spPr>
        <p:txBody>
          <a:bodyPr wrap="square" lIns="0" tIns="0" rIns="0" bIns="0" rtlCol="0" anchor="ctr"/>
          <a:lstStyle/>
          <a:p>
            <a:pPr>
              <a:lnSpc>
                <a:spcPct val="140000"/>
              </a:lnSpc>
            </a:pPr>
            <a:r>
              <a:rPr lang="en-US" sz="1350" dirty="0">
                <a:solidFill>
                  <a:srgbClr val="F9FAFB">
                    <a:alpha val="90000"/>
                  </a:srgbClr>
                </a:solidFill>
                <a:latin typeface="Quattrocento Sans" pitchFamily="34" charset="0"/>
                <a:ea typeface="Quattrocento Sans" pitchFamily="34" charset="-122"/>
                <a:cs typeface="Quattrocento Sans" pitchFamily="34" charset="-120"/>
              </a:rPr>
              <a:t>A </a:t>
            </a:r>
            <a:pPr>
              <a:lnSpc>
                <a:spcPct val="140000"/>
              </a:lnSpc>
            </a:pPr>
            <a:r>
              <a:rPr lang="en-US" sz="1350" b="1" dirty="0">
                <a:solidFill>
                  <a:srgbClr val="F97316"/>
                </a:solidFill>
                <a:latin typeface="Quattrocento Sans" pitchFamily="34" charset="0"/>
                <a:ea typeface="Quattrocento Sans" pitchFamily="34" charset="-122"/>
                <a:cs typeface="Quattrocento Sans" pitchFamily="34" charset="-120"/>
              </a:rPr>
              <a:t>paired t-test</a:t>
            </a:r>
            <a:pPr>
              <a:lnSpc>
                <a:spcPct val="140000"/>
              </a:lnSpc>
            </a:pPr>
            <a:r>
              <a:rPr lang="en-US" sz="1350" dirty="0">
                <a:solidFill>
                  <a:srgbClr val="F9FAFB">
                    <a:alpha val="90000"/>
                  </a:srgbClr>
                </a:solidFill>
                <a:latin typeface="Quattrocento Sans" pitchFamily="34" charset="0"/>
                <a:ea typeface="Quattrocento Sans" pitchFamily="34" charset="-122"/>
                <a:cs typeface="Quattrocento Sans" pitchFamily="34" charset="-120"/>
              </a:rPr>
              <a:t> compares </a:t>
            </a:r>
            <a:pPr>
              <a:lnSpc>
                <a:spcPct val="140000"/>
              </a:lnSpc>
            </a:pPr>
            <a:r>
              <a:rPr lang="en-US" sz="1350" b="1" dirty="0">
                <a:solidFill>
                  <a:srgbClr val="F9FAFB">
                    <a:alpha val="90000"/>
                  </a:srgbClr>
                </a:solidFill>
                <a:latin typeface="Quattrocento Sans" pitchFamily="34" charset="0"/>
                <a:ea typeface="Quattrocento Sans" pitchFamily="34" charset="-122"/>
                <a:cs typeface="Quattrocento Sans" pitchFamily="34" charset="-120"/>
              </a:rPr>
              <a:t>two measurements from the same group</a:t>
            </a:r>
            <a:pPr>
              <a:lnSpc>
                <a:spcPct val="140000"/>
              </a:lnSpc>
            </a:pPr>
            <a:r>
              <a:rPr lang="en-US" sz="1350" dirty="0">
                <a:solidFill>
                  <a:srgbClr val="F9FAFB">
                    <a:alpha val="90000"/>
                  </a:srgbClr>
                </a:solidFill>
                <a:latin typeface="Quattrocento Sans" pitchFamily="34" charset="0"/>
                <a:ea typeface="Quattrocento Sans" pitchFamily="34" charset="-122"/>
                <a:cs typeface="Quattrocento Sans" pitchFamily="34" charset="-120"/>
              </a:rPr>
              <a:t> to determine if the observed difference is statistically significant.</a:t>
            </a:r>
            <a:endParaRPr lang="en-US" sz="1600" dirty="0"/>
          </a:p>
        </p:txBody>
      </p:sp>
      <p:sp>
        <p:nvSpPr>
          <p:cNvPr id="9" name="Shape 7"/>
          <p:cNvSpPr/>
          <p:nvPr/>
        </p:nvSpPr>
        <p:spPr>
          <a:xfrm>
            <a:off x="647700" y="2728794"/>
            <a:ext cx="5067300" cy="762000"/>
          </a:xfrm>
          <a:custGeom>
            <a:avLst/>
            <a:gdLst/>
            <a:ahLst/>
            <a:cxnLst/>
            <a:rect l="l" t="t" r="r" b="b"/>
            <a:pathLst>
              <a:path w="5067300" h="762000">
                <a:moveTo>
                  <a:pt x="38100" y="0"/>
                </a:moveTo>
                <a:lnTo>
                  <a:pt x="5029200" y="0"/>
                </a:lnTo>
                <a:cubicBezTo>
                  <a:pt x="5050228" y="0"/>
                  <a:pt x="5067300" y="17072"/>
                  <a:pt x="5067300" y="38100"/>
                </a:cubicBezTo>
                <a:lnTo>
                  <a:pt x="5067300" y="723900"/>
                </a:lnTo>
                <a:cubicBezTo>
                  <a:pt x="5067300" y="744928"/>
                  <a:pt x="5050228" y="762000"/>
                  <a:pt x="5029200" y="762000"/>
                </a:cubicBezTo>
                <a:lnTo>
                  <a:pt x="38100" y="762000"/>
                </a:lnTo>
                <a:cubicBezTo>
                  <a:pt x="17072" y="762000"/>
                  <a:pt x="0" y="744928"/>
                  <a:pt x="0" y="723900"/>
                </a:cubicBezTo>
                <a:lnTo>
                  <a:pt x="0" y="38100"/>
                </a:lnTo>
                <a:cubicBezTo>
                  <a:pt x="0" y="17072"/>
                  <a:pt x="17072" y="0"/>
                  <a:pt x="38100" y="0"/>
                </a:cubicBezTo>
                <a:close/>
              </a:path>
            </a:pathLst>
          </a:custGeom>
          <a:solidFill>
            <a:srgbClr val="111827"/>
          </a:solidFill>
          <a:ln/>
        </p:spPr>
      </p:sp>
      <p:sp>
        <p:nvSpPr>
          <p:cNvPr id="10" name="Text 8"/>
          <p:cNvSpPr/>
          <p:nvPr/>
        </p:nvSpPr>
        <p:spPr>
          <a:xfrm>
            <a:off x="800100" y="2881194"/>
            <a:ext cx="4838700" cy="4572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"Each subject serves as their own control, eliminating between-subject variability and dramatically increasing statistical power."</a:t>
            </a:r>
            <a:endParaRPr lang="en-US" sz="1600" dirty="0"/>
          </a:p>
        </p:txBody>
      </p:sp>
      <p:sp>
        <p:nvSpPr>
          <p:cNvPr id="11" name="Shape 9"/>
          <p:cNvSpPr/>
          <p:nvPr/>
        </p:nvSpPr>
        <p:spPr>
          <a:xfrm>
            <a:off x="384810" y="3951804"/>
            <a:ext cx="5551170" cy="1912620"/>
          </a:xfrm>
          <a:custGeom>
            <a:avLst/>
            <a:gdLst/>
            <a:ahLst/>
            <a:cxnLst/>
            <a:rect l="l" t="t" r="r" b="b"/>
            <a:pathLst>
              <a:path w="5551170" h="1912620">
                <a:moveTo>
                  <a:pt x="76199" y="0"/>
                </a:moveTo>
                <a:lnTo>
                  <a:pt x="5474971" y="0"/>
                </a:lnTo>
                <a:cubicBezTo>
                  <a:pt x="5517055" y="0"/>
                  <a:pt x="5551170" y="34115"/>
                  <a:pt x="5551170" y="76199"/>
                </a:cubicBezTo>
                <a:lnTo>
                  <a:pt x="5551170" y="1836421"/>
                </a:lnTo>
                <a:cubicBezTo>
                  <a:pt x="5551170" y="1878505"/>
                  <a:pt x="5517055" y="1912620"/>
                  <a:pt x="5474971" y="1912620"/>
                </a:cubicBezTo>
                <a:lnTo>
                  <a:pt x="76199" y="1912620"/>
                </a:lnTo>
                <a:cubicBezTo>
                  <a:pt x="34115" y="1912620"/>
                  <a:pt x="0" y="1878505"/>
                  <a:pt x="0" y="1836421"/>
                </a:cubicBezTo>
                <a:lnTo>
                  <a:pt x="0" y="76199"/>
                </a:lnTo>
                <a:cubicBezTo>
                  <a:pt x="0" y="34144"/>
                  <a:pt x="34144" y="0"/>
                  <a:pt x="76199" y="0"/>
                </a:cubicBezTo>
                <a:close/>
              </a:path>
            </a:pathLst>
          </a:custGeom>
          <a:solidFill>
            <a:srgbClr val="374151">
              <a:alpha val="50196"/>
            </a:srgbClr>
          </a:solidFill>
          <a:ln w="10160">
            <a:solidFill>
              <a:srgbClr val="4B5563"/>
            </a:solidFill>
            <a:prstDash val="solid"/>
          </a:ln>
        </p:spPr>
      </p:sp>
      <p:sp>
        <p:nvSpPr>
          <p:cNvPr id="12" name="Shape 10"/>
          <p:cNvSpPr/>
          <p:nvPr/>
        </p:nvSpPr>
        <p:spPr>
          <a:xfrm>
            <a:off x="652939" y="4222313"/>
            <a:ext cx="166688" cy="190500"/>
          </a:xfrm>
          <a:custGeom>
            <a:avLst/>
            <a:gdLst/>
            <a:ahLst/>
            <a:cxnLst/>
            <a:rect l="l" t="t" r="r" b="b"/>
            <a:pathLst>
              <a:path w="166688" h="190500">
                <a:moveTo>
                  <a:pt x="126057" y="-3683"/>
                </a:moveTo>
                <a:cubicBezTo>
                  <a:pt x="130485" y="-484"/>
                  <a:pt x="132122" y="5321"/>
                  <a:pt x="130113" y="10381"/>
                </a:cubicBezTo>
                <a:lnTo>
                  <a:pt x="100943" y="83344"/>
                </a:lnTo>
                <a:lnTo>
                  <a:pt x="154781" y="83344"/>
                </a:lnTo>
                <a:cubicBezTo>
                  <a:pt x="159804" y="83344"/>
                  <a:pt x="164269" y="86469"/>
                  <a:pt x="165981" y="91194"/>
                </a:cubicBezTo>
                <a:cubicBezTo>
                  <a:pt x="167692" y="95920"/>
                  <a:pt x="166241" y="101203"/>
                  <a:pt x="162409" y="104403"/>
                </a:cubicBezTo>
                <a:lnTo>
                  <a:pt x="55252" y="193700"/>
                </a:lnTo>
                <a:cubicBezTo>
                  <a:pt x="51048" y="197197"/>
                  <a:pt x="45058" y="197383"/>
                  <a:pt x="40630" y="194183"/>
                </a:cubicBezTo>
                <a:cubicBezTo>
                  <a:pt x="36202" y="190984"/>
                  <a:pt x="34565" y="185179"/>
                  <a:pt x="36575" y="180119"/>
                </a:cubicBezTo>
                <a:lnTo>
                  <a:pt x="65745" y="107156"/>
                </a:lnTo>
                <a:lnTo>
                  <a:pt x="11906" y="107156"/>
                </a:lnTo>
                <a:cubicBezTo>
                  <a:pt x="6883" y="107156"/>
                  <a:pt x="2418" y="104031"/>
                  <a:pt x="707" y="99306"/>
                </a:cubicBezTo>
                <a:cubicBezTo>
                  <a:pt x="-1005" y="94580"/>
                  <a:pt x="446" y="89297"/>
                  <a:pt x="4279" y="86097"/>
                </a:cubicBezTo>
                <a:lnTo>
                  <a:pt x="111435" y="-3200"/>
                </a:lnTo>
                <a:cubicBezTo>
                  <a:pt x="115639" y="-6697"/>
                  <a:pt x="121630" y="-6883"/>
                  <a:pt x="126057" y="-3683"/>
                </a:cubicBezTo>
                <a:close/>
              </a:path>
            </a:pathLst>
          </a:custGeom>
          <a:solidFill>
            <a:srgbClr val="F97316"/>
          </a:solidFill>
          <a:ln/>
        </p:spPr>
      </p:sp>
      <p:sp>
        <p:nvSpPr>
          <p:cNvPr id="13" name="Text 11"/>
          <p:cNvSpPr/>
          <p:nvPr/>
        </p:nvSpPr>
        <p:spPr>
          <a:xfrm>
            <a:off x="855345" y="4184213"/>
            <a:ext cx="4943475" cy="266700"/>
          </a:xfrm>
          <a:prstGeom prst="rect">
            <a:avLst/>
          </a:prstGeom>
          <a:noFill/>
          <a:ln/>
        </p:spPr>
        <p:txBody>
          <a:bodyPr wrap="square" lIns="0" tIns="0" rIns="0" bIns="0" rtlCol="0" anchor="ctr"/>
          <a:lstStyle/>
          <a:p>
            <a:pPr>
              <a:lnSpc>
                <a:spcPct val="120000"/>
              </a:lnSpc>
            </a:pPr>
            <a:r>
              <a:rPr lang="en-US" sz="1500" b="1" dirty="0">
                <a:solidFill>
                  <a:srgbClr val="F97316"/>
                </a:solidFill>
                <a:latin typeface="Liter" pitchFamily="34" charset="0"/>
                <a:ea typeface="Liter" pitchFamily="34" charset="-122"/>
                <a:cs typeface="Liter" pitchFamily="34" charset="-120"/>
              </a:rPr>
              <a:t>Key Benefit</a:t>
            </a:r>
            <a:endParaRPr lang="en-US" sz="1600" dirty="0"/>
          </a:p>
        </p:txBody>
      </p:sp>
      <p:sp>
        <p:nvSpPr>
          <p:cNvPr id="14" name="Shape 12"/>
          <p:cNvSpPr/>
          <p:nvPr/>
        </p:nvSpPr>
        <p:spPr>
          <a:xfrm>
            <a:off x="617220" y="4603313"/>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97316">
              <a:alpha val="20000"/>
            </a:srgbClr>
          </a:solidFill>
          <a:ln/>
        </p:spPr>
      </p:sp>
      <p:sp>
        <p:nvSpPr>
          <p:cNvPr id="15" name="Shape 13"/>
          <p:cNvSpPr/>
          <p:nvPr/>
        </p:nvSpPr>
        <p:spPr>
          <a:xfrm>
            <a:off x="762476" y="4736663"/>
            <a:ext cx="166688" cy="190500"/>
          </a:xfrm>
          <a:custGeom>
            <a:avLst/>
            <a:gdLst/>
            <a:ahLst/>
            <a:cxnLst/>
            <a:rect l="l" t="t" r="r" b="b"/>
            <a:pathLst>
              <a:path w="166688" h="190500">
                <a:moveTo>
                  <a:pt x="161776" y="26082"/>
                </a:moveTo>
                <a:cubicBezTo>
                  <a:pt x="167097" y="29952"/>
                  <a:pt x="168287" y="37393"/>
                  <a:pt x="164418" y="42714"/>
                </a:cubicBezTo>
                <a:lnTo>
                  <a:pt x="69168" y="173682"/>
                </a:lnTo>
                <a:cubicBezTo>
                  <a:pt x="67121" y="176510"/>
                  <a:pt x="63959" y="178259"/>
                  <a:pt x="60461" y="178557"/>
                </a:cubicBezTo>
                <a:cubicBezTo>
                  <a:pt x="56964" y="178854"/>
                  <a:pt x="53578" y="177552"/>
                  <a:pt x="51122" y="175096"/>
                </a:cubicBezTo>
                <a:lnTo>
                  <a:pt x="3497" y="127471"/>
                </a:lnTo>
                <a:cubicBezTo>
                  <a:pt x="-1153" y="122820"/>
                  <a:pt x="-1153" y="115267"/>
                  <a:pt x="3497" y="110617"/>
                </a:cubicBezTo>
                <a:cubicBezTo>
                  <a:pt x="8148" y="105966"/>
                  <a:pt x="15701" y="105966"/>
                  <a:pt x="20352" y="110617"/>
                </a:cubicBezTo>
                <a:lnTo>
                  <a:pt x="58117" y="148382"/>
                </a:lnTo>
                <a:lnTo>
                  <a:pt x="145182" y="28687"/>
                </a:lnTo>
                <a:cubicBezTo>
                  <a:pt x="149051" y="23366"/>
                  <a:pt x="156493" y="22175"/>
                  <a:pt x="161813" y="26045"/>
                </a:cubicBezTo>
                <a:close/>
              </a:path>
            </a:pathLst>
          </a:custGeom>
          <a:solidFill>
            <a:srgbClr val="F97316"/>
          </a:solidFill>
          <a:ln/>
        </p:spPr>
      </p:sp>
      <p:sp>
        <p:nvSpPr>
          <p:cNvPr id="16" name="Text 14"/>
          <p:cNvSpPr/>
          <p:nvPr/>
        </p:nvSpPr>
        <p:spPr>
          <a:xfrm>
            <a:off x="1226820" y="4603313"/>
            <a:ext cx="4562475"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Quattrocento Sans" pitchFamily="34" charset="0"/>
                <a:ea typeface="Quattrocento Sans" pitchFamily="34" charset="-122"/>
                <a:cs typeface="Quattrocento Sans" pitchFamily="34" charset="-120"/>
              </a:rPr>
              <a:t>Higher Statistical Power</a:t>
            </a:r>
            <a:endParaRPr lang="en-US" sz="1600" dirty="0"/>
          </a:p>
        </p:txBody>
      </p:sp>
      <p:sp>
        <p:nvSpPr>
          <p:cNvPr id="17" name="Text 15"/>
          <p:cNvSpPr/>
          <p:nvPr/>
        </p:nvSpPr>
        <p:spPr>
          <a:xfrm>
            <a:off x="1226820" y="4946213"/>
            <a:ext cx="4552950" cy="6858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By using each subject as their own control, we eliminate individual differences that would otherwise mask the true effect, requiring </a:t>
            </a:r>
            <a:pPr>
              <a:lnSpc>
                <a:spcPct val="130000"/>
              </a:lnSpc>
            </a:pPr>
            <a:r>
              <a:rPr lang="en-US" sz="1200" b="1" dirty="0">
                <a:solidFill>
                  <a:srgbClr val="F97316"/>
                </a:solidFill>
                <a:latin typeface="Quattrocento Sans" pitchFamily="34" charset="0"/>
                <a:ea typeface="Quattrocento Sans" pitchFamily="34" charset="-122"/>
                <a:cs typeface="Quattrocento Sans" pitchFamily="34" charset="-120"/>
              </a:rPr>
              <a:t>smaller sample sizes</a:t>
            </a:r>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 to detect meaningful changes.</a:t>
            </a:r>
            <a:endParaRPr lang="en-US" sz="1600" dirty="0"/>
          </a:p>
        </p:txBody>
      </p:sp>
      <p:sp>
        <p:nvSpPr>
          <p:cNvPr id="18" name="Shape 16"/>
          <p:cNvSpPr/>
          <p:nvPr/>
        </p:nvSpPr>
        <p:spPr>
          <a:xfrm>
            <a:off x="6305550" y="1371481"/>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F97316"/>
          </a:solidFill>
          <a:ln/>
        </p:spPr>
      </p:sp>
      <p:sp>
        <p:nvSpPr>
          <p:cNvPr id="19" name="Text 17"/>
          <p:cNvSpPr/>
          <p:nvPr/>
        </p:nvSpPr>
        <p:spPr>
          <a:xfrm>
            <a:off x="6534150" y="1333500"/>
            <a:ext cx="5391150"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Liter" pitchFamily="34" charset="0"/>
                <a:ea typeface="Liter" pitchFamily="34" charset="-122"/>
                <a:cs typeface="Liter" pitchFamily="34" charset="-120"/>
              </a:rPr>
              <a:t>Real-Life Applications</a:t>
            </a:r>
            <a:endParaRPr lang="en-US" sz="1600" dirty="0"/>
          </a:p>
        </p:txBody>
      </p:sp>
      <p:sp>
        <p:nvSpPr>
          <p:cNvPr id="20" name="Shape 18"/>
          <p:cNvSpPr/>
          <p:nvPr/>
        </p:nvSpPr>
        <p:spPr>
          <a:xfrm>
            <a:off x="6248400" y="1790581"/>
            <a:ext cx="5562600" cy="990600"/>
          </a:xfrm>
          <a:custGeom>
            <a:avLst/>
            <a:gdLst/>
            <a:ahLst/>
            <a:cxnLst/>
            <a:rect l="l" t="t" r="r" b="b"/>
            <a:pathLst>
              <a:path w="5562600" h="990600">
                <a:moveTo>
                  <a:pt x="76197" y="0"/>
                </a:moveTo>
                <a:lnTo>
                  <a:pt x="5486403" y="0"/>
                </a:lnTo>
                <a:cubicBezTo>
                  <a:pt x="5528485" y="0"/>
                  <a:pt x="5562600" y="34115"/>
                  <a:pt x="5562600" y="76197"/>
                </a:cubicBezTo>
                <a:lnTo>
                  <a:pt x="5562600" y="914403"/>
                </a:lnTo>
                <a:cubicBezTo>
                  <a:pt x="5562600" y="956485"/>
                  <a:pt x="5528485" y="990600"/>
                  <a:pt x="5486403" y="990600"/>
                </a:cubicBezTo>
                <a:lnTo>
                  <a:pt x="76197" y="990600"/>
                </a:lnTo>
                <a:cubicBezTo>
                  <a:pt x="34115" y="990600"/>
                  <a:pt x="0" y="956485"/>
                  <a:pt x="0" y="914403"/>
                </a:cubicBezTo>
                <a:lnTo>
                  <a:pt x="0" y="76197"/>
                </a:lnTo>
                <a:cubicBezTo>
                  <a:pt x="0" y="34143"/>
                  <a:pt x="34143" y="0"/>
                  <a:pt x="76197" y="0"/>
                </a:cubicBezTo>
                <a:close/>
              </a:path>
            </a:pathLst>
          </a:custGeom>
          <a:solidFill>
            <a:srgbClr val="374151"/>
          </a:solidFill>
          <a:ln/>
        </p:spPr>
      </p:sp>
      <p:sp>
        <p:nvSpPr>
          <p:cNvPr id="21" name="Shape 19"/>
          <p:cNvSpPr/>
          <p:nvPr/>
        </p:nvSpPr>
        <p:spPr>
          <a:xfrm>
            <a:off x="6438900" y="1981081"/>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F97316">
              <a:alpha val="20000"/>
            </a:srgbClr>
          </a:solidFill>
          <a:ln/>
        </p:spPr>
      </p:sp>
      <p:sp>
        <p:nvSpPr>
          <p:cNvPr id="22" name="Shape 20"/>
          <p:cNvSpPr/>
          <p:nvPr/>
        </p:nvSpPr>
        <p:spPr>
          <a:xfrm>
            <a:off x="6643688" y="2171581"/>
            <a:ext cx="200025" cy="228600"/>
          </a:xfrm>
          <a:custGeom>
            <a:avLst/>
            <a:gdLst/>
            <a:ahLst/>
            <a:cxnLst/>
            <a:rect l="l" t="t" r="r" b="b"/>
            <a:pathLst>
              <a:path w="200025" h="228600">
                <a:moveTo>
                  <a:pt x="52060" y="85725"/>
                </a:moveTo>
                <a:cubicBezTo>
                  <a:pt x="50721" y="81216"/>
                  <a:pt x="50006" y="76393"/>
                  <a:pt x="50006" y="71438"/>
                </a:cubicBezTo>
                <a:cubicBezTo>
                  <a:pt x="50006" y="43800"/>
                  <a:pt x="72375" y="21431"/>
                  <a:pt x="100013" y="21431"/>
                </a:cubicBezTo>
                <a:cubicBezTo>
                  <a:pt x="127650" y="21431"/>
                  <a:pt x="150019" y="43800"/>
                  <a:pt x="150019" y="71438"/>
                </a:cubicBezTo>
                <a:cubicBezTo>
                  <a:pt x="150019" y="76393"/>
                  <a:pt x="149304" y="81216"/>
                  <a:pt x="147965" y="85725"/>
                </a:cubicBezTo>
                <a:lnTo>
                  <a:pt x="116265" y="85725"/>
                </a:lnTo>
                <a:lnTo>
                  <a:pt x="127248" y="65946"/>
                </a:lnTo>
                <a:cubicBezTo>
                  <a:pt x="130106" y="60767"/>
                  <a:pt x="128275" y="54248"/>
                  <a:pt x="123096" y="51390"/>
                </a:cubicBezTo>
                <a:cubicBezTo>
                  <a:pt x="117917" y="48533"/>
                  <a:pt x="111398" y="50363"/>
                  <a:pt x="108540" y="55543"/>
                </a:cubicBezTo>
                <a:lnTo>
                  <a:pt x="91753" y="85770"/>
                </a:lnTo>
                <a:lnTo>
                  <a:pt x="52105" y="85770"/>
                </a:lnTo>
                <a:close/>
                <a:moveTo>
                  <a:pt x="57150" y="14288"/>
                </a:moveTo>
                <a:lnTo>
                  <a:pt x="28575" y="14288"/>
                </a:lnTo>
                <a:cubicBezTo>
                  <a:pt x="12814" y="14288"/>
                  <a:pt x="0" y="27102"/>
                  <a:pt x="0" y="42863"/>
                </a:cubicBezTo>
                <a:lnTo>
                  <a:pt x="0" y="185738"/>
                </a:lnTo>
                <a:cubicBezTo>
                  <a:pt x="0" y="201498"/>
                  <a:pt x="12814" y="214313"/>
                  <a:pt x="28575" y="214313"/>
                </a:cubicBezTo>
                <a:lnTo>
                  <a:pt x="171450" y="214313"/>
                </a:lnTo>
                <a:cubicBezTo>
                  <a:pt x="187211" y="214313"/>
                  <a:pt x="200025" y="201498"/>
                  <a:pt x="200025" y="185738"/>
                </a:cubicBezTo>
                <a:lnTo>
                  <a:pt x="200025" y="42863"/>
                </a:lnTo>
                <a:cubicBezTo>
                  <a:pt x="200025" y="27102"/>
                  <a:pt x="187211" y="14288"/>
                  <a:pt x="171450" y="14288"/>
                </a:cubicBezTo>
                <a:lnTo>
                  <a:pt x="142875" y="14288"/>
                </a:lnTo>
                <a:cubicBezTo>
                  <a:pt x="130954" y="5313"/>
                  <a:pt x="116086" y="0"/>
                  <a:pt x="100013" y="0"/>
                </a:cubicBezTo>
                <a:cubicBezTo>
                  <a:pt x="83939" y="0"/>
                  <a:pt x="69071" y="5313"/>
                  <a:pt x="57150" y="14288"/>
                </a:cubicBezTo>
                <a:close/>
              </a:path>
            </a:pathLst>
          </a:custGeom>
          <a:solidFill>
            <a:srgbClr val="F97316"/>
          </a:solidFill>
          <a:ln/>
        </p:spPr>
      </p:sp>
      <p:sp>
        <p:nvSpPr>
          <p:cNvPr id="23" name="Text 21"/>
          <p:cNvSpPr/>
          <p:nvPr/>
        </p:nvSpPr>
        <p:spPr>
          <a:xfrm>
            <a:off x="7200900" y="2019181"/>
            <a:ext cx="4457700"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Quattrocento Sans" pitchFamily="34" charset="0"/>
                <a:ea typeface="Quattrocento Sans" pitchFamily="34" charset="-122"/>
                <a:cs typeface="Quattrocento Sans" pitchFamily="34" charset="-120"/>
              </a:rPr>
              <a:t>Weight Management</a:t>
            </a:r>
            <a:endParaRPr lang="en-US" sz="1600" dirty="0"/>
          </a:p>
        </p:txBody>
      </p:sp>
      <p:sp>
        <p:nvSpPr>
          <p:cNvPr id="24" name="Text 22"/>
          <p:cNvSpPr/>
          <p:nvPr/>
        </p:nvSpPr>
        <p:spPr>
          <a:xfrm>
            <a:off x="7200900" y="2323981"/>
            <a:ext cx="4448175" cy="2286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Compare </a:t>
            </a:r>
            <a:pPr>
              <a:lnSpc>
                <a:spcPct val="130000"/>
              </a:lnSpc>
            </a:pPr>
            <a:r>
              <a:rPr lang="en-US" sz="1200" b="1" dirty="0">
                <a:solidFill>
                  <a:srgbClr val="F9FAFB">
                    <a:alpha val="70000"/>
                  </a:srgbClr>
                </a:solidFill>
                <a:latin typeface="Quattrocento Sans" pitchFamily="34" charset="0"/>
                <a:ea typeface="Quattrocento Sans" pitchFamily="34" charset="-122"/>
                <a:cs typeface="Quattrocento Sans" pitchFamily="34" charset="-120"/>
              </a:rPr>
              <a:t>weight before &amp; after</a:t>
            </a:r>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 a diet program on the </a:t>
            </a:r>
            <a:pPr>
              <a:lnSpc>
                <a:spcPct val="130000"/>
              </a:lnSpc>
            </a:pPr>
            <a:r>
              <a:rPr lang="en-US" sz="1200" b="1" dirty="0">
                <a:solidFill>
                  <a:srgbClr val="F9FAFB">
                    <a:alpha val="70000"/>
                  </a:srgbClr>
                </a:solidFill>
                <a:latin typeface="Quattrocento Sans" pitchFamily="34" charset="0"/>
                <a:ea typeface="Quattrocento Sans" pitchFamily="34" charset="-122"/>
                <a:cs typeface="Quattrocento Sans" pitchFamily="34" charset="-120"/>
              </a:rPr>
              <a:t>same person</a:t>
            </a:r>
            <a:endParaRPr lang="en-US" sz="1600" dirty="0"/>
          </a:p>
        </p:txBody>
      </p:sp>
      <p:sp>
        <p:nvSpPr>
          <p:cNvPr id="25" name="Shape 23"/>
          <p:cNvSpPr/>
          <p:nvPr/>
        </p:nvSpPr>
        <p:spPr>
          <a:xfrm>
            <a:off x="6248400" y="2933581"/>
            <a:ext cx="5562600" cy="1143000"/>
          </a:xfrm>
          <a:custGeom>
            <a:avLst/>
            <a:gdLst/>
            <a:ahLst/>
            <a:cxnLst/>
            <a:rect l="l" t="t" r="r" b="b"/>
            <a:pathLst>
              <a:path w="5562600" h="1143000">
                <a:moveTo>
                  <a:pt x="76204" y="0"/>
                </a:moveTo>
                <a:lnTo>
                  <a:pt x="5486396" y="0"/>
                </a:lnTo>
                <a:cubicBezTo>
                  <a:pt x="5528482" y="0"/>
                  <a:pt x="5562600" y="34118"/>
                  <a:pt x="5562600" y="76204"/>
                </a:cubicBezTo>
                <a:lnTo>
                  <a:pt x="5562600" y="1066796"/>
                </a:lnTo>
                <a:cubicBezTo>
                  <a:pt x="5562600" y="1108882"/>
                  <a:pt x="5528482" y="1143000"/>
                  <a:pt x="5486396" y="1143000"/>
                </a:cubicBezTo>
                <a:lnTo>
                  <a:pt x="76204" y="1143000"/>
                </a:lnTo>
                <a:cubicBezTo>
                  <a:pt x="34118" y="1143000"/>
                  <a:pt x="0" y="1108882"/>
                  <a:pt x="0" y="1066796"/>
                </a:cubicBezTo>
                <a:lnTo>
                  <a:pt x="0" y="76204"/>
                </a:lnTo>
                <a:cubicBezTo>
                  <a:pt x="0" y="34146"/>
                  <a:pt x="34146" y="0"/>
                  <a:pt x="76204" y="0"/>
                </a:cubicBezTo>
                <a:close/>
              </a:path>
            </a:pathLst>
          </a:custGeom>
          <a:solidFill>
            <a:srgbClr val="374151"/>
          </a:solidFill>
          <a:ln/>
        </p:spPr>
      </p:sp>
      <p:sp>
        <p:nvSpPr>
          <p:cNvPr id="26" name="Shape 24"/>
          <p:cNvSpPr/>
          <p:nvPr/>
        </p:nvSpPr>
        <p:spPr>
          <a:xfrm>
            <a:off x="6438900" y="3200281"/>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F97316">
              <a:alpha val="20000"/>
            </a:srgbClr>
          </a:solidFill>
          <a:ln/>
        </p:spPr>
      </p:sp>
      <p:sp>
        <p:nvSpPr>
          <p:cNvPr id="27" name="Shape 25"/>
          <p:cNvSpPr/>
          <p:nvPr/>
        </p:nvSpPr>
        <p:spPr>
          <a:xfrm>
            <a:off x="6629400" y="3390781"/>
            <a:ext cx="228600" cy="228600"/>
          </a:xfrm>
          <a:custGeom>
            <a:avLst/>
            <a:gdLst/>
            <a:ahLst/>
            <a:cxnLst/>
            <a:rect l="l" t="t" r="r" b="b"/>
            <a:pathLst>
              <a:path w="228600" h="228600">
                <a:moveTo>
                  <a:pt x="114300" y="48176"/>
                </a:moveTo>
                <a:lnTo>
                  <a:pt x="107603" y="38889"/>
                </a:lnTo>
                <a:cubicBezTo>
                  <a:pt x="96441" y="23440"/>
                  <a:pt x="78537" y="14288"/>
                  <a:pt x="59427" y="14288"/>
                </a:cubicBezTo>
                <a:cubicBezTo>
                  <a:pt x="26610" y="14288"/>
                  <a:pt x="0" y="40898"/>
                  <a:pt x="0" y="73715"/>
                </a:cubicBezTo>
                <a:lnTo>
                  <a:pt x="0" y="74875"/>
                </a:lnTo>
                <a:cubicBezTo>
                  <a:pt x="0" y="85412"/>
                  <a:pt x="2768" y="96307"/>
                  <a:pt x="7412" y="107156"/>
                </a:cubicBezTo>
                <a:lnTo>
                  <a:pt x="54739" y="107156"/>
                </a:lnTo>
                <a:cubicBezTo>
                  <a:pt x="56168" y="107156"/>
                  <a:pt x="57463" y="106308"/>
                  <a:pt x="58043" y="104968"/>
                </a:cubicBezTo>
                <a:lnTo>
                  <a:pt x="72241" y="70902"/>
                </a:lnTo>
                <a:cubicBezTo>
                  <a:pt x="73893" y="66973"/>
                  <a:pt x="77733" y="64383"/>
                  <a:pt x="81975" y="64294"/>
                </a:cubicBezTo>
                <a:cubicBezTo>
                  <a:pt x="86216" y="64204"/>
                  <a:pt x="90145" y="66705"/>
                  <a:pt x="91886" y="70589"/>
                </a:cubicBezTo>
                <a:lnTo>
                  <a:pt x="114791" y="121444"/>
                </a:lnTo>
                <a:lnTo>
                  <a:pt x="133276" y="84475"/>
                </a:lnTo>
                <a:cubicBezTo>
                  <a:pt x="135106" y="80858"/>
                  <a:pt x="138812" y="78537"/>
                  <a:pt x="142875" y="78537"/>
                </a:cubicBezTo>
                <a:cubicBezTo>
                  <a:pt x="146938" y="78537"/>
                  <a:pt x="150644" y="80814"/>
                  <a:pt x="152474" y="84475"/>
                </a:cubicBezTo>
                <a:lnTo>
                  <a:pt x="162833" y="105147"/>
                </a:lnTo>
                <a:cubicBezTo>
                  <a:pt x="163458" y="106353"/>
                  <a:pt x="164663" y="107112"/>
                  <a:pt x="166048" y="107112"/>
                </a:cubicBezTo>
                <a:lnTo>
                  <a:pt x="221233" y="107112"/>
                </a:lnTo>
                <a:cubicBezTo>
                  <a:pt x="225921" y="96262"/>
                  <a:pt x="228645" y="85368"/>
                  <a:pt x="228645" y="74831"/>
                </a:cubicBezTo>
                <a:lnTo>
                  <a:pt x="228645" y="73670"/>
                </a:lnTo>
                <a:cubicBezTo>
                  <a:pt x="228600" y="40898"/>
                  <a:pt x="201990" y="14288"/>
                  <a:pt x="169173" y="14288"/>
                </a:cubicBezTo>
                <a:cubicBezTo>
                  <a:pt x="150108" y="14288"/>
                  <a:pt x="132159" y="23440"/>
                  <a:pt x="120997" y="38889"/>
                </a:cubicBezTo>
                <a:lnTo>
                  <a:pt x="114300" y="48131"/>
                </a:lnTo>
                <a:close/>
                <a:moveTo>
                  <a:pt x="209669" y="128588"/>
                </a:moveTo>
                <a:lnTo>
                  <a:pt x="166003" y="128588"/>
                </a:lnTo>
                <a:cubicBezTo>
                  <a:pt x="156537" y="128588"/>
                  <a:pt x="147876" y="123230"/>
                  <a:pt x="143634" y="114746"/>
                </a:cubicBezTo>
                <a:lnTo>
                  <a:pt x="142875" y="113228"/>
                </a:lnTo>
                <a:lnTo>
                  <a:pt x="123899" y="151224"/>
                </a:lnTo>
                <a:cubicBezTo>
                  <a:pt x="122069" y="154930"/>
                  <a:pt x="118229" y="157252"/>
                  <a:pt x="114077" y="157163"/>
                </a:cubicBezTo>
                <a:cubicBezTo>
                  <a:pt x="109924" y="157073"/>
                  <a:pt x="106219" y="154618"/>
                  <a:pt x="104522" y="150867"/>
                </a:cubicBezTo>
                <a:lnTo>
                  <a:pt x="82510" y="101977"/>
                </a:lnTo>
                <a:lnTo>
                  <a:pt x="77822" y="113228"/>
                </a:lnTo>
                <a:cubicBezTo>
                  <a:pt x="73938" y="122560"/>
                  <a:pt x="64830" y="128632"/>
                  <a:pt x="54739" y="128632"/>
                </a:cubicBezTo>
                <a:lnTo>
                  <a:pt x="18931" y="128632"/>
                </a:lnTo>
                <a:cubicBezTo>
                  <a:pt x="40005" y="161583"/>
                  <a:pt x="73849" y="191899"/>
                  <a:pt x="95012" y="208062"/>
                </a:cubicBezTo>
                <a:cubicBezTo>
                  <a:pt x="100548" y="212259"/>
                  <a:pt x="107335" y="214357"/>
                  <a:pt x="114255" y="214357"/>
                </a:cubicBezTo>
                <a:cubicBezTo>
                  <a:pt x="121176" y="214357"/>
                  <a:pt x="128007" y="212303"/>
                  <a:pt x="133499" y="208062"/>
                </a:cubicBezTo>
                <a:cubicBezTo>
                  <a:pt x="154751" y="191854"/>
                  <a:pt x="188595" y="161538"/>
                  <a:pt x="209669" y="128588"/>
                </a:cubicBezTo>
                <a:close/>
              </a:path>
            </a:pathLst>
          </a:custGeom>
          <a:solidFill>
            <a:srgbClr val="F97316"/>
          </a:solidFill>
          <a:ln/>
        </p:spPr>
      </p:sp>
      <p:sp>
        <p:nvSpPr>
          <p:cNvPr id="28" name="Text 26"/>
          <p:cNvSpPr/>
          <p:nvPr/>
        </p:nvSpPr>
        <p:spPr>
          <a:xfrm>
            <a:off x="7200900" y="3124081"/>
            <a:ext cx="4505325"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Quattrocento Sans" pitchFamily="34" charset="0"/>
                <a:ea typeface="Quattrocento Sans" pitchFamily="34" charset="-122"/>
                <a:cs typeface="Quattrocento Sans" pitchFamily="34" charset="-120"/>
              </a:rPr>
              <a:t>Medical Trials</a:t>
            </a:r>
            <a:endParaRPr lang="en-US" sz="1600" dirty="0"/>
          </a:p>
        </p:txBody>
      </p:sp>
      <p:sp>
        <p:nvSpPr>
          <p:cNvPr id="29" name="Text 27"/>
          <p:cNvSpPr/>
          <p:nvPr/>
        </p:nvSpPr>
        <p:spPr>
          <a:xfrm>
            <a:off x="7200900" y="3428881"/>
            <a:ext cx="4495800" cy="4572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Measure </a:t>
            </a:r>
            <a:pPr>
              <a:lnSpc>
                <a:spcPct val="130000"/>
              </a:lnSpc>
            </a:pPr>
            <a:r>
              <a:rPr lang="en-US" sz="1200" b="1" dirty="0">
                <a:solidFill>
                  <a:srgbClr val="F9FAFB">
                    <a:alpha val="70000"/>
                  </a:srgbClr>
                </a:solidFill>
                <a:latin typeface="Quattrocento Sans" pitchFamily="34" charset="0"/>
                <a:ea typeface="Quattrocento Sans" pitchFamily="34" charset="-122"/>
                <a:cs typeface="Quattrocento Sans" pitchFamily="34" charset="-120"/>
              </a:rPr>
              <a:t>blood pressure before &amp; after</a:t>
            </a:r>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 medication on the </a:t>
            </a:r>
            <a:pPr>
              <a:lnSpc>
                <a:spcPct val="130000"/>
              </a:lnSpc>
            </a:pPr>
            <a:r>
              <a:rPr lang="en-US" sz="1200" b="1" dirty="0">
                <a:solidFill>
                  <a:srgbClr val="F9FAFB">
                    <a:alpha val="70000"/>
                  </a:srgbClr>
                </a:solidFill>
                <a:latin typeface="Quattrocento Sans" pitchFamily="34" charset="0"/>
                <a:ea typeface="Quattrocento Sans" pitchFamily="34" charset="-122"/>
                <a:cs typeface="Quattrocento Sans" pitchFamily="34" charset="-120"/>
              </a:rPr>
              <a:t>same patient</a:t>
            </a:r>
            <a:endParaRPr lang="en-US" sz="1600" dirty="0"/>
          </a:p>
        </p:txBody>
      </p:sp>
      <p:sp>
        <p:nvSpPr>
          <p:cNvPr id="30" name="Shape 28"/>
          <p:cNvSpPr/>
          <p:nvPr/>
        </p:nvSpPr>
        <p:spPr>
          <a:xfrm>
            <a:off x="6248400" y="4228981"/>
            <a:ext cx="5562600" cy="990600"/>
          </a:xfrm>
          <a:custGeom>
            <a:avLst/>
            <a:gdLst/>
            <a:ahLst/>
            <a:cxnLst/>
            <a:rect l="l" t="t" r="r" b="b"/>
            <a:pathLst>
              <a:path w="5562600" h="990600">
                <a:moveTo>
                  <a:pt x="76197" y="0"/>
                </a:moveTo>
                <a:lnTo>
                  <a:pt x="5486403" y="0"/>
                </a:lnTo>
                <a:cubicBezTo>
                  <a:pt x="5528485" y="0"/>
                  <a:pt x="5562600" y="34115"/>
                  <a:pt x="5562600" y="76197"/>
                </a:cubicBezTo>
                <a:lnTo>
                  <a:pt x="5562600" y="914403"/>
                </a:lnTo>
                <a:cubicBezTo>
                  <a:pt x="5562600" y="956485"/>
                  <a:pt x="5528485" y="990600"/>
                  <a:pt x="5486403" y="990600"/>
                </a:cubicBezTo>
                <a:lnTo>
                  <a:pt x="76197" y="990600"/>
                </a:lnTo>
                <a:cubicBezTo>
                  <a:pt x="34115" y="990600"/>
                  <a:pt x="0" y="956485"/>
                  <a:pt x="0" y="914403"/>
                </a:cubicBezTo>
                <a:lnTo>
                  <a:pt x="0" y="76197"/>
                </a:lnTo>
                <a:cubicBezTo>
                  <a:pt x="0" y="34143"/>
                  <a:pt x="34143" y="0"/>
                  <a:pt x="76197" y="0"/>
                </a:cubicBezTo>
                <a:close/>
              </a:path>
            </a:pathLst>
          </a:custGeom>
          <a:solidFill>
            <a:srgbClr val="374151"/>
          </a:solidFill>
          <a:ln/>
        </p:spPr>
      </p:sp>
      <p:sp>
        <p:nvSpPr>
          <p:cNvPr id="31" name="Shape 29"/>
          <p:cNvSpPr/>
          <p:nvPr/>
        </p:nvSpPr>
        <p:spPr>
          <a:xfrm>
            <a:off x="6438900" y="4419481"/>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F97316">
              <a:alpha val="20000"/>
            </a:srgbClr>
          </a:solidFill>
          <a:ln/>
        </p:spPr>
      </p:sp>
      <p:sp>
        <p:nvSpPr>
          <p:cNvPr id="32" name="Shape 30"/>
          <p:cNvSpPr/>
          <p:nvPr/>
        </p:nvSpPr>
        <p:spPr>
          <a:xfrm>
            <a:off x="6615113" y="4609981"/>
            <a:ext cx="257175" cy="228600"/>
          </a:xfrm>
          <a:custGeom>
            <a:avLst/>
            <a:gdLst/>
            <a:ahLst/>
            <a:cxnLst/>
            <a:rect l="l" t="t" r="r" b="b"/>
            <a:pathLst>
              <a:path w="257175" h="228600">
                <a:moveTo>
                  <a:pt x="21431" y="87422"/>
                </a:moveTo>
                <a:lnTo>
                  <a:pt x="114836" y="125864"/>
                </a:lnTo>
                <a:cubicBezTo>
                  <a:pt x="119211" y="127650"/>
                  <a:pt x="123855" y="128588"/>
                  <a:pt x="128588" y="128588"/>
                </a:cubicBezTo>
                <a:cubicBezTo>
                  <a:pt x="133320" y="128588"/>
                  <a:pt x="137964" y="127650"/>
                  <a:pt x="142339" y="125864"/>
                </a:cubicBezTo>
                <a:lnTo>
                  <a:pt x="250567" y="81305"/>
                </a:lnTo>
                <a:cubicBezTo>
                  <a:pt x="254585" y="79653"/>
                  <a:pt x="257175" y="75768"/>
                  <a:pt x="257175" y="71437"/>
                </a:cubicBezTo>
                <a:cubicBezTo>
                  <a:pt x="257175" y="67107"/>
                  <a:pt x="254585" y="63222"/>
                  <a:pt x="250567" y="61570"/>
                </a:cubicBezTo>
                <a:lnTo>
                  <a:pt x="142339" y="17011"/>
                </a:lnTo>
                <a:cubicBezTo>
                  <a:pt x="137964" y="15225"/>
                  <a:pt x="133320" y="14288"/>
                  <a:pt x="128588" y="14288"/>
                </a:cubicBezTo>
                <a:cubicBezTo>
                  <a:pt x="123855" y="14288"/>
                  <a:pt x="119211" y="15225"/>
                  <a:pt x="114836" y="17011"/>
                </a:cubicBezTo>
                <a:lnTo>
                  <a:pt x="6608" y="61570"/>
                </a:lnTo>
                <a:cubicBezTo>
                  <a:pt x="2590" y="63222"/>
                  <a:pt x="0" y="67107"/>
                  <a:pt x="0" y="71438"/>
                </a:cubicBezTo>
                <a:lnTo>
                  <a:pt x="0" y="203597"/>
                </a:lnTo>
                <a:cubicBezTo>
                  <a:pt x="0" y="209535"/>
                  <a:pt x="4777" y="214313"/>
                  <a:pt x="10716" y="214313"/>
                </a:cubicBezTo>
                <a:cubicBezTo>
                  <a:pt x="16654" y="214313"/>
                  <a:pt x="21431" y="209535"/>
                  <a:pt x="21431" y="203597"/>
                </a:cubicBezTo>
                <a:lnTo>
                  <a:pt x="21431" y="87422"/>
                </a:lnTo>
                <a:close/>
                <a:moveTo>
                  <a:pt x="42863" y="119435"/>
                </a:moveTo>
                <a:lnTo>
                  <a:pt x="42863" y="171450"/>
                </a:lnTo>
                <a:cubicBezTo>
                  <a:pt x="42863" y="195114"/>
                  <a:pt x="81260" y="214313"/>
                  <a:pt x="128588" y="214313"/>
                </a:cubicBezTo>
                <a:cubicBezTo>
                  <a:pt x="175915" y="214313"/>
                  <a:pt x="214313" y="195114"/>
                  <a:pt x="214313" y="171450"/>
                </a:cubicBezTo>
                <a:lnTo>
                  <a:pt x="214313" y="119390"/>
                </a:lnTo>
                <a:lnTo>
                  <a:pt x="150510" y="145688"/>
                </a:lnTo>
                <a:cubicBezTo>
                  <a:pt x="143545" y="148545"/>
                  <a:pt x="136133" y="150019"/>
                  <a:pt x="128588" y="150019"/>
                </a:cubicBezTo>
                <a:cubicBezTo>
                  <a:pt x="121042" y="150019"/>
                  <a:pt x="113630" y="148545"/>
                  <a:pt x="106665" y="145688"/>
                </a:cubicBezTo>
                <a:lnTo>
                  <a:pt x="42863" y="119390"/>
                </a:lnTo>
                <a:close/>
              </a:path>
            </a:pathLst>
          </a:custGeom>
          <a:solidFill>
            <a:srgbClr val="F97316"/>
          </a:solidFill>
          <a:ln/>
        </p:spPr>
      </p:sp>
      <p:sp>
        <p:nvSpPr>
          <p:cNvPr id="33" name="Text 31"/>
          <p:cNvSpPr/>
          <p:nvPr/>
        </p:nvSpPr>
        <p:spPr>
          <a:xfrm>
            <a:off x="7200900" y="4457581"/>
            <a:ext cx="4257675"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Quattrocento Sans" pitchFamily="34" charset="0"/>
                <a:ea typeface="Quattrocento Sans" pitchFamily="34" charset="-122"/>
                <a:cs typeface="Quattrocento Sans" pitchFamily="34" charset="-120"/>
              </a:rPr>
              <a:t>Educational Assessment</a:t>
            </a:r>
            <a:endParaRPr lang="en-US" sz="1600" dirty="0"/>
          </a:p>
        </p:txBody>
      </p:sp>
      <p:sp>
        <p:nvSpPr>
          <p:cNvPr id="34" name="Text 32"/>
          <p:cNvSpPr/>
          <p:nvPr/>
        </p:nvSpPr>
        <p:spPr>
          <a:xfrm>
            <a:off x="7200900" y="4762381"/>
            <a:ext cx="4248150" cy="2286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Evaluate </a:t>
            </a:r>
            <a:pPr>
              <a:lnSpc>
                <a:spcPct val="130000"/>
              </a:lnSpc>
            </a:pPr>
            <a:r>
              <a:rPr lang="en-US" sz="1200" b="1" dirty="0">
                <a:solidFill>
                  <a:srgbClr val="F9FAFB">
                    <a:alpha val="70000"/>
                  </a:srgbClr>
                </a:solidFill>
                <a:latin typeface="Quattrocento Sans" pitchFamily="34" charset="0"/>
                <a:ea typeface="Quattrocento Sans" pitchFamily="34" charset="-122"/>
                <a:cs typeface="Quattrocento Sans" pitchFamily="34" charset="-120"/>
              </a:rPr>
              <a:t>test scores before &amp; after</a:t>
            </a:r>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 tutoring for the </a:t>
            </a:r>
            <a:pPr>
              <a:lnSpc>
                <a:spcPct val="130000"/>
              </a:lnSpc>
            </a:pPr>
            <a:r>
              <a:rPr lang="en-US" sz="1200" b="1" dirty="0">
                <a:solidFill>
                  <a:srgbClr val="F9FAFB">
                    <a:alpha val="70000"/>
                  </a:srgbClr>
                </a:solidFill>
                <a:latin typeface="Quattrocento Sans" pitchFamily="34" charset="0"/>
                <a:ea typeface="Quattrocento Sans" pitchFamily="34" charset="-122"/>
                <a:cs typeface="Quattrocento Sans" pitchFamily="34" charset="-120"/>
              </a:rPr>
              <a:t>same student</a:t>
            </a:r>
            <a:endParaRPr lang="en-US" sz="1600" dirty="0"/>
          </a:p>
        </p:txBody>
      </p:sp>
      <p:sp>
        <p:nvSpPr>
          <p:cNvPr id="35" name="Shape 33"/>
          <p:cNvSpPr/>
          <p:nvPr/>
        </p:nvSpPr>
        <p:spPr>
          <a:xfrm>
            <a:off x="6252210" y="5703570"/>
            <a:ext cx="5551170" cy="769620"/>
          </a:xfrm>
          <a:custGeom>
            <a:avLst/>
            <a:gdLst/>
            <a:ahLst/>
            <a:cxnLst/>
            <a:rect l="l" t="t" r="r" b="b"/>
            <a:pathLst>
              <a:path w="5551170" h="769620">
                <a:moveTo>
                  <a:pt x="76200" y="0"/>
                </a:moveTo>
                <a:lnTo>
                  <a:pt x="5474970" y="0"/>
                </a:lnTo>
                <a:cubicBezTo>
                  <a:pt x="5517054" y="0"/>
                  <a:pt x="5551170" y="34116"/>
                  <a:pt x="5551170" y="76200"/>
                </a:cubicBezTo>
                <a:lnTo>
                  <a:pt x="5551170" y="693420"/>
                </a:lnTo>
                <a:cubicBezTo>
                  <a:pt x="5551170" y="735504"/>
                  <a:pt x="5517054" y="769620"/>
                  <a:pt x="5474970" y="769620"/>
                </a:cubicBezTo>
                <a:lnTo>
                  <a:pt x="76200" y="769620"/>
                </a:lnTo>
                <a:cubicBezTo>
                  <a:pt x="34116" y="769620"/>
                  <a:pt x="0" y="735504"/>
                  <a:pt x="0" y="693420"/>
                </a:cubicBezTo>
                <a:lnTo>
                  <a:pt x="0" y="76200"/>
                </a:lnTo>
                <a:cubicBezTo>
                  <a:pt x="0" y="34144"/>
                  <a:pt x="34144" y="0"/>
                  <a:pt x="76200" y="0"/>
                </a:cubicBezTo>
                <a:close/>
              </a:path>
            </a:pathLst>
          </a:custGeom>
          <a:solidFill>
            <a:srgbClr val="F97316">
              <a:alpha val="10196"/>
            </a:srgbClr>
          </a:solidFill>
          <a:ln w="10160">
            <a:solidFill>
              <a:srgbClr val="F97316">
                <a:alpha val="30196"/>
              </a:srgbClr>
            </a:solidFill>
            <a:prstDash val="solid"/>
          </a:ln>
        </p:spPr>
      </p:sp>
      <p:sp>
        <p:nvSpPr>
          <p:cNvPr id="36" name="Shape 34"/>
          <p:cNvSpPr/>
          <p:nvPr/>
        </p:nvSpPr>
        <p:spPr>
          <a:xfrm>
            <a:off x="6480810" y="5897881"/>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F97316"/>
          </a:solidFill>
          <a:ln/>
        </p:spPr>
      </p:sp>
      <p:sp>
        <p:nvSpPr>
          <p:cNvPr id="37" name="Text 35"/>
          <p:cNvSpPr/>
          <p:nvPr/>
        </p:nvSpPr>
        <p:spPr>
          <a:xfrm>
            <a:off x="6617970" y="5859781"/>
            <a:ext cx="5067300" cy="457200"/>
          </a:xfrm>
          <a:prstGeom prst="rect">
            <a:avLst/>
          </a:prstGeom>
          <a:noFill/>
          <a:ln/>
        </p:spPr>
        <p:txBody>
          <a:bodyPr wrap="square" lIns="0" tIns="0" rIns="0" bIns="0" rtlCol="0" anchor="ctr"/>
          <a:lstStyle/>
          <a:p>
            <a:pPr algn="ctr">
              <a:lnSpc>
                <a:spcPct val="130000"/>
              </a:lnSpc>
            </a:pPr>
            <a:r>
              <a:rPr lang="en-US" sz="1200" b="1" dirty="0">
                <a:solidFill>
                  <a:srgbClr val="F9FAFB">
                    <a:alpha val="80000"/>
                  </a:srgbClr>
                </a:solidFill>
                <a:latin typeface="Quattrocento Sans" pitchFamily="34" charset="0"/>
                <a:ea typeface="Quattrocento Sans" pitchFamily="34" charset="-122"/>
                <a:cs typeface="Quattrocento Sans" pitchFamily="34" charset="-120"/>
              </a:rPr>
              <a:t>Common Thread:</a:t>
            </a:r>
            <a:pPr algn="ctr">
              <a:lnSpc>
                <a:spcPct val="130000"/>
              </a:lnSpc>
            </a:pPr>
            <a:r>
              <a:rPr lang="en-US" sz="1200" dirty="0">
                <a:solidFill>
                  <a:srgbClr val="F9FAFB">
                    <a:alpha val="80000"/>
                  </a:srgbClr>
                </a:solidFill>
                <a:latin typeface="Quattrocento Sans" pitchFamily="34" charset="0"/>
                <a:ea typeface="Quattrocento Sans" pitchFamily="34" charset="-122"/>
                <a:cs typeface="Quattrocento Sans" pitchFamily="34" charset="-120"/>
              </a:rPr>
              <a:t> Same subjects measured at two different time points or under two different conditions</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63398" y="363398"/>
            <a:ext cx="11528799" cy="181699"/>
          </a:xfrm>
          <a:prstGeom prst="rect">
            <a:avLst/>
          </a:prstGeom>
          <a:noFill/>
          <a:ln/>
        </p:spPr>
        <p:txBody>
          <a:bodyPr wrap="square" lIns="0" tIns="0" rIns="0" bIns="0" rtlCol="0" anchor="ctr"/>
          <a:lstStyle/>
          <a:p>
            <a:pPr>
              <a:lnSpc>
                <a:spcPct val="120000"/>
              </a:lnSpc>
            </a:pPr>
            <a:r>
              <a:rPr lang="en-US" sz="1001" b="1" spc="50" kern="0" dirty="0">
                <a:solidFill>
                  <a:srgbClr val="F97316"/>
                </a:solidFill>
                <a:latin typeface="Quattrocento Sans" pitchFamily="34" charset="0"/>
                <a:ea typeface="Quattrocento Sans" pitchFamily="34" charset="-122"/>
                <a:cs typeface="Quattrocento Sans" pitchFamily="34" charset="-120"/>
              </a:rPr>
              <a:t>DECISION FRAMEWORK</a:t>
            </a:r>
            <a:endParaRPr lang="en-US" sz="1600" dirty="0"/>
          </a:p>
        </p:txBody>
      </p:sp>
      <p:sp>
        <p:nvSpPr>
          <p:cNvPr id="3" name="Text 1"/>
          <p:cNvSpPr/>
          <p:nvPr/>
        </p:nvSpPr>
        <p:spPr>
          <a:xfrm>
            <a:off x="363398" y="617776"/>
            <a:ext cx="11683243" cy="436077"/>
          </a:xfrm>
          <a:prstGeom prst="rect">
            <a:avLst/>
          </a:prstGeom>
          <a:noFill/>
          <a:ln/>
        </p:spPr>
        <p:txBody>
          <a:bodyPr wrap="square" lIns="0" tIns="0" rIns="0" bIns="0" rtlCol="0" anchor="ctr"/>
          <a:lstStyle/>
          <a:p>
            <a:pPr>
              <a:lnSpc>
                <a:spcPct val="80000"/>
              </a:lnSpc>
            </a:pPr>
            <a:r>
              <a:rPr lang="en-US" sz="3434" b="1" dirty="0">
                <a:solidFill>
                  <a:srgbClr val="F9FAFB"/>
                </a:solidFill>
                <a:latin typeface="Liter" pitchFamily="34" charset="0"/>
                <a:ea typeface="Liter" pitchFamily="34" charset="-122"/>
                <a:cs typeface="Liter" pitchFamily="34" charset="-120"/>
              </a:rPr>
              <a:t>When to Use vs Not Use</a:t>
            </a:r>
            <a:endParaRPr lang="en-US" sz="1600" dirty="0"/>
          </a:p>
        </p:txBody>
      </p:sp>
      <p:sp>
        <p:nvSpPr>
          <p:cNvPr id="4" name="Shape 2"/>
          <p:cNvSpPr/>
          <p:nvPr/>
        </p:nvSpPr>
        <p:spPr>
          <a:xfrm>
            <a:off x="367032" y="1275527"/>
            <a:ext cx="5585426" cy="625044"/>
          </a:xfrm>
          <a:custGeom>
            <a:avLst/>
            <a:gdLst/>
            <a:ahLst/>
            <a:cxnLst/>
            <a:rect l="l" t="t" r="r" b="b"/>
            <a:pathLst>
              <a:path w="5585426" h="625044">
                <a:moveTo>
                  <a:pt x="72680" y="0"/>
                </a:moveTo>
                <a:lnTo>
                  <a:pt x="5512746" y="0"/>
                </a:lnTo>
                <a:cubicBezTo>
                  <a:pt x="5552886" y="0"/>
                  <a:pt x="5585426" y="32540"/>
                  <a:pt x="5585426" y="72680"/>
                </a:cubicBezTo>
                <a:lnTo>
                  <a:pt x="5585426" y="552364"/>
                </a:lnTo>
                <a:cubicBezTo>
                  <a:pt x="5585426" y="592504"/>
                  <a:pt x="5552886" y="625044"/>
                  <a:pt x="5512746" y="625044"/>
                </a:cubicBezTo>
                <a:lnTo>
                  <a:pt x="72680" y="625044"/>
                </a:lnTo>
                <a:cubicBezTo>
                  <a:pt x="32567" y="625044"/>
                  <a:pt x="0" y="592478"/>
                  <a:pt x="0" y="552364"/>
                </a:cubicBezTo>
                <a:lnTo>
                  <a:pt x="0" y="72680"/>
                </a:lnTo>
                <a:cubicBezTo>
                  <a:pt x="0" y="32567"/>
                  <a:pt x="32567" y="0"/>
                  <a:pt x="72680" y="0"/>
                </a:cubicBezTo>
                <a:close/>
              </a:path>
            </a:pathLst>
          </a:custGeom>
          <a:solidFill>
            <a:srgbClr val="10B981">
              <a:alpha val="10196"/>
            </a:srgbClr>
          </a:solidFill>
          <a:ln w="10160">
            <a:solidFill>
              <a:srgbClr val="10B981">
                <a:alpha val="30196"/>
              </a:srgbClr>
            </a:solidFill>
            <a:prstDash val="solid"/>
          </a:ln>
        </p:spPr>
      </p:sp>
      <p:sp>
        <p:nvSpPr>
          <p:cNvPr id="5" name="Shape 3"/>
          <p:cNvSpPr/>
          <p:nvPr/>
        </p:nvSpPr>
        <p:spPr>
          <a:xfrm>
            <a:off x="552365" y="1451775"/>
            <a:ext cx="272548" cy="272548"/>
          </a:xfrm>
          <a:custGeom>
            <a:avLst/>
            <a:gdLst/>
            <a:ahLst/>
            <a:cxnLst/>
            <a:rect l="l" t="t" r="r" b="b"/>
            <a:pathLst>
              <a:path w="272548" h="272548">
                <a:moveTo>
                  <a:pt x="136274" y="272548"/>
                </a:moveTo>
                <a:cubicBezTo>
                  <a:pt x="211486" y="272548"/>
                  <a:pt x="272548" y="211486"/>
                  <a:pt x="272548" y="136274"/>
                </a:cubicBezTo>
                <a:cubicBezTo>
                  <a:pt x="272548" y="61062"/>
                  <a:pt x="211486" y="0"/>
                  <a:pt x="136274" y="0"/>
                </a:cubicBezTo>
                <a:cubicBezTo>
                  <a:pt x="61062" y="0"/>
                  <a:pt x="0" y="61062"/>
                  <a:pt x="0" y="136274"/>
                </a:cubicBezTo>
                <a:cubicBezTo>
                  <a:pt x="0" y="211486"/>
                  <a:pt x="61062" y="272548"/>
                  <a:pt x="136274" y="272548"/>
                </a:cubicBezTo>
                <a:close/>
                <a:moveTo>
                  <a:pt x="181202" y="113225"/>
                </a:moveTo>
                <a:lnTo>
                  <a:pt x="138616" y="181362"/>
                </a:lnTo>
                <a:cubicBezTo>
                  <a:pt x="136381" y="184928"/>
                  <a:pt x="132548" y="187164"/>
                  <a:pt x="128343" y="187377"/>
                </a:cubicBezTo>
                <a:cubicBezTo>
                  <a:pt x="124137" y="187590"/>
                  <a:pt x="120092" y="185674"/>
                  <a:pt x="117590" y="182267"/>
                </a:cubicBezTo>
                <a:lnTo>
                  <a:pt x="92038" y="148198"/>
                </a:lnTo>
                <a:cubicBezTo>
                  <a:pt x="87780" y="142556"/>
                  <a:pt x="88951" y="134571"/>
                  <a:pt x="94593" y="130312"/>
                </a:cubicBezTo>
                <a:cubicBezTo>
                  <a:pt x="100236" y="126054"/>
                  <a:pt x="108221" y="127225"/>
                  <a:pt x="112479" y="132867"/>
                </a:cubicBezTo>
                <a:lnTo>
                  <a:pt x="126852" y="152031"/>
                </a:lnTo>
                <a:lnTo>
                  <a:pt x="159537" y="99704"/>
                </a:lnTo>
                <a:cubicBezTo>
                  <a:pt x="163263" y="93742"/>
                  <a:pt x="171141" y="91879"/>
                  <a:pt x="177156" y="95658"/>
                </a:cubicBezTo>
                <a:cubicBezTo>
                  <a:pt x="183172" y="99438"/>
                  <a:pt x="184982" y="107263"/>
                  <a:pt x="181202" y="113278"/>
                </a:cubicBezTo>
                <a:close/>
              </a:path>
            </a:pathLst>
          </a:custGeom>
          <a:solidFill>
            <a:srgbClr val="10B981"/>
          </a:solidFill>
          <a:ln/>
        </p:spPr>
      </p:sp>
      <p:sp>
        <p:nvSpPr>
          <p:cNvPr id="6" name="Text 4"/>
          <p:cNvSpPr/>
          <p:nvPr/>
        </p:nvSpPr>
        <p:spPr>
          <a:xfrm>
            <a:off x="861253" y="1424520"/>
            <a:ext cx="5078486" cy="327058"/>
          </a:xfrm>
          <a:prstGeom prst="rect">
            <a:avLst/>
          </a:prstGeom>
          <a:noFill/>
          <a:ln/>
        </p:spPr>
        <p:txBody>
          <a:bodyPr wrap="square" lIns="0" tIns="0" rIns="0" bIns="0" rtlCol="0" anchor="ctr"/>
          <a:lstStyle/>
          <a:p>
            <a:pPr>
              <a:lnSpc>
                <a:spcPct val="100000"/>
              </a:lnSpc>
            </a:pPr>
            <a:r>
              <a:rPr lang="en-US" sz="2146" b="1" dirty="0">
                <a:solidFill>
                  <a:srgbClr val="10B981"/>
                </a:solidFill>
                <a:latin typeface="Liter" pitchFamily="34" charset="0"/>
                <a:ea typeface="Liter" pitchFamily="34" charset="-122"/>
                <a:cs typeface="Liter" pitchFamily="34" charset="-120"/>
              </a:rPr>
              <a:t>USE PAIRED T-TEST</a:t>
            </a:r>
            <a:endParaRPr lang="en-US" sz="1600" dirty="0"/>
          </a:p>
        </p:txBody>
      </p:sp>
      <p:sp>
        <p:nvSpPr>
          <p:cNvPr id="7" name="Shape 5"/>
          <p:cNvSpPr/>
          <p:nvPr/>
        </p:nvSpPr>
        <p:spPr>
          <a:xfrm>
            <a:off x="381568" y="2085904"/>
            <a:ext cx="5569073" cy="1126534"/>
          </a:xfrm>
          <a:custGeom>
            <a:avLst/>
            <a:gdLst/>
            <a:ahLst/>
            <a:cxnLst/>
            <a:rect l="l" t="t" r="r" b="b"/>
            <a:pathLst>
              <a:path w="5569073" h="1126534">
                <a:moveTo>
                  <a:pt x="36340" y="0"/>
                </a:moveTo>
                <a:lnTo>
                  <a:pt x="5496389" y="0"/>
                </a:lnTo>
                <a:cubicBezTo>
                  <a:pt x="5536531" y="0"/>
                  <a:pt x="5569073" y="32542"/>
                  <a:pt x="5569073" y="72684"/>
                </a:cubicBezTo>
                <a:lnTo>
                  <a:pt x="5569073" y="1053850"/>
                </a:lnTo>
                <a:cubicBezTo>
                  <a:pt x="5569073" y="1093992"/>
                  <a:pt x="5536531" y="1126534"/>
                  <a:pt x="5496389" y="1126534"/>
                </a:cubicBezTo>
                <a:lnTo>
                  <a:pt x="36340" y="1126534"/>
                </a:lnTo>
                <a:cubicBezTo>
                  <a:pt x="16270" y="1126534"/>
                  <a:pt x="0" y="1110264"/>
                  <a:pt x="0" y="1090194"/>
                </a:cubicBezTo>
                <a:lnTo>
                  <a:pt x="0" y="36340"/>
                </a:lnTo>
                <a:cubicBezTo>
                  <a:pt x="0" y="16283"/>
                  <a:pt x="16283" y="0"/>
                  <a:pt x="36340" y="0"/>
                </a:cubicBezTo>
                <a:close/>
              </a:path>
            </a:pathLst>
          </a:custGeom>
          <a:solidFill>
            <a:srgbClr val="374151"/>
          </a:solidFill>
          <a:ln/>
        </p:spPr>
      </p:sp>
      <p:sp>
        <p:nvSpPr>
          <p:cNvPr id="8" name="Shape 6"/>
          <p:cNvSpPr/>
          <p:nvPr/>
        </p:nvSpPr>
        <p:spPr>
          <a:xfrm>
            <a:off x="381568" y="2085904"/>
            <a:ext cx="36340" cy="1126534"/>
          </a:xfrm>
          <a:custGeom>
            <a:avLst/>
            <a:gdLst/>
            <a:ahLst/>
            <a:cxnLst/>
            <a:rect l="l" t="t" r="r" b="b"/>
            <a:pathLst>
              <a:path w="36340" h="1126534">
                <a:moveTo>
                  <a:pt x="36340" y="0"/>
                </a:moveTo>
                <a:lnTo>
                  <a:pt x="36340" y="0"/>
                </a:lnTo>
                <a:lnTo>
                  <a:pt x="36340" y="1126534"/>
                </a:lnTo>
                <a:lnTo>
                  <a:pt x="36340" y="1126534"/>
                </a:lnTo>
                <a:cubicBezTo>
                  <a:pt x="16270" y="1126534"/>
                  <a:pt x="0" y="1110264"/>
                  <a:pt x="0" y="1090194"/>
                </a:cubicBezTo>
                <a:lnTo>
                  <a:pt x="0" y="36340"/>
                </a:lnTo>
                <a:cubicBezTo>
                  <a:pt x="0" y="16283"/>
                  <a:pt x="16283" y="0"/>
                  <a:pt x="36340" y="0"/>
                </a:cubicBezTo>
                <a:close/>
              </a:path>
            </a:pathLst>
          </a:custGeom>
          <a:solidFill>
            <a:srgbClr val="10B981"/>
          </a:solidFill>
          <a:ln/>
        </p:spPr>
      </p:sp>
      <p:sp>
        <p:nvSpPr>
          <p:cNvPr id="9" name="Shape 7"/>
          <p:cNvSpPr/>
          <p:nvPr/>
        </p:nvSpPr>
        <p:spPr>
          <a:xfrm>
            <a:off x="581437" y="2267603"/>
            <a:ext cx="436077" cy="436077"/>
          </a:xfrm>
          <a:custGeom>
            <a:avLst/>
            <a:gdLst/>
            <a:ahLst/>
            <a:cxnLst/>
            <a:rect l="l" t="t" r="r" b="b"/>
            <a:pathLst>
              <a:path w="436077" h="436077">
                <a:moveTo>
                  <a:pt x="218039" y="0"/>
                </a:moveTo>
                <a:lnTo>
                  <a:pt x="218039" y="0"/>
                </a:lnTo>
                <a:cubicBezTo>
                  <a:pt x="338458" y="0"/>
                  <a:pt x="436077" y="97619"/>
                  <a:pt x="436077" y="218039"/>
                </a:cubicBezTo>
                <a:lnTo>
                  <a:pt x="436077" y="218039"/>
                </a:lnTo>
                <a:cubicBezTo>
                  <a:pt x="436077" y="338458"/>
                  <a:pt x="338458" y="436077"/>
                  <a:pt x="218039" y="436077"/>
                </a:cubicBezTo>
                <a:lnTo>
                  <a:pt x="218039" y="436077"/>
                </a:lnTo>
                <a:cubicBezTo>
                  <a:pt x="97619" y="436077"/>
                  <a:pt x="0" y="338458"/>
                  <a:pt x="0" y="218039"/>
                </a:cubicBezTo>
                <a:lnTo>
                  <a:pt x="0" y="218039"/>
                </a:lnTo>
                <a:cubicBezTo>
                  <a:pt x="0" y="97619"/>
                  <a:pt x="97619" y="0"/>
                  <a:pt x="218039" y="0"/>
                </a:cubicBezTo>
                <a:close/>
              </a:path>
            </a:pathLst>
          </a:custGeom>
          <a:solidFill>
            <a:srgbClr val="10B981">
              <a:alpha val="20000"/>
            </a:srgbClr>
          </a:solidFill>
          <a:ln/>
        </p:spPr>
      </p:sp>
      <p:sp>
        <p:nvSpPr>
          <p:cNvPr id="10" name="Text 8"/>
          <p:cNvSpPr/>
          <p:nvPr/>
        </p:nvSpPr>
        <p:spPr>
          <a:xfrm>
            <a:off x="712260" y="2358452"/>
            <a:ext cx="263463" cy="254379"/>
          </a:xfrm>
          <a:prstGeom prst="rect">
            <a:avLst/>
          </a:prstGeom>
          <a:noFill/>
          <a:ln/>
        </p:spPr>
        <p:txBody>
          <a:bodyPr wrap="square" lIns="0" tIns="0" rIns="0" bIns="0" rtlCol="0" anchor="ctr"/>
          <a:lstStyle/>
          <a:p>
            <a:pPr>
              <a:lnSpc>
                <a:spcPct val="120000"/>
              </a:lnSpc>
            </a:pPr>
            <a:r>
              <a:rPr lang="en-US" sz="1431" b="1" dirty="0">
                <a:solidFill>
                  <a:srgbClr val="10B981"/>
                </a:solidFill>
                <a:latin typeface="Quattrocento Sans" pitchFamily="34" charset="0"/>
                <a:ea typeface="Quattrocento Sans" pitchFamily="34" charset="-122"/>
                <a:cs typeface="Quattrocento Sans" pitchFamily="34" charset="-120"/>
              </a:rPr>
              <a:t>01</a:t>
            </a:r>
            <a:endParaRPr lang="en-US" sz="1600" dirty="0"/>
          </a:p>
        </p:txBody>
      </p:sp>
      <p:sp>
        <p:nvSpPr>
          <p:cNvPr id="11" name="Text 9"/>
          <p:cNvSpPr/>
          <p:nvPr/>
        </p:nvSpPr>
        <p:spPr>
          <a:xfrm>
            <a:off x="1162873" y="2267603"/>
            <a:ext cx="4687833" cy="254379"/>
          </a:xfrm>
          <a:prstGeom prst="rect">
            <a:avLst/>
          </a:prstGeom>
          <a:noFill/>
          <a:ln/>
        </p:spPr>
        <p:txBody>
          <a:bodyPr wrap="square" lIns="0" tIns="0" rIns="0" bIns="0" rtlCol="0" anchor="ctr"/>
          <a:lstStyle/>
          <a:p>
            <a:pPr>
              <a:lnSpc>
                <a:spcPct val="130000"/>
              </a:lnSpc>
            </a:pPr>
            <a:r>
              <a:rPr lang="en-US" sz="1288" b="1" dirty="0">
                <a:solidFill>
                  <a:srgbClr val="F9FAFB"/>
                </a:solidFill>
                <a:latin typeface="Quattrocento Sans" pitchFamily="34" charset="0"/>
                <a:ea typeface="Quattrocento Sans" pitchFamily="34" charset="-122"/>
                <a:cs typeface="Quattrocento Sans" pitchFamily="34" charset="-120"/>
              </a:rPr>
              <a:t>Same Subjects, Two Time Points</a:t>
            </a:r>
            <a:endParaRPr lang="en-US" sz="1600" dirty="0"/>
          </a:p>
        </p:txBody>
      </p:sp>
      <p:sp>
        <p:nvSpPr>
          <p:cNvPr id="12" name="Text 10"/>
          <p:cNvSpPr/>
          <p:nvPr/>
        </p:nvSpPr>
        <p:spPr>
          <a:xfrm>
            <a:off x="1162873" y="2594661"/>
            <a:ext cx="4678748" cy="436077"/>
          </a:xfrm>
          <a:prstGeom prst="rect">
            <a:avLst/>
          </a:prstGeom>
          <a:noFill/>
          <a:ln/>
        </p:spPr>
        <p:txBody>
          <a:bodyPr wrap="square" lIns="0" tIns="0" rIns="0" bIns="0" rtlCol="0" anchor="ctr"/>
          <a:lstStyle/>
          <a:p>
            <a:pPr>
              <a:lnSpc>
                <a:spcPct val="130000"/>
              </a:lnSpc>
            </a:pPr>
            <a:r>
              <a:rPr lang="en-US" sz="1145" b="1" dirty="0">
                <a:solidFill>
                  <a:srgbClr val="F9FAFB">
                    <a:alpha val="70000"/>
                  </a:srgbClr>
                </a:solidFill>
                <a:latin typeface="Quattrocento Sans" pitchFamily="34" charset="0"/>
                <a:ea typeface="Quattrocento Sans" pitchFamily="34" charset="-122"/>
                <a:cs typeface="Quattrocento Sans" pitchFamily="34" charset="-120"/>
              </a:rPr>
              <a:t>Before/After</a:t>
            </a:r>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 studies where you measure the same individuals at two different times</a:t>
            </a:r>
            <a:endParaRPr lang="en-US" sz="1600" dirty="0"/>
          </a:p>
        </p:txBody>
      </p:sp>
      <p:sp>
        <p:nvSpPr>
          <p:cNvPr id="13" name="Shape 11"/>
          <p:cNvSpPr/>
          <p:nvPr/>
        </p:nvSpPr>
        <p:spPr>
          <a:xfrm>
            <a:off x="381568" y="3357796"/>
            <a:ext cx="5569073" cy="1126534"/>
          </a:xfrm>
          <a:custGeom>
            <a:avLst/>
            <a:gdLst/>
            <a:ahLst/>
            <a:cxnLst/>
            <a:rect l="l" t="t" r="r" b="b"/>
            <a:pathLst>
              <a:path w="5569073" h="1126534">
                <a:moveTo>
                  <a:pt x="36340" y="0"/>
                </a:moveTo>
                <a:lnTo>
                  <a:pt x="5496389" y="0"/>
                </a:lnTo>
                <a:cubicBezTo>
                  <a:pt x="5536531" y="0"/>
                  <a:pt x="5569073" y="32542"/>
                  <a:pt x="5569073" y="72684"/>
                </a:cubicBezTo>
                <a:lnTo>
                  <a:pt x="5569073" y="1053850"/>
                </a:lnTo>
                <a:cubicBezTo>
                  <a:pt x="5569073" y="1093992"/>
                  <a:pt x="5536531" y="1126534"/>
                  <a:pt x="5496389" y="1126534"/>
                </a:cubicBezTo>
                <a:lnTo>
                  <a:pt x="36340" y="1126534"/>
                </a:lnTo>
                <a:cubicBezTo>
                  <a:pt x="16270" y="1126534"/>
                  <a:pt x="0" y="1110264"/>
                  <a:pt x="0" y="1090194"/>
                </a:cubicBezTo>
                <a:lnTo>
                  <a:pt x="0" y="36340"/>
                </a:lnTo>
                <a:cubicBezTo>
                  <a:pt x="0" y="16283"/>
                  <a:pt x="16283" y="0"/>
                  <a:pt x="36340" y="0"/>
                </a:cubicBezTo>
                <a:close/>
              </a:path>
            </a:pathLst>
          </a:custGeom>
          <a:solidFill>
            <a:srgbClr val="374151"/>
          </a:solidFill>
          <a:ln/>
        </p:spPr>
      </p:sp>
      <p:sp>
        <p:nvSpPr>
          <p:cNvPr id="14" name="Shape 12"/>
          <p:cNvSpPr/>
          <p:nvPr/>
        </p:nvSpPr>
        <p:spPr>
          <a:xfrm>
            <a:off x="381568" y="3357796"/>
            <a:ext cx="36340" cy="1126534"/>
          </a:xfrm>
          <a:custGeom>
            <a:avLst/>
            <a:gdLst/>
            <a:ahLst/>
            <a:cxnLst/>
            <a:rect l="l" t="t" r="r" b="b"/>
            <a:pathLst>
              <a:path w="36340" h="1126534">
                <a:moveTo>
                  <a:pt x="36340" y="0"/>
                </a:moveTo>
                <a:lnTo>
                  <a:pt x="36340" y="0"/>
                </a:lnTo>
                <a:lnTo>
                  <a:pt x="36340" y="1126534"/>
                </a:lnTo>
                <a:lnTo>
                  <a:pt x="36340" y="1126534"/>
                </a:lnTo>
                <a:cubicBezTo>
                  <a:pt x="16270" y="1126534"/>
                  <a:pt x="0" y="1110264"/>
                  <a:pt x="0" y="1090194"/>
                </a:cubicBezTo>
                <a:lnTo>
                  <a:pt x="0" y="36340"/>
                </a:lnTo>
                <a:cubicBezTo>
                  <a:pt x="0" y="16283"/>
                  <a:pt x="16283" y="0"/>
                  <a:pt x="36340" y="0"/>
                </a:cubicBezTo>
                <a:close/>
              </a:path>
            </a:pathLst>
          </a:custGeom>
          <a:solidFill>
            <a:srgbClr val="10B981"/>
          </a:solidFill>
          <a:ln/>
        </p:spPr>
      </p:sp>
      <p:sp>
        <p:nvSpPr>
          <p:cNvPr id="15" name="Shape 13"/>
          <p:cNvSpPr/>
          <p:nvPr/>
        </p:nvSpPr>
        <p:spPr>
          <a:xfrm>
            <a:off x="581437" y="3539495"/>
            <a:ext cx="436077" cy="436077"/>
          </a:xfrm>
          <a:custGeom>
            <a:avLst/>
            <a:gdLst/>
            <a:ahLst/>
            <a:cxnLst/>
            <a:rect l="l" t="t" r="r" b="b"/>
            <a:pathLst>
              <a:path w="436077" h="436077">
                <a:moveTo>
                  <a:pt x="218039" y="0"/>
                </a:moveTo>
                <a:lnTo>
                  <a:pt x="218039" y="0"/>
                </a:lnTo>
                <a:cubicBezTo>
                  <a:pt x="338458" y="0"/>
                  <a:pt x="436077" y="97619"/>
                  <a:pt x="436077" y="218039"/>
                </a:cubicBezTo>
                <a:lnTo>
                  <a:pt x="436077" y="218039"/>
                </a:lnTo>
                <a:cubicBezTo>
                  <a:pt x="436077" y="338458"/>
                  <a:pt x="338458" y="436077"/>
                  <a:pt x="218039" y="436077"/>
                </a:cubicBezTo>
                <a:lnTo>
                  <a:pt x="218039" y="436077"/>
                </a:lnTo>
                <a:cubicBezTo>
                  <a:pt x="97619" y="436077"/>
                  <a:pt x="0" y="338458"/>
                  <a:pt x="0" y="218039"/>
                </a:cubicBezTo>
                <a:lnTo>
                  <a:pt x="0" y="218039"/>
                </a:lnTo>
                <a:cubicBezTo>
                  <a:pt x="0" y="97619"/>
                  <a:pt x="97619" y="0"/>
                  <a:pt x="218039" y="0"/>
                </a:cubicBezTo>
                <a:close/>
              </a:path>
            </a:pathLst>
          </a:custGeom>
          <a:solidFill>
            <a:srgbClr val="10B981">
              <a:alpha val="20000"/>
            </a:srgbClr>
          </a:solidFill>
          <a:ln/>
        </p:spPr>
      </p:sp>
      <p:sp>
        <p:nvSpPr>
          <p:cNvPr id="16" name="Text 14"/>
          <p:cNvSpPr/>
          <p:nvPr/>
        </p:nvSpPr>
        <p:spPr>
          <a:xfrm>
            <a:off x="694090" y="3630345"/>
            <a:ext cx="299803" cy="254379"/>
          </a:xfrm>
          <a:prstGeom prst="rect">
            <a:avLst/>
          </a:prstGeom>
          <a:noFill/>
          <a:ln/>
        </p:spPr>
        <p:txBody>
          <a:bodyPr wrap="square" lIns="0" tIns="0" rIns="0" bIns="0" rtlCol="0" anchor="ctr"/>
          <a:lstStyle/>
          <a:p>
            <a:pPr>
              <a:lnSpc>
                <a:spcPct val="120000"/>
              </a:lnSpc>
            </a:pPr>
            <a:r>
              <a:rPr lang="en-US" sz="1431" b="1" dirty="0">
                <a:solidFill>
                  <a:srgbClr val="10B981"/>
                </a:solidFill>
                <a:latin typeface="Quattrocento Sans" pitchFamily="34" charset="0"/>
                <a:ea typeface="Quattrocento Sans" pitchFamily="34" charset="-122"/>
                <a:cs typeface="Quattrocento Sans" pitchFamily="34" charset="-120"/>
              </a:rPr>
              <a:t>02</a:t>
            </a:r>
            <a:endParaRPr lang="en-US" sz="1600" dirty="0"/>
          </a:p>
        </p:txBody>
      </p:sp>
      <p:sp>
        <p:nvSpPr>
          <p:cNvPr id="17" name="Text 15"/>
          <p:cNvSpPr/>
          <p:nvPr/>
        </p:nvSpPr>
        <p:spPr>
          <a:xfrm>
            <a:off x="1162873" y="3539495"/>
            <a:ext cx="4687833" cy="254379"/>
          </a:xfrm>
          <a:prstGeom prst="rect">
            <a:avLst/>
          </a:prstGeom>
          <a:noFill/>
          <a:ln/>
        </p:spPr>
        <p:txBody>
          <a:bodyPr wrap="square" lIns="0" tIns="0" rIns="0" bIns="0" rtlCol="0" anchor="ctr"/>
          <a:lstStyle/>
          <a:p>
            <a:pPr>
              <a:lnSpc>
                <a:spcPct val="130000"/>
              </a:lnSpc>
            </a:pPr>
            <a:r>
              <a:rPr lang="en-US" sz="1288" b="1" dirty="0">
                <a:solidFill>
                  <a:srgbClr val="F9FAFB"/>
                </a:solidFill>
                <a:latin typeface="Quattrocento Sans" pitchFamily="34" charset="0"/>
                <a:ea typeface="Quattrocento Sans" pitchFamily="34" charset="-122"/>
                <a:cs typeface="Quattrocento Sans" pitchFamily="34" charset="-120"/>
              </a:rPr>
              <a:t>Same Units, Two Conditions</a:t>
            </a:r>
            <a:endParaRPr lang="en-US" sz="1600" dirty="0"/>
          </a:p>
        </p:txBody>
      </p:sp>
      <p:sp>
        <p:nvSpPr>
          <p:cNvPr id="18" name="Text 16"/>
          <p:cNvSpPr/>
          <p:nvPr/>
        </p:nvSpPr>
        <p:spPr>
          <a:xfrm>
            <a:off x="1162873" y="3866554"/>
            <a:ext cx="4678748" cy="436077"/>
          </a:xfrm>
          <a:prstGeom prst="rect">
            <a:avLst/>
          </a:prstGeom>
          <a:noFill/>
          <a:ln/>
        </p:spPr>
        <p:txBody>
          <a:bodyPr wrap="square" lIns="0" tIns="0" rIns="0" bIns="0" rtlCol="0" anchor="ctr"/>
          <a:lstStyle/>
          <a:p>
            <a:pPr>
              <a:lnSpc>
                <a:spcPct val="130000"/>
              </a:lnSpc>
            </a:pPr>
            <a:r>
              <a:rPr lang="en-US" sz="1145" b="1" dirty="0">
                <a:solidFill>
                  <a:srgbClr val="F9FAFB">
                    <a:alpha val="70000"/>
                  </a:srgbClr>
                </a:solidFill>
                <a:latin typeface="Quattrocento Sans" pitchFamily="34" charset="0"/>
                <a:ea typeface="Quattrocento Sans" pitchFamily="34" charset="-122"/>
                <a:cs typeface="Quattrocento Sans" pitchFamily="34" charset="-120"/>
              </a:rPr>
              <a:t>A/B testing</a:t>
            </a:r>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 on the same users, machines, or stores under different conditions</a:t>
            </a:r>
            <a:endParaRPr lang="en-US" sz="1600" dirty="0"/>
          </a:p>
        </p:txBody>
      </p:sp>
      <p:sp>
        <p:nvSpPr>
          <p:cNvPr id="19" name="Shape 17"/>
          <p:cNvSpPr/>
          <p:nvPr/>
        </p:nvSpPr>
        <p:spPr>
          <a:xfrm>
            <a:off x="381568" y="4629690"/>
            <a:ext cx="5569073" cy="1126534"/>
          </a:xfrm>
          <a:custGeom>
            <a:avLst/>
            <a:gdLst/>
            <a:ahLst/>
            <a:cxnLst/>
            <a:rect l="l" t="t" r="r" b="b"/>
            <a:pathLst>
              <a:path w="5569073" h="1126534">
                <a:moveTo>
                  <a:pt x="36340" y="0"/>
                </a:moveTo>
                <a:lnTo>
                  <a:pt x="5496389" y="0"/>
                </a:lnTo>
                <a:cubicBezTo>
                  <a:pt x="5536531" y="0"/>
                  <a:pt x="5569073" y="32542"/>
                  <a:pt x="5569073" y="72684"/>
                </a:cubicBezTo>
                <a:lnTo>
                  <a:pt x="5569073" y="1053850"/>
                </a:lnTo>
                <a:cubicBezTo>
                  <a:pt x="5569073" y="1093992"/>
                  <a:pt x="5536531" y="1126534"/>
                  <a:pt x="5496389" y="1126534"/>
                </a:cubicBezTo>
                <a:lnTo>
                  <a:pt x="36340" y="1126534"/>
                </a:lnTo>
                <a:cubicBezTo>
                  <a:pt x="16270" y="1126534"/>
                  <a:pt x="0" y="1110264"/>
                  <a:pt x="0" y="1090194"/>
                </a:cubicBezTo>
                <a:lnTo>
                  <a:pt x="0" y="36340"/>
                </a:lnTo>
                <a:cubicBezTo>
                  <a:pt x="0" y="16283"/>
                  <a:pt x="16283" y="0"/>
                  <a:pt x="36340" y="0"/>
                </a:cubicBezTo>
                <a:close/>
              </a:path>
            </a:pathLst>
          </a:custGeom>
          <a:solidFill>
            <a:srgbClr val="374151"/>
          </a:solidFill>
          <a:ln/>
        </p:spPr>
      </p:sp>
      <p:sp>
        <p:nvSpPr>
          <p:cNvPr id="20" name="Shape 18"/>
          <p:cNvSpPr/>
          <p:nvPr/>
        </p:nvSpPr>
        <p:spPr>
          <a:xfrm>
            <a:off x="381568" y="4629690"/>
            <a:ext cx="36340" cy="1126534"/>
          </a:xfrm>
          <a:custGeom>
            <a:avLst/>
            <a:gdLst/>
            <a:ahLst/>
            <a:cxnLst/>
            <a:rect l="l" t="t" r="r" b="b"/>
            <a:pathLst>
              <a:path w="36340" h="1126534">
                <a:moveTo>
                  <a:pt x="36340" y="0"/>
                </a:moveTo>
                <a:lnTo>
                  <a:pt x="36340" y="0"/>
                </a:lnTo>
                <a:lnTo>
                  <a:pt x="36340" y="1126534"/>
                </a:lnTo>
                <a:lnTo>
                  <a:pt x="36340" y="1126534"/>
                </a:lnTo>
                <a:cubicBezTo>
                  <a:pt x="16270" y="1126534"/>
                  <a:pt x="0" y="1110264"/>
                  <a:pt x="0" y="1090194"/>
                </a:cubicBezTo>
                <a:lnTo>
                  <a:pt x="0" y="36340"/>
                </a:lnTo>
                <a:cubicBezTo>
                  <a:pt x="0" y="16283"/>
                  <a:pt x="16283" y="0"/>
                  <a:pt x="36340" y="0"/>
                </a:cubicBezTo>
                <a:close/>
              </a:path>
            </a:pathLst>
          </a:custGeom>
          <a:solidFill>
            <a:srgbClr val="10B981"/>
          </a:solidFill>
          <a:ln/>
        </p:spPr>
      </p:sp>
      <p:sp>
        <p:nvSpPr>
          <p:cNvPr id="21" name="Shape 19"/>
          <p:cNvSpPr/>
          <p:nvPr/>
        </p:nvSpPr>
        <p:spPr>
          <a:xfrm>
            <a:off x="581437" y="4811389"/>
            <a:ext cx="436077" cy="436077"/>
          </a:xfrm>
          <a:custGeom>
            <a:avLst/>
            <a:gdLst/>
            <a:ahLst/>
            <a:cxnLst/>
            <a:rect l="l" t="t" r="r" b="b"/>
            <a:pathLst>
              <a:path w="436077" h="436077">
                <a:moveTo>
                  <a:pt x="218039" y="0"/>
                </a:moveTo>
                <a:lnTo>
                  <a:pt x="218039" y="0"/>
                </a:lnTo>
                <a:cubicBezTo>
                  <a:pt x="338458" y="0"/>
                  <a:pt x="436077" y="97619"/>
                  <a:pt x="436077" y="218039"/>
                </a:cubicBezTo>
                <a:lnTo>
                  <a:pt x="436077" y="218039"/>
                </a:lnTo>
                <a:cubicBezTo>
                  <a:pt x="436077" y="338458"/>
                  <a:pt x="338458" y="436077"/>
                  <a:pt x="218039" y="436077"/>
                </a:cubicBezTo>
                <a:lnTo>
                  <a:pt x="218039" y="436077"/>
                </a:lnTo>
                <a:cubicBezTo>
                  <a:pt x="97619" y="436077"/>
                  <a:pt x="0" y="338458"/>
                  <a:pt x="0" y="218039"/>
                </a:cubicBezTo>
                <a:lnTo>
                  <a:pt x="0" y="218039"/>
                </a:lnTo>
                <a:cubicBezTo>
                  <a:pt x="0" y="97619"/>
                  <a:pt x="97619" y="0"/>
                  <a:pt x="218039" y="0"/>
                </a:cubicBezTo>
                <a:close/>
              </a:path>
            </a:pathLst>
          </a:custGeom>
          <a:solidFill>
            <a:srgbClr val="10B981">
              <a:alpha val="20000"/>
            </a:srgbClr>
          </a:solidFill>
          <a:ln/>
        </p:spPr>
      </p:sp>
      <p:sp>
        <p:nvSpPr>
          <p:cNvPr id="22" name="Text 20"/>
          <p:cNvSpPr/>
          <p:nvPr/>
        </p:nvSpPr>
        <p:spPr>
          <a:xfrm>
            <a:off x="694090" y="4902239"/>
            <a:ext cx="299803" cy="254379"/>
          </a:xfrm>
          <a:prstGeom prst="rect">
            <a:avLst/>
          </a:prstGeom>
          <a:noFill/>
          <a:ln/>
        </p:spPr>
        <p:txBody>
          <a:bodyPr wrap="square" lIns="0" tIns="0" rIns="0" bIns="0" rtlCol="0" anchor="ctr"/>
          <a:lstStyle/>
          <a:p>
            <a:pPr>
              <a:lnSpc>
                <a:spcPct val="120000"/>
              </a:lnSpc>
            </a:pPr>
            <a:r>
              <a:rPr lang="en-US" sz="1431" b="1" dirty="0">
                <a:solidFill>
                  <a:srgbClr val="10B981"/>
                </a:solidFill>
                <a:latin typeface="Quattrocento Sans" pitchFamily="34" charset="0"/>
                <a:ea typeface="Quattrocento Sans" pitchFamily="34" charset="-122"/>
                <a:cs typeface="Quattrocento Sans" pitchFamily="34" charset="-120"/>
              </a:rPr>
              <a:t>03</a:t>
            </a:r>
            <a:endParaRPr lang="en-US" sz="1600" dirty="0"/>
          </a:p>
        </p:txBody>
      </p:sp>
      <p:sp>
        <p:nvSpPr>
          <p:cNvPr id="23" name="Text 21"/>
          <p:cNvSpPr/>
          <p:nvPr/>
        </p:nvSpPr>
        <p:spPr>
          <a:xfrm>
            <a:off x="1162873" y="4811389"/>
            <a:ext cx="4687833" cy="254379"/>
          </a:xfrm>
          <a:prstGeom prst="rect">
            <a:avLst/>
          </a:prstGeom>
          <a:noFill/>
          <a:ln/>
        </p:spPr>
        <p:txBody>
          <a:bodyPr wrap="square" lIns="0" tIns="0" rIns="0" bIns="0" rtlCol="0" anchor="ctr"/>
          <a:lstStyle/>
          <a:p>
            <a:pPr>
              <a:lnSpc>
                <a:spcPct val="130000"/>
              </a:lnSpc>
            </a:pPr>
            <a:r>
              <a:rPr lang="en-US" sz="1288" b="1" dirty="0">
                <a:solidFill>
                  <a:srgbClr val="F9FAFB"/>
                </a:solidFill>
                <a:latin typeface="Quattrocento Sans" pitchFamily="34" charset="0"/>
                <a:ea typeface="Quattrocento Sans" pitchFamily="34" charset="-122"/>
                <a:cs typeface="Quattrocento Sans" pitchFamily="34" charset="-120"/>
              </a:rPr>
              <a:t>Matched Pairs</a:t>
            </a:r>
            <a:endParaRPr lang="en-US" sz="1600" dirty="0"/>
          </a:p>
        </p:txBody>
      </p:sp>
      <p:sp>
        <p:nvSpPr>
          <p:cNvPr id="24" name="Text 22"/>
          <p:cNvSpPr/>
          <p:nvPr/>
        </p:nvSpPr>
        <p:spPr>
          <a:xfrm>
            <a:off x="1162873" y="5138447"/>
            <a:ext cx="4678748" cy="436077"/>
          </a:xfrm>
          <a:prstGeom prst="rect">
            <a:avLst/>
          </a:prstGeom>
          <a:noFill/>
          <a:ln/>
        </p:spPr>
        <p:txBody>
          <a:bodyPr wrap="square" lIns="0" tIns="0" rIns="0" bIns="0" rtlCol="0" anchor="ctr"/>
          <a:lstStyle/>
          <a:p>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Naturally paired subjects like </a:t>
            </a:r>
            <a:pPr>
              <a:lnSpc>
                <a:spcPct val="130000"/>
              </a:lnSpc>
            </a:pPr>
            <a:r>
              <a:rPr lang="en-US" sz="1145" b="1" dirty="0">
                <a:solidFill>
                  <a:srgbClr val="F9FAFB">
                    <a:alpha val="70000"/>
                  </a:srgbClr>
                </a:solidFill>
                <a:latin typeface="Quattrocento Sans" pitchFamily="34" charset="0"/>
                <a:ea typeface="Quattrocento Sans" pitchFamily="34" charset="-122"/>
                <a:cs typeface="Quattrocento Sans" pitchFamily="34" charset="-120"/>
              </a:rPr>
              <a:t>twins, spouses,</a:t>
            </a:r>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 or </a:t>
            </a:r>
            <a:pPr>
              <a:lnSpc>
                <a:spcPct val="130000"/>
              </a:lnSpc>
            </a:pPr>
            <a:r>
              <a:rPr lang="en-US" sz="1145" b="1" dirty="0">
                <a:solidFill>
                  <a:srgbClr val="F9FAFB">
                    <a:alpha val="70000"/>
                  </a:srgbClr>
                </a:solidFill>
                <a:latin typeface="Quattrocento Sans" pitchFamily="34" charset="0"/>
                <a:ea typeface="Quattrocento Sans" pitchFamily="34" charset="-122"/>
                <a:cs typeface="Quattrocento Sans" pitchFamily="34" charset="-120"/>
              </a:rPr>
              <a:t>similar stores</a:t>
            </a:r>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 in different locations</a:t>
            </a:r>
            <a:endParaRPr lang="en-US" sz="1600" dirty="0"/>
          </a:p>
        </p:txBody>
      </p:sp>
      <p:sp>
        <p:nvSpPr>
          <p:cNvPr id="25" name="Shape 23"/>
          <p:cNvSpPr/>
          <p:nvPr/>
        </p:nvSpPr>
        <p:spPr>
          <a:xfrm>
            <a:off x="6245902" y="1275527"/>
            <a:ext cx="5585426" cy="625044"/>
          </a:xfrm>
          <a:custGeom>
            <a:avLst/>
            <a:gdLst/>
            <a:ahLst/>
            <a:cxnLst/>
            <a:rect l="l" t="t" r="r" b="b"/>
            <a:pathLst>
              <a:path w="5585426" h="625044">
                <a:moveTo>
                  <a:pt x="72680" y="0"/>
                </a:moveTo>
                <a:lnTo>
                  <a:pt x="5512746" y="0"/>
                </a:lnTo>
                <a:cubicBezTo>
                  <a:pt x="5552886" y="0"/>
                  <a:pt x="5585426" y="32540"/>
                  <a:pt x="5585426" y="72680"/>
                </a:cubicBezTo>
                <a:lnTo>
                  <a:pt x="5585426" y="552364"/>
                </a:lnTo>
                <a:cubicBezTo>
                  <a:pt x="5585426" y="592504"/>
                  <a:pt x="5552886" y="625044"/>
                  <a:pt x="5512746" y="625044"/>
                </a:cubicBezTo>
                <a:lnTo>
                  <a:pt x="72680" y="625044"/>
                </a:lnTo>
                <a:cubicBezTo>
                  <a:pt x="32567" y="625044"/>
                  <a:pt x="0" y="592478"/>
                  <a:pt x="0" y="552364"/>
                </a:cubicBezTo>
                <a:lnTo>
                  <a:pt x="0" y="72680"/>
                </a:lnTo>
                <a:cubicBezTo>
                  <a:pt x="0" y="32567"/>
                  <a:pt x="32567" y="0"/>
                  <a:pt x="72680" y="0"/>
                </a:cubicBezTo>
                <a:close/>
              </a:path>
            </a:pathLst>
          </a:custGeom>
          <a:solidFill>
            <a:srgbClr val="EF4444">
              <a:alpha val="10196"/>
            </a:srgbClr>
          </a:solidFill>
          <a:ln w="10160">
            <a:solidFill>
              <a:srgbClr val="EF4444">
                <a:alpha val="30196"/>
              </a:srgbClr>
            </a:solidFill>
            <a:prstDash val="solid"/>
          </a:ln>
        </p:spPr>
      </p:sp>
      <p:sp>
        <p:nvSpPr>
          <p:cNvPr id="26" name="Shape 24"/>
          <p:cNvSpPr/>
          <p:nvPr/>
        </p:nvSpPr>
        <p:spPr>
          <a:xfrm>
            <a:off x="6431235" y="1451775"/>
            <a:ext cx="272548" cy="272548"/>
          </a:xfrm>
          <a:custGeom>
            <a:avLst/>
            <a:gdLst/>
            <a:ahLst/>
            <a:cxnLst/>
            <a:rect l="l" t="t" r="r" b="b"/>
            <a:pathLst>
              <a:path w="272548" h="272548">
                <a:moveTo>
                  <a:pt x="136274" y="272548"/>
                </a:moveTo>
                <a:cubicBezTo>
                  <a:pt x="211486" y="272548"/>
                  <a:pt x="272548" y="211486"/>
                  <a:pt x="272548" y="136274"/>
                </a:cubicBezTo>
                <a:cubicBezTo>
                  <a:pt x="272548" y="61062"/>
                  <a:pt x="211486" y="0"/>
                  <a:pt x="136274" y="0"/>
                </a:cubicBezTo>
                <a:cubicBezTo>
                  <a:pt x="61062" y="0"/>
                  <a:pt x="0" y="61062"/>
                  <a:pt x="0" y="136274"/>
                </a:cubicBezTo>
                <a:cubicBezTo>
                  <a:pt x="0" y="211486"/>
                  <a:pt x="61062" y="272548"/>
                  <a:pt x="136274" y="272548"/>
                </a:cubicBezTo>
                <a:close/>
                <a:moveTo>
                  <a:pt x="88898" y="88898"/>
                </a:moveTo>
                <a:cubicBezTo>
                  <a:pt x="93901" y="83894"/>
                  <a:pt x="101993" y="83894"/>
                  <a:pt x="106943" y="88898"/>
                </a:cubicBezTo>
                <a:lnTo>
                  <a:pt x="136221" y="118175"/>
                </a:lnTo>
                <a:lnTo>
                  <a:pt x="165499" y="88898"/>
                </a:lnTo>
                <a:cubicBezTo>
                  <a:pt x="170502" y="83894"/>
                  <a:pt x="178594" y="83894"/>
                  <a:pt x="183544" y="88898"/>
                </a:cubicBezTo>
                <a:cubicBezTo>
                  <a:pt x="188495" y="93901"/>
                  <a:pt x="188548" y="101993"/>
                  <a:pt x="183544" y="106943"/>
                </a:cubicBezTo>
                <a:lnTo>
                  <a:pt x="154267" y="136221"/>
                </a:lnTo>
                <a:lnTo>
                  <a:pt x="183544" y="165499"/>
                </a:lnTo>
                <a:cubicBezTo>
                  <a:pt x="188548" y="170502"/>
                  <a:pt x="188548" y="178594"/>
                  <a:pt x="183544" y="183544"/>
                </a:cubicBezTo>
                <a:cubicBezTo>
                  <a:pt x="178541" y="188495"/>
                  <a:pt x="170449" y="188548"/>
                  <a:pt x="165499" y="183544"/>
                </a:cubicBezTo>
                <a:lnTo>
                  <a:pt x="136221" y="154267"/>
                </a:lnTo>
                <a:lnTo>
                  <a:pt x="106943" y="183544"/>
                </a:lnTo>
                <a:cubicBezTo>
                  <a:pt x="101940" y="188548"/>
                  <a:pt x="93848" y="188548"/>
                  <a:pt x="88898" y="183544"/>
                </a:cubicBezTo>
                <a:cubicBezTo>
                  <a:pt x="83947" y="178541"/>
                  <a:pt x="83894" y="170449"/>
                  <a:pt x="88898" y="165499"/>
                </a:cubicBezTo>
                <a:lnTo>
                  <a:pt x="118175" y="136221"/>
                </a:lnTo>
                <a:lnTo>
                  <a:pt x="88898" y="106943"/>
                </a:lnTo>
                <a:cubicBezTo>
                  <a:pt x="83894" y="101940"/>
                  <a:pt x="83894" y="93848"/>
                  <a:pt x="88898" y="88898"/>
                </a:cubicBezTo>
                <a:close/>
              </a:path>
            </a:pathLst>
          </a:custGeom>
          <a:solidFill>
            <a:srgbClr val="EF4444"/>
          </a:solidFill>
          <a:ln/>
        </p:spPr>
      </p:sp>
      <p:sp>
        <p:nvSpPr>
          <p:cNvPr id="27" name="Text 25"/>
          <p:cNvSpPr/>
          <p:nvPr/>
        </p:nvSpPr>
        <p:spPr>
          <a:xfrm>
            <a:off x="6740123" y="1424520"/>
            <a:ext cx="5078486" cy="327058"/>
          </a:xfrm>
          <a:prstGeom prst="rect">
            <a:avLst/>
          </a:prstGeom>
          <a:noFill/>
          <a:ln/>
        </p:spPr>
        <p:txBody>
          <a:bodyPr wrap="square" lIns="0" tIns="0" rIns="0" bIns="0" rtlCol="0" anchor="ctr"/>
          <a:lstStyle/>
          <a:p>
            <a:pPr>
              <a:lnSpc>
                <a:spcPct val="100000"/>
              </a:lnSpc>
            </a:pPr>
            <a:r>
              <a:rPr lang="en-US" sz="2146" b="1" dirty="0">
                <a:solidFill>
                  <a:srgbClr val="EF4444"/>
                </a:solidFill>
                <a:latin typeface="Liter" pitchFamily="34" charset="0"/>
                <a:ea typeface="Liter" pitchFamily="34" charset="-122"/>
                <a:cs typeface="Liter" pitchFamily="34" charset="-120"/>
              </a:rPr>
              <a:t>DON'T USE</a:t>
            </a:r>
            <a:endParaRPr lang="en-US" sz="1600" dirty="0"/>
          </a:p>
        </p:txBody>
      </p:sp>
      <p:sp>
        <p:nvSpPr>
          <p:cNvPr id="28" name="Shape 26"/>
          <p:cNvSpPr/>
          <p:nvPr/>
        </p:nvSpPr>
        <p:spPr>
          <a:xfrm>
            <a:off x="6260438" y="2085904"/>
            <a:ext cx="5569073" cy="908495"/>
          </a:xfrm>
          <a:custGeom>
            <a:avLst/>
            <a:gdLst/>
            <a:ahLst/>
            <a:cxnLst/>
            <a:rect l="l" t="t" r="r" b="b"/>
            <a:pathLst>
              <a:path w="5569073" h="908495">
                <a:moveTo>
                  <a:pt x="36340" y="0"/>
                </a:moveTo>
                <a:lnTo>
                  <a:pt x="5496393" y="0"/>
                </a:lnTo>
                <a:cubicBezTo>
                  <a:pt x="5536533" y="0"/>
                  <a:pt x="5569073" y="32540"/>
                  <a:pt x="5569073" y="72680"/>
                </a:cubicBezTo>
                <a:lnTo>
                  <a:pt x="5569073" y="835815"/>
                </a:lnTo>
                <a:cubicBezTo>
                  <a:pt x="5569073" y="875955"/>
                  <a:pt x="5536533" y="908495"/>
                  <a:pt x="5496393" y="908495"/>
                </a:cubicBezTo>
                <a:lnTo>
                  <a:pt x="36340" y="908495"/>
                </a:lnTo>
                <a:cubicBezTo>
                  <a:pt x="16270" y="908495"/>
                  <a:pt x="0" y="892225"/>
                  <a:pt x="0" y="872155"/>
                </a:cubicBezTo>
                <a:lnTo>
                  <a:pt x="0" y="36340"/>
                </a:lnTo>
                <a:cubicBezTo>
                  <a:pt x="0" y="16283"/>
                  <a:pt x="16283" y="0"/>
                  <a:pt x="36340" y="0"/>
                </a:cubicBezTo>
                <a:close/>
              </a:path>
            </a:pathLst>
          </a:custGeom>
          <a:solidFill>
            <a:srgbClr val="374151"/>
          </a:solidFill>
          <a:ln/>
        </p:spPr>
      </p:sp>
      <p:sp>
        <p:nvSpPr>
          <p:cNvPr id="29" name="Shape 27"/>
          <p:cNvSpPr/>
          <p:nvPr/>
        </p:nvSpPr>
        <p:spPr>
          <a:xfrm>
            <a:off x="6260438" y="2085904"/>
            <a:ext cx="36340" cy="908495"/>
          </a:xfrm>
          <a:custGeom>
            <a:avLst/>
            <a:gdLst/>
            <a:ahLst/>
            <a:cxnLst/>
            <a:rect l="l" t="t" r="r" b="b"/>
            <a:pathLst>
              <a:path w="36340" h="908495">
                <a:moveTo>
                  <a:pt x="36340" y="0"/>
                </a:moveTo>
                <a:lnTo>
                  <a:pt x="36340" y="0"/>
                </a:lnTo>
                <a:lnTo>
                  <a:pt x="36340" y="908495"/>
                </a:lnTo>
                <a:lnTo>
                  <a:pt x="36340" y="908495"/>
                </a:lnTo>
                <a:cubicBezTo>
                  <a:pt x="16270" y="908495"/>
                  <a:pt x="0" y="892225"/>
                  <a:pt x="0" y="872155"/>
                </a:cubicBezTo>
                <a:lnTo>
                  <a:pt x="0" y="36340"/>
                </a:lnTo>
                <a:cubicBezTo>
                  <a:pt x="0" y="16283"/>
                  <a:pt x="16283" y="0"/>
                  <a:pt x="36340" y="0"/>
                </a:cubicBezTo>
                <a:close/>
              </a:path>
            </a:pathLst>
          </a:custGeom>
          <a:solidFill>
            <a:srgbClr val="EF4444"/>
          </a:solidFill>
          <a:ln/>
        </p:spPr>
      </p:sp>
      <p:sp>
        <p:nvSpPr>
          <p:cNvPr id="30" name="Shape 28"/>
          <p:cNvSpPr/>
          <p:nvPr/>
        </p:nvSpPr>
        <p:spPr>
          <a:xfrm>
            <a:off x="6460307" y="2267603"/>
            <a:ext cx="436077" cy="436077"/>
          </a:xfrm>
          <a:custGeom>
            <a:avLst/>
            <a:gdLst/>
            <a:ahLst/>
            <a:cxnLst/>
            <a:rect l="l" t="t" r="r" b="b"/>
            <a:pathLst>
              <a:path w="436077" h="436077">
                <a:moveTo>
                  <a:pt x="218039" y="0"/>
                </a:moveTo>
                <a:lnTo>
                  <a:pt x="218039" y="0"/>
                </a:lnTo>
                <a:cubicBezTo>
                  <a:pt x="338458" y="0"/>
                  <a:pt x="436077" y="97619"/>
                  <a:pt x="436077" y="218039"/>
                </a:cubicBezTo>
                <a:lnTo>
                  <a:pt x="436077" y="218039"/>
                </a:lnTo>
                <a:cubicBezTo>
                  <a:pt x="436077" y="338458"/>
                  <a:pt x="338458" y="436077"/>
                  <a:pt x="218039" y="436077"/>
                </a:cubicBezTo>
                <a:lnTo>
                  <a:pt x="218039" y="436077"/>
                </a:lnTo>
                <a:cubicBezTo>
                  <a:pt x="97619" y="436077"/>
                  <a:pt x="0" y="338458"/>
                  <a:pt x="0" y="218039"/>
                </a:cubicBezTo>
                <a:lnTo>
                  <a:pt x="0" y="218039"/>
                </a:lnTo>
                <a:cubicBezTo>
                  <a:pt x="0" y="97619"/>
                  <a:pt x="97619" y="0"/>
                  <a:pt x="218039" y="0"/>
                </a:cubicBezTo>
                <a:close/>
              </a:path>
            </a:pathLst>
          </a:custGeom>
          <a:solidFill>
            <a:srgbClr val="EF4444">
              <a:alpha val="20000"/>
            </a:srgbClr>
          </a:solidFill>
          <a:ln/>
        </p:spPr>
      </p:sp>
      <p:sp>
        <p:nvSpPr>
          <p:cNvPr id="31" name="Text 29"/>
          <p:cNvSpPr/>
          <p:nvPr/>
        </p:nvSpPr>
        <p:spPr>
          <a:xfrm>
            <a:off x="6605666" y="2358452"/>
            <a:ext cx="236209" cy="254379"/>
          </a:xfrm>
          <a:prstGeom prst="rect">
            <a:avLst/>
          </a:prstGeom>
          <a:noFill/>
          <a:ln/>
        </p:spPr>
        <p:txBody>
          <a:bodyPr wrap="square" lIns="0" tIns="0" rIns="0" bIns="0" rtlCol="0" anchor="ctr"/>
          <a:lstStyle/>
          <a:p>
            <a:pPr>
              <a:lnSpc>
                <a:spcPct val="120000"/>
              </a:lnSpc>
            </a:pPr>
            <a:r>
              <a:rPr lang="en-US" sz="1431" b="1" dirty="0">
                <a:solidFill>
                  <a:srgbClr val="EF4444"/>
                </a:solidFill>
                <a:latin typeface="Quattrocento Sans" pitchFamily="34" charset="0"/>
                <a:ea typeface="Quattrocento Sans" pitchFamily="34" charset="-122"/>
                <a:cs typeface="Quattrocento Sans" pitchFamily="34" charset="-120"/>
              </a:rPr>
              <a:t>✗</a:t>
            </a:r>
            <a:endParaRPr lang="en-US" sz="1600" dirty="0"/>
          </a:p>
        </p:txBody>
      </p:sp>
      <p:sp>
        <p:nvSpPr>
          <p:cNvPr id="32" name="Text 30"/>
          <p:cNvSpPr/>
          <p:nvPr/>
        </p:nvSpPr>
        <p:spPr>
          <a:xfrm>
            <a:off x="7041743" y="2267603"/>
            <a:ext cx="4315350" cy="254379"/>
          </a:xfrm>
          <a:prstGeom prst="rect">
            <a:avLst/>
          </a:prstGeom>
          <a:noFill/>
          <a:ln/>
        </p:spPr>
        <p:txBody>
          <a:bodyPr wrap="square" lIns="0" tIns="0" rIns="0" bIns="0" rtlCol="0" anchor="ctr"/>
          <a:lstStyle/>
          <a:p>
            <a:pPr>
              <a:lnSpc>
                <a:spcPct val="130000"/>
              </a:lnSpc>
            </a:pPr>
            <a:r>
              <a:rPr lang="en-US" sz="1288" b="1" dirty="0">
                <a:solidFill>
                  <a:srgbClr val="F9FAFB"/>
                </a:solidFill>
                <a:latin typeface="Quattrocento Sans" pitchFamily="34" charset="0"/>
                <a:ea typeface="Quattrocento Sans" pitchFamily="34" charset="-122"/>
                <a:cs typeface="Quattrocento Sans" pitchFamily="34" charset="-120"/>
              </a:rPr>
              <a:t>Different People in Each Group</a:t>
            </a:r>
            <a:endParaRPr lang="en-US" sz="1600" dirty="0"/>
          </a:p>
        </p:txBody>
      </p:sp>
      <p:sp>
        <p:nvSpPr>
          <p:cNvPr id="33" name="Text 31"/>
          <p:cNvSpPr/>
          <p:nvPr/>
        </p:nvSpPr>
        <p:spPr>
          <a:xfrm>
            <a:off x="7041743" y="2594661"/>
            <a:ext cx="4306265" cy="218039"/>
          </a:xfrm>
          <a:prstGeom prst="rect">
            <a:avLst/>
          </a:prstGeom>
          <a:noFill/>
          <a:ln/>
        </p:spPr>
        <p:txBody>
          <a:bodyPr wrap="square" lIns="0" tIns="0" rIns="0" bIns="0" rtlCol="0" anchor="ctr"/>
          <a:lstStyle/>
          <a:p>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Independent samples with </a:t>
            </a:r>
            <a:pPr>
              <a:lnSpc>
                <a:spcPct val="130000"/>
              </a:lnSpc>
            </a:pPr>
            <a:r>
              <a:rPr lang="en-US" sz="1145" b="1" dirty="0">
                <a:solidFill>
                  <a:srgbClr val="F9FAFB">
                    <a:alpha val="70000"/>
                  </a:srgbClr>
                </a:solidFill>
                <a:latin typeface="Quattrocento Sans" pitchFamily="34" charset="0"/>
                <a:ea typeface="Quattrocento Sans" pitchFamily="34" charset="-122"/>
                <a:cs typeface="Quattrocento Sans" pitchFamily="34" charset="-120"/>
              </a:rPr>
              <a:t>no natural pairing</a:t>
            </a:r>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 between observations</a:t>
            </a:r>
            <a:endParaRPr lang="en-US" sz="1600" dirty="0"/>
          </a:p>
        </p:txBody>
      </p:sp>
      <p:sp>
        <p:nvSpPr>
          <p:cNvPr id="34" name="Shape 32"/>
          <p:cNvSpPr/>
          <p:nvPr/>
        </p:nvSpPr>
        <p:spPr>
          <a:xfrm>
            <a:off x="6260438" y="3139758"/>
            <a:ext cx="5569073" cy="908495"/>
          </a:xfrm>
          <a:custGeom>
            <a:avLst/>
            <a:gdLst/>
            <a:ahLst/>
            <a:cxnLst/>
            <a:rect l="l" t="t" r="r" b="b"/>
            <a:pathLst>
              <a:path w="5569073" h="908495">
                <a:moveTo>
                  <a:pt x="36340" y="0"/>
                </a:moveTo>
                <a:lnTo>
                  <a:pt x="5496393" y="0"/>
                </a:lnTo>
                <a:cubicBezTo>
                  <a:pt x="5536533" y="0"/>
                  <a:pt x="5569073" y="32540"/>
                  <a:pt x="5569073" y="72680"/>
                </a:cubicBezTo>
                <a:lnTo>
                  <a:pt x="5569073" y="835815"/>
                </a:lnTo>
                <a:cubicBezTo>
                  <a:pt x="5569073" y="875955"/>
                  <a:pt x="5536533" y="908495"/>
                  <a:pt x="5496393" y="908495"/>
                </a:cubicBezTo>
                <a:lnTo>
                  <a:pt x="36340" y="908495"/>
                </a:lnTo>
                <a:cubicBezTo>
                  <a:pt x="16270" y="908495"/>
                  <a:pt x="0" y="892225"/>
                  <a:pt x="0" y="872155"/>
                </a:cubicBezTo>
                <a:lnTo>
                  <a:pt x="0" y="36340"/>
                </a:lnTo>
                <a:cubicBezTo>
                  <a:pt x="0" y="16283"/>
                  <a:pt x="16283" y="0"/>
                  <a:pt x="36340" y="0"/>
                </a:cubicBezTo>
                <a:close/>
              </a:path>
            </a:pathLst>
          </a:custGeom>
          <a:solidFill>
            <a:srgbClr val="374151"/>
          </a:solidFill>
          <a:ln/>
        </p:spPr>
      </p:sp>
      <p:sp>
        <p:nvSpPr>
          <p:cNvPr id="35" name="Shape 33"/>
          <p:cNvSpPr/>
          <p:nvPr/>
        </p:nvSpPr>
        <p:spPr>
          <a:xfrm>
            <a:off x="6260438" y="3139758"/>
            <a:ext cx="36340" cy="908495"/>
          </a:xfrm>
          <a:custGeom>
            <a:avLst/>
            <a:gdLst/>
            <a:ahLst/>
            <a:cxnLst/>
            <a:rect l="l" t="t" r="r" b="b"/>
            <a:pathLst>
              <a:path w="36340" h="908495">
                <a:moveTo>
                  <a:pt x="36340" y="0"/>
                </a:moveTo>
                <a:lnTo>
                  <a:pt x="36340" y="0"/>
                </a:lnTo>
                <a:lnTo>
                  <a:pt x="36340" y="908495"/>
                </a:lnTo>
                <a:lnTo>
                  <a:pt x="36340" y="908495"/>
                </a:lnTo>
                <a:cubicBezTo>
                  <a:pt x="16270" y="908495"/>
                  <a:pt x="0" y="892225"/>
                  <a:pt x="0" y="872155"/>
                </a:cubicBezTo>
                <a:lnTo>
                  <a:pt x="0" y="36340"/>
                </a:lnTo>
                <a:cubicBezTo>
                  <a:pt x="0" y="16283"/>
                  <a:pt x="16283" y="0"/>
                  <a:pt x="36340" y="0"/>
                </a:cubicBezTo>
                <a:close/>
              </a:path>
            </a:pathLst>
          </a:custGeom>
          <a:solidFill>
            <a:srgbClr val="EF4444"/>
          </a:solidFill>
          <a:ln/>
        </p:spPr>
      </p:sp>
      <p:sp>
        <p:nvSpPr>
          <p:cNvPr id="36" name="Shape 34"/>
          <p:cNvSpPr/>
          <p:nvPr/>
        </p:nvSpPr>
        <p:spPr>
          <a:xfrm>
            <a:off x="6460307" y="3321457"/>
            <a:ext cx="436077" cy="436077"/>
          </a:xfrm>
          <a:custGeom>
            <a:avLst/>
            <a:gdLst/>
            <a:ahLst/>
            <a:cxnLst/>
            <a:rect l="l" t="t" r="r" b="b"/>
            <a:pathLst>
              <a:path w="436077" h="436077">
                <a:moveTo>
                  <a:pt x="218039" y="0"/>
                </a:moveTo>
                <a:lnTo>
                  <a:pt x="218039" y="0"/>
                </a:lnTo>
                <a:cubicBezTo>
                  <a:pt x="338458" y="0"/>
                  <a:pt x="436077" y="97619"/>
                  <a:pt x="436077" y="218039"/>
                </a:cubicBezTo>
                <a:lnTo>
                  <a:pt x="436077" y="218039"/>
                </a:lnTo>
                <a:cubicBezTo>
                  <a:pt x="436077" y="338458"/>
                  <a:pt x="338458" y="436077"/>
                  <a:pt x="218039" y="436077"/>
                </a:cubicBezTo>
                <a:lnTo>
                  <a:pt x="218039" y="436077"/>
                </a:lnTo>
                <a:cubicBezTo>
                  <a:pt x="97619" y="436077"/>
                  <a:pt x="0" y="338458"/>
                  <a:pt x="0" y="218039"/>
                </a:cubicBezTo>
                <a:lnTo>
                  <a:pt x="0" y="218039"/>
                </a:lnTo>
                <a:cubicBezTo>
                  <a:pt x="0" y="97619"/>
                  <a:pt x="97619" y="0"/>
                  <a:pt x="218039" y="0"/>
                </a:cubicBezTo>
                <a:close/>
              </a:path>
            </a:pathLst>
          </a:custGeom>
          <a:solidFill>
            <a:srgbClr val="EF4444">
              <a:alpha val="20000"/>
            </a:srgbClr>
          </a:solidFill>
          <a:ln/>
        </p:spPr>
      </p:sp>
      <p:sp>
        <p:nvSpPr>
          <p:cNvPr id="37" name="Text 35"/>
          <p:cNvSpPr/>
          <p:nvPr/>
        </p:nvSpPr>
        <p:spPr>
          <a:xfrm>
            <a:off x="6605666" y="3412306"/>
            <a:ext cx="236209" cy="254379"/>
          </a:xfrm>
          <a:prstGeom prst="rect">
            <a:avLst/>
          </a:prstGeom>
          <a:noFill/>
          <a:ln/>
        </p:spPr>
        <p:txBody>
          <a:bodyPr wrap="square" lIns="0" tIns="0" rIns="0" bIns="0" rtlCol="0" anchor="ctr"/>
          <a:lstStyle/>
          <a:p>
            <a:pPr>
              <a:lnSpc>
                <a:spcPct val="120000"/>
              </a:lnSpc>
            </a:pPr>
            <a:r>
              <a:rPr lang="en-US" sz="1431" b="1" dirty="0">
                <a:solidFill>
                  <a:srgbClr val="EF4444"/>
                </a:solidFill>
                <a:latin typeface="Quattrocento Sans" pitchFamily="34" charset="0"/>
                <a:ea typeface="Quattrocento Sans" pitchFamily="34" charset="-122"/>
                <a:cs typeface="Quattrocento Sans" pitchFamily="34" charset="-120"/>
              </a:rPr>
              <a:t>✗</a:t>
            </a:r>
            <a:endParaRPr lang="en-US" sz="1600" dirty="0"/>
          </a:p>
        </p:txBody>
      </p:sp>
      <p:sp>
        <p:nvSpPr>
          <p:cNvPr id="38" name="Text 36"/>
          <p:cNvSpPr/>
          <p:nvPr/>
        </p:nvSpPr>
        <p:spPr>
          <a:xfrm>
            <a:off x="7041743" y="3321457"/>
            <a:ext cx="4124566" cy="254379"/>
          </a:xfrm>
          <a:prstGeom prst="rect">
            <a:avLst/>
          </a:prstGeom>
          <a:noFill/>
          <a:ln/>
        </p:spPr>
        <p:txBody>
          <a:bodyPr wrap="square" lIns="0" tIns="0" rIns="0" bIns="0" rtlCol="0" anchor="ctr"/>
          <a:lstStyle/>
          <a:p>
            <a:pPr>
              <a:lnSpc>
                <a:spcPct val="130000"/>
              </a:lnSpc>
            </a:pPr>
            <a:r>
              <a:rPr lang="en-US" sz="1288" b="1" dirty="0">
                <a:solidFill>
                  <a:srgbClr val="F9FAFB"/>
                </a:solidFill>
                <a:latin typeface="Quattrocento Sans" pitchFamily="34" charset="0"/>
                <a:ea typeface="Quattrocento Sans" pitchFamily="34" charset="-122"/>
                <a:cs typeface="Quattrocento Sans" pitchFamily="34" charset="-120"/>
              </a:rPr>
              <a:t>Unequal Sample Sizes</a:t>
            </a:r>
            <a:endParaRPr lang="en-US" sz="1600" dirty="0"/>
          </a:p>
        </p:txBody>
      </p:sp>
      <p:sp>
        <p:nvSpPr>
          <p:cNvPr id="39" name="Text 37"/>
          <p:cNvSpPr/>
          <p:nvPr/>
        </p:nvSpPr>
        <p:spPr>
          <a:xfrm>
            <a:off x="7041743" y="3648515"/>
            <a:ext cx="4115481" cy="218039"/>
          </a:xfrm>
          <a:prstGeom prst="rect">
            <a:avLst/>
          </a:prstGeom>
          <a:noFill/>
          <a:ln/>
        </p:spPr>
        <p:txBody>
          <a:bodyPr wrap="square" lIns="0" tIns="0" rIns="0" bIns="0" rtlCol="0" anchor="ctr"/>
          <a:lstStyle/>
          <a:p>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Groups with </a:t>
            </a:r>
            <a:pPr>
              <a:lnSpc>
                <a:spcPct val="130000"/>
              </a:lnSpc>
            </a:pPr>
            <a:r>
              <a:rPr lang="en-US" sz="1145" b="1" dirty="0">
                <a:solidFill>
                  <a:srgbClr val="F9FAFB">
                    <a:alpha val="70000"/>
                  </a:srgbClr>
                </a:solidFill>
                <a:latin typeface="Quattrocento Sans" pitchFamily="34" charset="0"/>
                <a:ea typeface="Quattrocento Sans" pitchFamily="34" charset="-122"/>
                <a:cs typeface="Quattrocento Sans" pitchFamily="34" charset="-120"/>
              </a:rPr>
              <a:t>different numbers</a:t>
            </a:r>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 of observations cannot be paired</a:t>
            </a:r>
            <a:endParaRPr lang="en-US" sz="1600" dirty="0"/>
          </a:p>
        </p:txBody>
      </p:sp>
      <p:sp>
        <p:nvSpPr>
          <p:cNvPr id="40" name="Shape 38"/>
          <p:cNvSpPr/>
          <p:nvPr/>
        </p:nvSpPr>
        <p:spPr>
          <a:xfrm>
            <a:off x="6260438" y="4193612"/>
            <a:ext cx="5569073" cy="1126534"/>
          </a:xfrm>
          <a:custGeom>
            <a:avLst/>
            <a:gdLst/>
            <a:ahLst/>
            <a:cxnLst/>
            <a:rect l="l" t="t" r="r" b="b"/>
            <a:pathLst>
              <a:path w="5569073" h="1126534">
                <a:moveTo>
                  <a:pt x="36340" y="0"/>
                </a:moveTo>
                <a:lnTo>
                  <a:pt x="5496389" y="0"/>
                </a:lnTo>
                <a:cubicBezTo>
                  <a:pt x="5536531" y="0"/>
                  <a:pt x="5569073" y="32542"/>
                  <a:pt x="5569073" y="72684"/>
                </a:cubicBezTo>
                <a:lnTo>
                  <a:pt x="5569073" y="1053850"/>
                </a:lnTo>
                <a:cubicBezTo>
                  <a:pt x="5569073" y="1093992"/>
                  <a:pt x="5536531" y="1126534"/>
                  <a:pt x="5496389" y="1126534"/>
                </a:cubicBezTo>
                <a:lnTo>
                  <a:pt x="36340" y="1126534"/>
                </a:lnTo>
                <a:cubicBezTo>
                  <a:pt x="16270" y="1126534"/>
                  <a:pt x="0" y="1110264"/>
                  <a:pt x="0" y="1090194"/>
                </a:cubicBezTo>
                <a:lnTo>
                  <a:pt x="0" y="36340"/>
                </a:lnTo>
                <a:cubicBezTo>
                  <a:pt x="0" y="16283"/>
                  <a:pt x="16283" y="0"/>
                  <a:pt x="36340" y="0"/>
                </a:cubicBezTo>
                <a:close/>
              </a:path>
            </a:pathLst>
          </a:custGeom>
          <a:solidFill>
            <a:srgbClr val="374151"/>
          </a:solidFill>
          <a:ln/>
        </p:spPr>
      </p:sp>
      <p:sp>
        <p:nvSpPr>
          <p:cNvPr id="41" name="Shape 39"/>
          <p:cNvSpPr/>
          <p:nvPr/>
        </p:nvSpPr>
        <p:spPr>
          <a:xfrm>
            <a:off x="6260438" y="4193612"/>
            <a:ext cx="36340" cy="1126534"/>
          </a:xfrm>
          <a:custGeom>
            <a:avLst/>
            <a:gdLst/>
            <a:ahLst/>
            <a:cxnLst/>
            <a:rect l="l" t="t" r="r" b="b"/>
            <a:pathLst>
              <a:path w="36340" h="1126534">
                <a:moveTo>
                  <a:pt x="36340" y="0"/>
                </a:moveTo>
                <a:lnTo>
                  <a:pt x="36340" y="0"/>
                </a:lnTo>
                <a:lnTo>
                  <a:pt x="36340" y="1126534"/>
                </a:lnTo>
                <a:lnTo>
                  <a:pt x="36340" y="1126534"/>
                </a:lnTo>
                <a:cubicBezTo>
                  <a:pt x="16270" y="1126534"/>
                  <a:pt x="0" y="1110264"/>
                  <a:pt x="0" y="1090194"/>
                </a:cubicBezTo>
                <a:lnTo>
                  <a:pt x="0" y="36340"/>
                </a:lnTo>
                <a:cubicBezTo>
                  <a:pt x="0" y="16283"/>
                  <a:pt x="16283" y="0"/>
                  <a:pt x="36340" y="0"/>
                </a:cubicBezTo>
                <a:close/>
              </a:path>
            </a:pathLst>
          </a:custGeom>
          <a:solidFill>
            <a:srgbClr val="EF4444"/>
          </a:solidFill>
          <a:ln/>
        </p:spPr>
      </p:sp>
      <p:sp>
        <p:nvSpPr>
          <p:cNvPr id="42" name="Shape 40"/>
          <p:cNvSpPr/>
          <p:nvPr/>
        </p:nvSpPr>
        <p:spPr>
          <a:xfrm>
            <a:off x="6460307" y="4375311"/>
            <a:ext cx="436077" cy="436077"/>
          </a:xfrm>
          <a:custGeom>
            <a:avLst/>
            <a:gdLst/>
            <a:ahLst/>
            <a:cxnLst/>
            <a:rect l="l" t="t" r="r" b="b"/>
            <a:pathLst>
              <a:path w="436077" h="436077">
                <a:moveTo>
                  <a:pt x="218039" y="0"/>
                </a:moveTo>
                <a:lnTo>
                  <a:pt x="218039" y="0"/>
                </a:lnTo>
                <a:cubicBezTo>
                  <a:pt x="338458" y="0"/>
                  <a:pt x="436077" y="97619"/>
                  <a:pt x="436077" y="218039"/>
                </a:cubicBezTo>
                <a:lnTo>
                  <a:pt x="436077" y="218039"/>
                </a:lnTo>
                <a:cubicBezTo>
                  <a:pt x="436077" y="338458"/>
                  <a:pt x="338458" y="436077"/>
                  <a:pt x="218039" y="436077"/>
                </a:cubicBezTo>
                <a:lnTo>
                  <a:pt x="218039" y="436077"/>
                </a:lnTo>
                <a:cubicBezTo>
                  <a:pt x="97619" y="436077"/>
                  <a:pt x="0" y="338458"/>
                  <a:pt x="0" y="218039"/>
                </a:cubicBezTo>
                <a:lnTo>
                  <a:pt x="0" y="218039"/>
                </a:lnTo>
                <a:cubicBezTo>
                  <a:pt x="0" y="97619"/>
                  <a:pt x="97619" y="0"/>
                  <a:pt x="218039" y="0"/>
                </a:cubicBezTo>
                <a:close/>
              </a:path>
            </a:pathLst>
          </a:custGeom>
          <a:solidFill>
            <a:srgbClr val="EF4444">
              <a:alpha val="20000"/>
            </a:srgbClr>
          </a:solidFill>
          <a:ln/>
        </p:spPr>
      </p:sp>
      <p:sp>
        <p:nvSpPr>
          <p:cNvPr id="43" name="Text 41"/>
          <p:cNvSpPr/>
          <p:nvPr/>
        </p:nvSpPr>
        <p:spPr>
          <a:xfrm>
            <a:off x="6605666" y="4466160"/>
            <a:ext cx="236209" cy="254379"/>
          </a:xfrm>
          <a:prstGeom prst="rect">
            <a:avLst/>
          </a:prstGeom>
          <a:noFill/>
          <a:ln/>
        </p:spPr>
        <p:txBody>
          <a:bodyPr wrap="square" lIns="0" tIns="0" rIns="0" bIns="0" rtlCol="0" anchor="ctr"/>
          <a:lstStyle/>
          <a:p>
            <a:pPr>
              <a:lnSpc>
                <a:spcPct val="120000"/>
              </a:lnSpc>
            </a:pPr>
            <a:r>
              <a:rPr lang="en-US" sz="1431" b="1" dirty="0">
                <a:solidFill>
                  <a:srgbClr val="EF4444"/>
                </a:solidFill>
                <a:latin typeface="Quattrocento Sans" pitchFamily="34" charset="0"/>
                <a:ea typeface="Quattrocento Sans" pitchFamily="34" charset="-122"/>
                <a:cs typeface="Quattrocento Sans" pitchFamily="34" charset="-120"/>
              </a:rPr>
              <a:t>✗</a:t>
            </a:r>
            <a:endParaRPr lang="en-US" sz="1600" dirty="0"/>
          </a:p>
        </p:txBody>
      </p:sp>
      <p:sp>
        <p:nvSpPr>
          <p:cNvPr id="44" name="Text 42"/>
          <p:cNvSpPr/>
          <p:nvPr/>
        </p:nvSpPr>
        <p:spPr>
          <a:xfrm>
            <a:off x="7041743" y="4375311"/>
            <a:ext cx="4687833" cy="254379"/>
          </a:xfrm>
          <a:prstGeom prst="rect">
            <a:avLst/>
          </a:prstGeom>
          <a:noFill/>
          <a:ln/>
        </p:spPr>
        <p:txBody>
          <a:bodyPr wrap="square" lIns="0" tIns="0" rIns="0" bIns="0" rtlCol="0" anchor="ctr"/>
          <a:lstStyle/>
          <a:p>
            <a:pPr>
              <a:lnSpc>
                <a:spcPct val="130000"/>
              </a:lnSpc>
            </a:pPr>
            <a:r>
              <a:rPr lang="en-US" sz="1288" b="1" dirty="0">
                <a:solidFill>
                  <a:srgbClr val="F9FAFB"/>
                </a:solidFill>
                <a:latin typeface="Quattrocento Sans" pitchFamily="34" charset="0"/>
                <a:ea typeface="Quattrocento Sans" pitchFamily="34" charset="-122"/>
                <a:cs typeface="Quattrocento Sans" pitchFamily="34" charset="-120"/>
              </a:rPr>
              <a:t>No Clear Pairing Exists</a:t>
            </a:r>
            <a:endParaRPr lang="en-US" sz="1600" dirty="0"/>
          </a:p>
        </p:txBody>
      </p:sp>
      <p:sp>
        <p:nvSpPr>
          <p:cNvPr id="45" name="Text 43"/>
          <p:cNvSpPr/>
          <p:nvPr/>
        </p:nvSpPr>
        <p:spPr>
          <a:xfrm>
            <a:off x="7041743" y="4702370"/>
            <a:ext cx="4678748" cy="436077"/>
          </a:xfrm>
          <a:prstGeom prst="rect">
            <a:avLst/>
          </a:prstGeom>
          <a:noFill/>
          <a:ln/>
        </p:spPr>
        <p:txBody>
          <a:bodyPr wrap="square" lIns="0" tIns="0" rIns="0" bIns="0" rtlCol="0" anchor="ctr"/>
          <a:lstStyle/>
          <a:p>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When you </a:t>
            </a:r>
            <a:pPr>
              <a:lnSpc>
                <a:spcPct val="130000"/>
              </a:lnSpc>
            </a:pPr>
            <a:r>
              <a:rPr lang="en-US" sz="1145" b="1" dirty="0">
                <a:solidFill>
                  <a:srgbClr val="F9FAFB">
                    <a:alpha val="70000"/>
                  </a:srgbClr>
                </a:solidFill>
                <a:latin typeface="Quattrocento Sans" pitchFamily="34" charset="0"/>
                <a:ea typeface="Quattrocento Sans" pitchFamily="34" charset="-122"/>
                <a:cs typeface="Quattrocento Sans" pitchFamily="34" charset="-120"/>
              </a:rPr>
              <a:t>cannot match</a:t>
            </a:r>
            <a:pPr>
              <a:lnSpc>
                <a:spcPct val="130000"/>
              </a:lnSpc>
            </a:pPr>
            <a:r>
              <a:rPr lang="en-US" sz="1145" dirty="0">
                <a:solidFill>
                  <a:srgbClr val="F9FAFB">
                    <a:alpha val="70000"/>
                  </a:srgbClr>
                </a:solidFill>
                <a:latin typeface="Quattrocento Sans" pitchFamily="34" charset="0"/>
                <a:ea typeface="Quattrocento Sans" pitchFamily="34" charset="-122"/>
                <a:cs typeface="Quattrocento Sans" pitchFamily="34" charset="-120"/>
              </a:rPr>
              <a:t> each observation in Group A to a specific observation in Group B</a:t>
            </a:r>
            <a:endParaRPr lang="en-US" sz="1600" dirty="0"/>
          </a:p>
        </p:txBody>
      </p:sp>
      <p:sp>
        <p:nvSpPr>
          <p:cNvPr id="46" name="Shape 44"/>
          <p:cNvSpPr/>
          <p:nvPr/>
        </p:nvSpPr>
        <p:spPr>
          <a:xfrm>
            <a:off x="367032" y="5977897"/>
            <a:ext cx="11463387" cy="879423"/>
          </a:xfrm>
          <a:custGeom>
            <a:avLst/>
            <a:gdLst/>
            <a:ahLst/>
            <a:cxnLst/>
            <a:rect l="l" t="t" r="r" b="b"/>
            <a:pathLst>
              <a:path w="11463387" h="879423">
                <a:moveTo>
                  <a:pt x="72676" y="0"/>
                </a:moveTo>
                <a:lnTo>
                  <a:pt x="11390712" y="0"/>
                </a:lnTo>
                <a:cubicBezTo>
                  <a:pt x="11430849" y="0"/>
                  <a:pt x="11463387" y="32538"/>
                  <a:pt x="11463387" y="72676"/>
                </a:cubicBezTo>
                <a:lnTo>
                  <a:pt x="11463387" y="806747"/>
                </a:lnTo>
                <a:cubicBezTo>
                  <a:pt x="11463387" y="846885"/>
                  <a:pt x="11430849" y="879423"/>
                  <a:pt x="11390712" y="879423"/>
                </a:cubicBezTo>
                <a:lnTo>
                  <a:pt x="72676" y="879423"/>
                </a:lnTo>
                <a:cubicBezTo>
                  <a:pt x="32538" y="879423"/>
                  <a:pt x="0" y="846885"/>
                  <a:pt x="0" y="806747"/>
                </a:cubicBezTo>
                <a:lnTo>
                  <a:pt x="0" y="72676"/>
                </a:lnTo>
                <a:cubicBezTo>
                  <a:pt x="0" y="32565"/>
                  <a:pt x="32565" y="0"/>
                  <a:pt x="72676" y="0"/>
                </a:cubicBezTo>
                <a:close/>
              </a:path>
            </a:pathLst>
          </a:custGeom>
          <a:solidFill>
            <a:srgbClr val="F97316">
              <a:alpha val="10196"/>
            </a:srgbClr>
          </a:solidFill>
          <a:ln w="10160">
            <a:solidFill>
              <a:srgbClr val="F97316">
                <a:alpha val="30196"/>
              </a:srgbClr>
            </a:solidFill>
            <a:prstDash val="solid"/>
          </a:ln>
        </p:spPr>
      </p:sp>
      <p:sp>
        <p:nvSpPr>
          <p:cNvPr id="47" name="Shape 45"/>
          <p:cNvSpPr/>
          <p:nvPr/>
        </p:nvSpPr>
        <p:spPr>
          <a:xfrm>
            <a:off x="584162" y="6281334"/>
            <a:ext cx="272548" cy="272548"/>
          </a:xfrm>
          <a:custGeom>
            <a:avLst/>
            <a:gdLst/>
            <a:ahLst/>
            <a:cxnLst/>
            <a:rect l="l" t="t" r="r" b="b"/>
            <a:pathLst>
              <a:path w="272548" h="272548">
                <a:moveTo>
                  <a:pt x="136274" y="272548"/>
                </a:moveTo>
                <a:cubicBezTo>
                  <a:pt x="211486" y="272548"/>
                  <a:pt x="272548" y="211486"/>
                  <a:pt x="272548" y="136274"/>
                </a:cubicBezTo>
                <a:cubicBezTo>
                  <a:pt x="272548" y="61062"/>
                  <a:pt x="211486" y="0"/>
                  <a:pt x="136274" y="0"/>
                </a:cubicBezTo>
                <a:cubicBezTo>
                  <a:pt x="61062" y="0"/>
                  <a:pt x="0" y="61062"/>
                  <a:pt x="0" y="136274"/>
                </a:cubicBezTo>
                <a:cubicBezTo>
                  <a:pt x="0" y="211486"/>
                  <a:pt x="61062" y="272548"/>
                  <a:pt x="136274" y="272548"/>
                </a:cubicBezTo>
                <a:close/>
                <a:moveTo>
                  <a:pt x="136274" y="93689"/>
                </a:moveTo>
                <a:cubicBezTo>
                  <a:pt x="126852" y="93689"/>
                  <a:pt x="119240" y="101301"/>
                  <a:pt x="119240" y="110723"/>
                </a:cubicBezTo>
                <a:cubicBezTo>
                  <a:pt x="119240" y="117803"/>
                  <a:pt x="113544" y="123499"/>
                  <a:pt x="106464" y="123499"/>
                </a:cubicBezTo>
                <a:cubicBezTo>
                  <a:pt x="99384" y="123499"/>
                  <a:pt x="93689" y="117803"/>
                  <a:pt x="93689" y="110723"/>
                </a:cubicBezTo>
                <a:cubicBezTo>
                  <a:pt x="93689" y="87194"/>
                  <a:pt x="112746" y="68137"/>
                  <a:pt x="136274" y="68137"/>
                </a:cubicBezTo>
                <a:cubicBezTo>
                  <a:pt x="159803" y="68137"/>
                  <a:pt x="178860" y="87194"/>
                  <a:pt x="178860" y="110723"/>
                </a:cubicBezTo>
                <a:cubicBezTo>
                  <a:pt x="178860" y="135848"/>
                  <a:pt x="159696" y="146495"/>
                  <a:pt x="149050" y="150381"/>
                </a:cubicBezTo>
                <a:lnTo>
                  <a:pt x="149050" y="152404"/>
                </a:lnTo>
                <a:cubicBezTo>
                  <a:pt x="149050" y="159483"/>
                  <a:pt x="143354" y="165179"/>
                  <a:pt x="136274" y="165179"/>
                </a:cubicBezTo>
                <a:cubicBezTo>
                  <a:pt x="129194" y="165179"/>
                  <a:pt x="123499" y="159483"/>
                  <a:pt x="123499" y="152404"/>
                </a:cubicBezTo>
                <a:lnTo>
                  <a:pt x="123499" y="148092"/>
                </a:lnTo>
                <a:cubicBezTo>
                  <a:pt x="123499" y="137179"/>
                  <a:pt x="131377" y="129354"/>
                  <a:pt x="139521" y="126692"/>
                </a:cubicBezTo>
                <a:cubicBezTo>
                  <a:pt x="142928" y="125575"/>
                  <a:pt x="146548" y="123765"/>
                  <a:pt x="149210" y="121210"/>
                </a:cubicBezTo>
                <a:cubicBezTo>
                  <a:pt x="151499" y="118974"/>
                  <a:pt x="153308" y="115886"/>
                  <a:pt x="153308" y="110776"/>
                </a:cubicBezTo>
                <a:cubicBezTo>
                  <a:pt x="153308" y="101354"/>
                  <a:pt x="145696" y="93742"/>
                  <a:pt x="136274" y="93742"/>
                </a:cubicBezTo>
                <a:close/>
                <a:moveTo>
                  <a:pt x="119240" y="195894"/>
                </a:moveTo>
                <a:cubicBezTo>
                  <a:pt x="119240" y="186493"/>
                  <a:pt x="126873" y="178860"/>
                  <a:pt x="136274" y="178860"/>
                </a:cubicBezTo>
                <a:cubicBezTo>
                  <a:pt x="145676" y="178860"/>
                  <a:pt x="153308" y="186493"/>
                  <a:pt x="153308" y="195894"/>
                </a:cubicBezTo>
                <a:cubicBezTo>
                  <a:pt x="153308" y="205296"/>
                  <a:pt x="145676" y="212928"/>
                  <a:pt x="136274" y="212928"/>
                </a:cubicBezTo>
                <a:cubicBezTo>
                  <a:pt x="126873" y="212928"/>
                  <a:pt x="119240" y="205296"/>
                  <a:pt x="119240" y="195894"/>
                </a:cubicBezTo>
                <a:close/>
              </a:path>
            </a:pathLst>
          </a:custGeom>
          <a:solidFill>
            <a:srgbClr val="F97316"/>
          </a:solidFill>
          <a:ln/>
        </p:spPr>
      </p:sp>
      <p:sp>
        <p:nvSpPr>
          <p:cNvPr id="48" name="Text 46"/>
          <p:cNvSpPr/>
          <p:nvPr/>
        </p:nvSpPr>
        <p:spPr>
          <a:xfrm>
            <a:off x="1031028" y="6163230"/>
            <a:ext cx="10692984" cy="508757"/>
          </a:xfrm>
          <a:prstGeom prst="rect">
            <a:avLst/>
          </a:prstGeom>
          <a:noFill/>
          <a:ln/>
        </p:spPr>
        <p:txBody>
          <a:bodyPr wrap="square" lIns="0" tIns="0" rIns="0" bIns="0" rtlCol="0" anchor="ctr"/>
          <a:lstStyle/>
          <a:p>
            <a:pPr>
              <a:lnSpc>
                <a:spcPct val="130000"/>
              </a:lnSpc>
            </a:pPr>
            <a:r>
              <a:rPr lang="en-US" sz="1288" b="1" dirty="0">
                <a:solidFill>
                  <a:srgbClr val="F9FAFB"/>
                </a:solidFill>
                <a:latin typeface="Quattrocento Sans" pitchFamily="34" charset="0"/>
                <a:ea typeface="Quattrocento Sans" pitchFamily="34" charset="-122"/>
                <a:cs typeface="Quattrocento Sans" pitchFamily="34" charset="-120"/>
              </a:rPr>
              <a:t>Critical Question:</a:t>
            </a:r>
            <a:pPr>
              <a:lnSpc>
                <a:spcPct val="130000"/>
              </a:lnSpc>
            </a:pPr>
            <a:r>
              <a:rPr lang="en-US" sz="1288" b="1" dirty="0">
                <a:solidFill>
                  <a:srgbClr val="F97316"/>
                </a:solidFill>
                <a:latin typeface="Quattrocento Sans" pitchFamily="34" charset="0"/>
                <a:ea typeface="Quattrocento Sans" pitchFamily="34" charset="-122"/>
                <a:cs typeface="Quattrocento Sans" pitchFamily="34" charset="-120"/>
              </a:rPr>
              <a:t>Can you match each observation in Group A to a specific pair in Group B?</a:t>
            </a:r>
            <a:pPr>
              <a:lnSpc>
                <a:spcPct val="130000"/>
              </a:lnSpc>
            </a:pPr>
            <a:r>
              <a:rPr lang="en-US" sz="1288" dirty="0">
                <a:solidFill>
                  <a:srgbClr val="F9FAFB"/>
                </a:solidFill>
                <a:latin typeface="Quattrocento Sans" pitchFamily="34" charset="0"/>
                <a:ea typeface="Quattrocento Sans" pitchFamily="34" charset="-122"/>
                <a:cs typeface="Quattrocento Sans" pitchFamily="34" charset="-120"/>
              </a:rPr>
              <a:t> If yes → Use paired t-test. If no → Use independent t-test.</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59116" y="359116"/>
            <a:ext cx="11536613" cy="179558"/>
          </a:xfrm>
          <a:prstGeom prst="rect">
            <a:avLst/>
          </a:prstGeom>
          <a:noFill/>
          <a:ln/>
        </p:spPr>
        <p:txBody>
          <a:bodyPr wrap="square" lIns="0" tIns="0" rIns="0" bIns="0" rtlCol="0" anchor="ctr"/>
          <a:lstStyle/>
          <a:p>
            <a:pPr>
              <a:lnSpc>
                <a:spcPct val="120000"/>
              </a:lnSpc>
            </a:pPr>
            <a:r>
              <a:rPr lang="en-US" sz="990" b="1" spc="49" kern="0" dirty="0">
                <a:solidFill>
                  <a:srgbClr val="F97316"/>
                </a:solidFill>
                <a:latin typeface="Quattrocento Sans" pitchFamily="34" charset="0"/>
                <a:ea typeface="Quattrocento Sans" pitchFamily="34" charset="-122"/>
                <a:cs typeface="Quattrocento Sans" pitchFamily="34" charset="-120"/>
              </a:rPr>
              <a:t>INDUSTRY APPLICATIONS</a:t>
            </a:r>
            <a:endParaRPr lang="en-US" sz="1600" dirty="0"/>
          </a:p>
        </p:txBody>
      </p:sp>
      <p:sp>
        <p:nvSpPr>
          <p:cNvPr id="3" name="Text 1"/>
          <p:cNvSpPr/>
          <p:nvPr/>
        </p:nvSpPr>
        <p:spPr>
          <a:xfrm>
            <a:off x="359116" y="610498"/>
            <a:ext cx="11689237" cy="430940"/>
          </a:xfrm>
          <a:prstGeom prst="rect">
            <a:avLst/>
          </a:prstGeom>
          <a:noFill/>
          <a:ln/>
        </p:spPr>
        <p:txBody>
          <a:bodyPr wrap="square" lIns="0" tIns="0" rIns="0" bIns="0" rtlCol="0" anchor="ctr"/>
          <a:lstStyle/>
          <a:p>
            <a:pPr>
              <a:lnSpc>
                <a:spcPct val="80000"/>
              </a:lnSpc>
            </a:pPr>
            <a:r>
              <a:rPr lang="en-US" sz="3393" b="1" dirty="0">
                <a:solidFill>
                  <a:srgbClr val="F9FAFB"/>
                </a:solidFill>
                <a:latin typeface="Liter" pitchFamily="34" charset="0"/>
                <a:ea typeface="Liter" pitchFamily="34" charset="-122"/>
                <a:cs typeface="Liter" pitchFamily="34" charset="-120"/>
              </a:rPr>
              <a:t>Real-World Applications</a:t>
            </a:r>
            <a:endParaRPr lang="en-US" sz="1600" dirty="0"/>
          </a:p>
        </p:txBody>
      </p:sp>
      <p:sp>
        <p:nvSpPr>
          <p:cNvPr id="4" name="Text 2"/>
          <p:cNvSpPr/>
          <p:nvPr/>
        </p:nvSpPr>
        <p:spPr>
          <a:xfrm>
            <a:off x="359116" y="1113261"/>
            <a:ext cx="11554568" cy="251381"/>
          </a:xfrm>
          <a:prstGeom prst="rect">
            <a:avLst/>
          </a:prstGeom>
          <a:noFill/>
          <a:ln/>
        </p:spPr>
        <p:txBody>
          <a:bodyPr wrap="square" lIns="0" tIns="0" rIns="0" bIns="0" rtlCol="0" anchor="ctr"/>
          <a:lstStyle/>
          <a:p>
            <a:pPr>
              <a:lnSpc>
                <a:spcPct val="130000"/>
              </a:lnSpc>
            </a:pPr>
            <a:r>
              <a:rPr lang="en-US" sz="1272" dirty="0">
                <a:solidFill>
                  <a:srgbClr val="F9FAFB">
                    <a:alpha val="70000"/>
                  </a:srgbClr>
                </a:solidFill>
                <a:latin typeface="Quattrocento Sans" pitchFamily="34" charset="0"/>
                <a:ea typeface="Quattrocento Sans" pitchFamily="34" charset="-122"/>
                <a:cs typeface="Quattrocento Sans" pitchFamily="34" charset="-120"/>
              </a:rPr>
              <a:t>Paired t-tests drive decisions across industries</a:t>
            </a:r>
            <a:endParaRPr lang="en-US" sz="1600" dirty="0"/>
          </a:p>
        </p:txBody>
      </p:sp>
      <p:sp>
        <p:nvSpPr>
          <p:cNvPr id="5" name="Shape 3"/>
          <p:cNvSpPr/>
          <p:nvPr/>
        </p:nvSpPr>
        <p:spPr>
          <a:xfrm>
            <a:off x="377072" y="1580112"/>
            <a:ext cx="5629149" cy="2576660"/>
          </a:xfrm>
          <a:custGeom>
            <a:avLst/>
            <a:gdLst/>
            <a:ahLst/>
            <a:cxnLst/>
            <a:rect l="l" t="t" r="r" b="b"/>
            <a:pathLst>
              <a:path w="5629149" h="2576660">
                <a:moveTo>
                  <a:pt x="35912" y="0"/>
                </a:moveTo>
                <a:lnTo>
                  <a:pt x="5557337" y="0"/>
                </a:lnTo>
                <a:cubicBezTo>
                  <a:pt x="5596998" y="0"/>
                  <a:pt x="5629149" y="32151"/>
                  <a:pt x="5629149" y="71812"/>
                </a:cubicBezTo>
                <a:lnTo>
                  <a:pt x="5629149" y="2504848"/>
                </a:lnTo>
                <a:cubicBezTo>
                  <a:pt x="5629149" y="2544509"/>
                  <a:pt x="5596998" y="2576660"/>
                  <a:pt x="5557337" y="2576660"/>
                </a:cubicBezTo>
                <a:lnTo>
                  <a:pt x="35912" y="2576660"/>
                </a:lnTo>
                <a:cubicBezTo>
                  <a:pt x="16078" y="2576660"/>
                  <a:pt x="0" y="2560582"/>
                  <a:pt x="0" y="2540748"/>
                </a:cubicBezTo>
                <a:lnTo>
                  <a:pt x="0" y="35912"/>
                </a:lnTo>
                <a:cubicBezTo>
                  <a:pt x="0" y="16091"/>
                  <a:pt x="16091" y="0"/>
                  <a:pt x="35912" y="0"/>
                </a:cubicBezTo>
                <a:close/>
              </a:path>
            </a:pathLst>
          </a:custGeom>
          <a:solidFill>
            <a:srgbClr val="374151"/>
          </a:solidFill>
          <a:ln/>
        </p:spPr>
      </p:sp>
      <p:sp>
        <p:nvSpPr>
          <p:cNvPr id="6" name="Shape 4"/>
          <p:cNvSpPr/>
          <p:nvPr/>
        </p:nvSpPr>
        <p:spPr>
          <a:xfrm>
            <a:off x="377072" y="1580112"/>
            <a:ext cx="35912" cy="2576660"/>
          </a:xfrm>
          <a:custGeom>
            <a:avLst/>
            <a:gdLst/>
            <a:ahLst/>
            <a:cxnLst/>
            <a:rect l="l" t="t" r="r" b="b"/>
            <a:pathLst>
              <a:path w="35912" h="2576660">
                <a:moveTo>
                  <a:pt x="35912" y="0"/>
                </a:moveTo>
                <a:lnTo>
                  <a:pt x="35912" y="0"/>
                </a:lnTo>
                <a:lnTo>
                  <a:pt x="35912" y="2576660"/>
                </a:lnTo>
                <a:lnTo>
                  <a:pt x="35912" y="2576660"/>
                </a:lnTo>
                <a:cubicBezTo>
                  <a:pt x="16078" y="2576660"/>
                  <a:pt x="0" y="2560582"/>
                  <a:pt x="0" y="2540748"/>
                </a:cubicBezTo>
                <a:lnTo>
                  <a:pt x="0" y="35912"/>
                </a:lnTo>
                <a:cubicBezTo>
                  <a:pt x="0" y="16078"/>
                  <a:pt x="16078" y="0"/>
                  <a:pt x="35912" y="0"/>
                </a:cubicBezTo>
                <a:close/>
              </a:path>
            </a:pathLst>
          </a:custGeom>
          <a:solidFill>
            <a:srgbClr val="F97316"/>
          </a:solidFill>
          <a:ln/>
        </p:spPr>
      </p:sp>
      <p:sp>
        <p:nvSpPr>
          <p:cNvPr id="7" name="Shape 5"/>
          <p:cNvSpPr/>
          <p:nvPr/>
        </p:nvSpPr>
        <p:spPr>
          <a:xfrm>
            <a:off x="610498" y="1795582"/>
            <a:ext cx="574586" cy="574586"/>
          </a:xfrm>
          <a:custGeom>
            <a:avLst/>
            <a:gdLst/>
            <a:ahLst/>
            <a:cxnLst/>
            <a:rect l="l" t="t" r="r" b="b"/>
            <a:pathLst>
              <a:path w="574586" h="574586">
                <a:moveTo>
                  <a:pt x="71823" y="0"/>
                </a:moveTo>
                <a:lnTo>
                  <a:pt x="502763" y="0"/>
                </a:lnTo>
                <a:cubicBezTo>
                  <a:pt x="542430" y="0"/>
                  <a:pt x="574586" y="32156"/>
                  <a:pt x="574586" y="71823"/>
                </a:cubicBezTo>
                <a:lnTo>
                  <a:pt x="574586" y="502763"/>
                </a:lnTo>
                <a:cubicBezTo>
                  <a:pt x="574586" y="542430"/>
                  <a:pt x="542430" y="574586"/>
                  <a:pt x="502763" y="574586"/>
                </a:cubicBezTo>
                <a:lnTo>
                  <a:pt x="71823" y="574586"/>
                </a:lnTo>
                <a:cubicBezTo>
                  <a:pt x="32156" y="574586"/>
                  <a:pt x="0" y="542430"/>
                  <a:pt x="0" y="502763"/>
                </a:cubicBezTo>
                <a:lnTo>
                  <a:pt x="0" y="71823"/>
                </a:lnTo>
                <a:cubicBezTo>
                  <a:pt x="0" y="32156"/>
                  <a:pt x="32156" y="0"/>
                  <a:pt x="71823" y="0"/>
                </a:cubicBezTo>
                <a:close/>
              </a:path>
            </a:pathLst>
          </a:custGeom>
          <a:solidFill>
            <a:srgbClr val="F97316">
              <a:alpha val="20000"/>
            </a:srgbClr>
          </a:solidFill>
          <a:ln/>
        </p:spPr>
      </p:sp>
      <p:sp>
        <p:nvSpPr>
          <p:cNvPr id="8" name="Shape 6"/>
          <p:cNvSpPr/>
          <p:nvPr/>
        </p:nvSpPr>
        <p:spPr>
          <a:xfrm>
            <a:off x="731700" y="1948206"/>
            <a:ext cx="336672" cy="269337"/>
          </a:xfrm>
          <a:custGeom>
            <a:avLst/>
            <a:gdLst/>
            <a:ahLst/>
            <a:cxnLst/>
            <a:rect l="l" t="t" r="r" b="b"/>
            <a:pathLst>
              <a:path w="336672" h="269337">
                <a:moveTo>
                  <a:pt x="33667" y="50501"/>
                </a:moveTo>
                <a:cubicBezTo>
                  <a:pt x="33667" y="31931"/>
                  <a:pt x="48765" y="16834"/>
                  <a:pt x="67334" y="16834"/>
                </a:cubicBezTo>
                <a:lnTo>
                  <a:pt x="269337" y="16834"/>
                </a:lnTo>
                <a:cubicBezTo>
                  <a:pt x="287907" y="16834"/>
                  <a:pt x="303004" y="31931"/>
                  <a:pt x="303004" y="50501"/>
                </a:cubicBezTo>
                <a:lnTo>
                  <a:pt x="303004" y="176753"/>
                </a:lnTo>
                <a:lnTo>
                  <a:pt x="269337" y="176753"/>
                </a:lnTo>
                <a:lnTo>
                  <a:pt x="269337" y="50501"/>
                </a:lnTo>
                <a:lnTo>
                  <a:pt x="67334" y="50501"/>
                </a:lnTo>
                <a:lnTo>
                  <a:pt x="67334" y="176753"/>
                </a:lnTo>
                <a:lnTo>
                  <a:pt x="33667" y="176753"/>
                </a:lnTo>
                <a:lnTo>
                  <a:pt x="33667" y="50501"/>
                </a:lnTo>
                <a:close/>
                <a:moveTo>
                  <a:pt x="0" y="212103"/>
                </a:moveTo>
                <a:cubicBezTo>
                  <a:pt x="0" y="206527"/>
                  <a:pt x="4524" y="202003"/>
                  <a:pt x="10100" y="202003"/>
                </a:cubicBezTo>
                <a:lnTo>
                  <a:pt x="326571" y="202003"/>
                </a:lnTo>
                <a:cubicBezTo>
                  <a:pt x="332148" y="202003"/>
                  <a:pt x="336672" y="206527"/>
                  <a:pt x="336672" y="212103"/>
                </a:cubicBezTo>
                <a:cubicBezTo>
                  <a:pt x="336672" y="234408"/>
                  <a:pt x="318575" y="252504"/>
                  <a:pt x="296271" y="252504"/>
                </a:cubicBezTo>
                <a:lnTo>
                  <a:pt x="40401" y="252504"/>
                </a:lnTo>
                <a:cubicBezTo>
                  <a:pt x="18096" y="252504"/>
                  <a:pt x="0" y="234408"/>
                  <a:pt x="0" y="212103"/>
                </a:cubicBezTo>
                <a:close/>
                <a:moveTo>
                  <a:pt x="147820" y="109944"/>
                </a:moveTo>
                <a:lnTo>
                  <a:pt x="131512" y="126252"/>
                </a:lnTo>
                <a:lnTo>
                  <a:pt x="147820" y="142559"/>
                </a:lnTo>
                <a:cubicBezTo>
                  <a:pt x="152765" y="147504"/>
                  <a:pt x="152765" y="155500"/>
                  <a:pt x="147820" y="160392"/>
                </a:cubicBezTo>
                <a:cubicBezTo>
                  <a:pt x="142875" y="165285"/>
                  <a:pt x="134879" y="165337"/>
                  <a:pt x="129987" y="160392"/>
                </a:cubicBezTo>
                <a:lnTo>
                  <a:pt x="104736" y="135142"/>
                </a:lnTo>
                <a:cubicBezTo>
                  <a:pt x="99792" y="130197"/>
                  <a:pt x="99792" y="122201"/>
                  <a:pt x="104736" y="117309"/>
                </a:cubicBezTo>
                <a:lnTo>
                  <a:pt x="129987" y="92059"/>
                </a:lnTo>
                <a:cubicBezTo>
                  <a:pt x="134932" y="87114"/>
                  <a:pt x="142928" y="87114"/>
                  <a:pt x="147820" y="92059"/>
                </a:cubicBezTo>
                <a:cubicBezTo>
                  <a:pt x="152712" y="97003"/>
                  <a:pt x="152765" y="104999"/>
                  <a:pt x="147820" y="109892"/>
                </a:cubicBezTo>
                <a:close/>
                <a:moveTo>
                  <a:pt x="206737" y="92059"/>
                </a:moveTo>
                <a:lnTo>
                  <a:pt x="231988" y="117309"/>
                </a:lnTo>
                <a:cubicBezTo>
                  <a:pt x="236933" y="122254"/>
                  <a:pt x="236933" y="130250"/>
                  <a:pt x="231988" y="135142"/>
                </a:cubicBezTo>
                <a:lnTo>
                  <a:pt x="206737" y="160392"/>
                </a:lnTo>
                <a:cubicBezTo>
                  <a:pt x="201793" y="165337"/>
                  <a:pt x="193797" y="165337"/>
                  <a:pt x="188904" y="160392"/>
                </a:cubicBezTo>
                <a:cubicBezTo>
                  <a:pt x="184012" y="155448"/>
                  <a:pt x="183959" y="147452"/>
                  <a:pt x="188904" y="142559"/>
                </a:cubicBezTo>
                <a:lnTo>
                  <a:pt x="205212" y="126252"/>
                </a:lnTo>
                <a:lnTo>
                  <a:pt x="188904" y="109944"/>
                </a:lnTo>
                <a:cubicBezTo>
                  <a:pt x="183959" y="104999"/>
                  <a:pt x="183959" y="97003"/>
                  <a:pt x="188904" y="92111"/>
                </a:cubicBezTo>
                <a:cubicBezTo>
                  <a:pt x="193849" y="87219"/>
                  <a:pt x="201845" y="87166"/>
                  <a:pt x="206737" y="92111"/>
                </a:cubicBezTo>
                <a:close/>
              </a:path>
            </a:pathLst>
          </a:custGeom>
          <a:solidFill>
            <a:srgbClr val="F97316"/>
          </a:solidFill>
          <a:ln/>
        </p:spPr>
      </p:sp>
      <p:sp>
        <p:nvSpPr>
          <p:cNvPr id="9" name="Text 7"/>
          <p:cNvSpPr/>
          <p:nvPr/>
        </p:nvSpPr>
        <p:spPr>
          <a:xfrm>
            <a:off x="1328730" y="1939228"/>
            <a:ext cx="1705803" cy="287293"/>
          </a:xfrm>
          <a:prstGeom prst="rect">
            <a:avLst/>
          </a:prstGeom>
          <a:noFill/>
          <a:ln/>
        </p:spPr>
        <p:txBody>
          <a:bodyPr wrap="square" lIns="0" tIns="0" rIns="0" bIns="0" rtlCol="0" anchor="ctr"/>
          <a:lstStyle/>
          <a:p>
            <a:pPr>
              <a:lnSpc>
                <a:spcPct val="110000"/>
              </a:lnSpc>
            </a:pPr>
            <a:r>
              <a:rPr lang="en-US" sz="1697" b="1" dirty="0">
                <a:solidFill>
                  <a:srgbClr val="F9FAFB"/>
                </a:solidFill>
                <a:latin typeface="Liter" pitchFamily="34" charset="0"/>
                <a:ea typeface="Liter" pitchFamily="34" charset="-122"/>
                <a:cs typeface="Liter" pitchFamily="34" charset="-120"/>
              </a:rPr>
              <a:t>Tech Companies</a:t>
            </a:r>
            <a:endParaRPr lang="en-US" sz="1600" dirty="0"/>
          </a:p>
        </p:txBody>
      </p:sp>
      <p:sp>
        <p:nvSpPr>
          <p:cNvPr id="10" name="Shape 8"/>
          <p:cNvSpPr/>
          <p:nvPr/>
        </p:nvSpPr>
        <p:spPr>
          <a:xfrm>
            <a:off x="628454" y="2549726"/>
            <a:ext cx="143647" cy="143647"/>
          </a:xfrm>
          <a:custGeom>
            <a:avLst/>
            <a:gdLst/>
            <a:ahLst/>
            <a:cxnLst/>
            <a:rect l="l" t="t" r="r" b="b"/>
            <a:pathLst>
              <a:path w="143647" h="143647">
                <a:moveTo>
                  <a:pt x="140280" y="73451"/>
                </a:moveTo>
                <a:cubicBezTo>
                  <a:pt x="140280" y="113150"/>
                  <a:pt x="113094" y="141402"/>
                  <a:pt x="72946" y="141402"/>
                </a:cubicBezTo>
                <a:cubicBezTo>
                  <a:pt x="34453" y="141402"/>
                  <a:pt x="3367" y="110316"/>
                  <a:pt x="3367" y="71823"/>
                </a:cubicBezTo>
                <a:cubicBezTo>
                  <a:pt x="3367" y="33330"/>
                  <a:pt x="34453" y="2244"/>
                  <a:pt x="72946" y="2244"/>
                </a:cubicBezTo>
                <a:cubicBezTo>
                  <a:pt x="91687" y="2244"/>
                  <a:pt x="107454" y="9118"/>
                  <a:pt x="119603" y="20453"/>
                </a:cubicBezTo>
                <a:lnTo>
                  <a:pt x="100665" y="38661"/>
                </a:lnTo>
                <a:cubicBezTo>
                  <a:pt x="75891" y="14757"/>
                  <a:pt x="29823" y="32713"/>
                  <a:pt x="29823" y="71823"/>
                </a:cubicBezTo>
                <a:cubicBezTo>
                  <a:pt x="29823" y="96092"/>
                  <a:pt x="49210" y="115759"/>
                  <a:pt x="72946" y="115759"/>
                </a:cubicBezTo>
                <a:cubicBezTo>
                  <a:pt x="100496" y="115759"/>
                  <a:pt x="110821" y="96008"/>
                  <a:pt x="112448" y="85767"/>
                </a:cubicBezTo>
                <a:lnTo>
                  <a:pt x="72946" y="85767"/>
                </a:lnTo>
                <a:lnTo>
                  <a:pt x="72946" y="61835"/>
                </a:lnTo>
                <a:lnTo>
                  <a:pt x="139186" y="61835"/>
                </a:lnTo>
                <a:cubicBezTo>
                  <a:pt x="139831" y="65398"/>
                  <a:pt x="140280" y="68821"/>
                  <a:pt x="140280" y="73451"/>
                </a:cubicBezTo>
                <a:close/>
              </a:path>
            </a:pathLst>
          </a:custGeom>
          <a:solidFill>
            <a:srgbClr val="F97316"/>
          </a:solidFill>
          <a:ln/>
        </p:spPr>
      </p:sp>
      <p:sp>
        <p:nvSpPr>
          <p:cNvPr id="11" name="Text 9"/>
          <p:cNvSpPr/>
          <p:nvPr/>
        </p:nvSpPr>
        <p:spPr>
          <a:xfrm>
            <a:off x="897791" y="2513814"/>
            <a:ext cx="2899865"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Google</a:t>
            </a:r>
            <a:endParaRPr lang="en-US" sz="1600" dirty="0"/>
          </a:p>
        </p:txBody>
      </p:sp>
      <p:sp>
        <p:nvSpPr>
          <p:cNvPr id="12" name="Text 10"/>
          <p:cNvSpPr/>
          <p:nvPr/>
        </p:nvSpPr>
        <p:spPr>
          <a:xfrm>
            <a:off x="897791" y="2729284"/>
            <a:ext cx="2890887"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Page load speed optimization testing on same users</a:t>
            </a:r>
            <a:endParaRPr lang="en-US" sz="1600" dirty="0"/>
          </a:p>
        </p:txBody>
      </p:sp>
      <p:sp>
        <p:nvSpPr>
          <p:cNvPr id="13" name="Shape 11"/>
          <p:cNvSpPr/>
          <p:nvPr/>
        </p:nvSpPr>
        <p:spPr>
          <a:xfrm>
            <a:off x="637432" y="3052489"/>
            <a:ext cx="125691" cy="143647"/>
          </a:xfrm>
          <a:custGeom>
            <a:avLst/>
            <a:gdLst/>
            <a:ahLst/>
            <a:cxnLst/>
            <a:rect l="l" t="t" r="r" b="b"/>
            <a:pathLst>
              <a:path w="125691" h="143647">
                <a:moveTo>
                  <a:pt x="25587" y="10353"/>
                </a:moveTo>
                <a:cubicBezTo>
                  <a:pt x="22108" y="8445"/>
                  <a:pt x="17900" y="8529"/>
                  <a:pt x="14477" y="10549"/>
                </a:cubicBezTo>
                <a:cubicBezTo>
                  <a:pt x="11054" y="12569"/>
                  <a:pt x="8978" y="16244"/>
                  <a:pt x="8978" y="20200"/>
                </a:cubicBezTo>
                <a:lnTo>
                  <a:pt x="8978" y="123446"/>
                </a:lnTo>
                <a:cubicBezTo>
                  <a:pt x="8978" y="127402"/>
                  <a:pt x="11082" y="131077"/>
                  <a:pt x="14477" y="133097"/>
                </a:cubicBezTo>
                <a:cubicBezTo>
                  <a:pt x="17872" y="135118"/>
                  <a:pt x="22108" y="135202"/>
                  <a:pt x="25587" y="133294"/>
                </a:cubicBezTo>
                <a:lnTo>
                  <a:pt x="119855" y="81671"/>
                </a:lnTo>
                <a:cubicBezTo>
                  <a:pt x="123446" y="79707"/>
                  <a:pt x="125691" y="75919"/>
                  <a:pt x="125691" y="71823"/>
                </a:cubicBezTo>
                <a:cubicBezTo>
                  <a:pt x="125691" y="67727"/>
                  <a:pt x="123446" y="63940"/>
                  <a:pt x="119855" y="61976"/>
                </a:cubicBezTo>
                <a:lnTo>
                  <a:pt x="25587" y="10353"/>
                </a:lnTo>
                <a:close/>
              </a:path>
            </a:pathLst>
          </a:custGeom>
          <a:solidFill>
            <a:srgbClr val="F97316"/>
          </a:solidFill>
          <a:ln/>
        </p:spPr>
      </p:sp>
      <p:sp>
        <p:nvSpPr>
          <p:cNvPr id="14" name="Text 12"/>
          <p:cNvSpPr/>
          <p:nvPr/>
        </p:nvSpPr>
        <p:spPr>
          <a:xfrm>
            <a:off x="897791" y="3016577"/>
            <a:ext cx="3187158"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Netflix</a:t>
            </a:r>
            <a:endParaRPr lang="en-US" sz="1600" dirty="0"/>
          </a:p>
        </p:txBody>
      </p:sp>
      <p:sp>
        <p:nvSpPr>
          <p:cNvPr id="15" name="Text 13"/>
          <p:cNvSpPr/>
          <p:nvPr/>
        </p:nvSpPr>
        <p:spPr>
          <a:xfrm>
            <a:off x="897791" y="3232047"/>
            <a:ext cx="3178180"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Algorithm performance comparison on same subscribers</a:t>
            </a:r>
            <a:endParaRPr lang="en-US" sz="1600" dirty="0"/>
          </a:p>
        </p:txBody>
      </p:sp>
      <p:sp>
        <p:nvSpPr>
          <p:cNvPr id="16" name="Shape 14"/>
          <p:cNvSpPr/>
          <p:nvPr/>
        </p:nvSpPr>
        <p:spPr>
          <a:xfrm>
            <a:off x="637432" y="3555252"/>
            <a:ext cx="125691" cy="143647"/>
          </a:xfrm>
          <a:custGeom>
            <a:avLst/>
            <a:gdLst/>
            <a:ahLst/>
            <a:cxnLst/>
            <a:rect l="l" t="t" r="r" b="b"/>
            <a:pathLst>
              <a:path w="125691" h="143647">
                <a:moveTo>
                  <a:pt x="72300" y="45647"/>
                </a:moveTo>
                <a:cubicBezTo>
                  <a:pt x="58637" y="46152"/>
                  <a:pt x="24745" y="49996"/>
                  <a:pt x="24745" y="78613"/>
                </a:cubicBezTo>
                <a:cubicBezTo>
                  <a:pt x="24745" y="109334"/>
                  <a:pt x="63547" y="110597"/>
                  <a:pt x="76228" y="90733"/>
                </a:cubicBezTo>
                <a:cubicBezTo>
                  <a:pt x="78052" y="93595"/>
                  <a:pt x="86160" y="101254"/>
                  <a:pt x="88937" y="103863"/>
                </a:cubicBezTo>
                <a:lnTo>
                  <a:pt x="104873" y="88152"/>
                </a:lnTo>
                <a:cubicBezTo>
                  <a:pt x="104873" y="88152"/>
                  <a:pt x="95811" y="81054"/>
                  <a:pt x="95811" y="73338"/>
                </a:cubicBezTo>
                <a:lnTo>
                  <a:pt x="95811" y="32068"/>
                </a:lnTo>
                <a:cubicBezTo>
                  <a:pt x="95811" y="24970"/>
                  <a:pt x="88937" y="8978"/>
                  <a:pt x="64304" y="8978"/>
                </a:cubicBezTo>
                <a:cubicBezTo>
                  <a:pt x="39615" y="8978"/>
                  <a:pt x="26513" y="24409"/>
                  <a:pt x="26513" y="38240"/>
                </a:cubicBezTo>
                <a:lnTo>
                  <a:pt x="47134" y="40148"/>
                </a:lnTo>
                <a:cubicBezTo>
                  <a:pt x="51707" y="26260"/>
                  <a:pt x="62340" y="26260"/>
                  <a:pt x="62340" y="26260"/>
                </a:cubicBezTo>
                <a:cubicBezTo>
                  <a:pt x="73759" y="26232"/>
                  <a:pt x="72300" y="34621"/>
                  <a:pt x="72300" y="45647"/>
                </a:cubicBezTo>
                <a:close/>
                <a:moveTo>
                  <a:pt x="72300" y="70000"/>
                </a:moveTo>
                <a:cubicBezTo>
                  <a:pt x="72300" y="92444"/>
                  <a:pt x="48677" y="89078"/>
                  <a:pt x="48677" y="74825"/>
                </a:cubicBezTo>
                <a:cubicBezTo>
                  <a:pt x="48677" y="61583"/>
                  <a:pt x="62845" y="58918"/>
                  <a:pt x="72300" y="58609"/>
                </a:cubicBezTo>
                <a:lnTo>
                  <a:pt x="72300" y="70000"/>
                </a:lnTo>
                <a:close/>
                <a:moveTo>
                  <a:pt x="110456" y="115871"/>
                </a:moveTo>
                <a:cubicBezTo>
                  <a:pt x="108296" y="118677"/>
                  <a:pt x="90817" y="134669"/>
                  <a:pt x="61499" y="134669"/>
                </a:cubicBezTo>
                <a:cubicBezTo>
                  <a:pt x="32180" y="134669"/>
                  <a:pt x="9735" y="114609"/>
                  <a:pt x="2862" y="106332"/>
                </a:cubicBezTo>
                <a:cubicBezTo>
                  <a:pt x="954" y="104172"/>
                  <a:pt x="3142" y="103162"/>
                  <a:pt x="4405" y="104003"/>
                </a:cubicBezTo>
                <a:cubicBezTo>
                  <a:pt x="24970" y="116488"/>
                  <a:pt x="57094" y="137053"/>
                  <a:pt x="108913" y="112504"/>
                </a:cubicBezTo>
                <a:cubicBezTo>
                  <a:pt x="111017" y="111466"/>
                  <a:pt x="112645" y="113066"/>
                  <a:pt x="110456" y="115871"/>
                </a:cubicBezTo>
                <a:close/>
                <a:moveTo>
                  <a:pt x="121623" y="116488"/>
                </a:moveTo>
                <a:cubicBezTo>
                  <a:pt x="119799" y="120921"/>
                  <a:pt x="117134" y="124007"/>
                  <a:pt x="115675" y="125186"/>
                </a:cubicBezTo>
                <a:cubicBezTo>
                  <a:pt x="114132" y="126448"/>
                  <a:pt x="113009" y="125943"/>
                  <a:pt x="113851" y="124120"/>
                </a:cubicBezTo>
                <a:cubicBezTo>
                  <a:pt x="114693" y="122296"/>
                  <a:pt x="119266" y="111074"/>
                  <a:pt x="117414" y="108689"/>
                </a:cubicBezTo>
                <a:cubicBezTo>
                  <a:pt x="115591" y="106360"/>
                  <a:pt x="107034" y="107482"/>
                  <a:pt x="103947" y="107791"/>
                </a:cubicBezTo>
                <a:cubicBezTo>
                  <a:pt x="100917" y="108072"/>
                  <a:pt x="100300" y="108352"/>
                  <a:pt x="100020" y="107707"/>
                </a:cubicBezTo>
                <a:cubicBezTo>
                  <a:pt x="99374" y="106108"/>
                  <a:pt x="106108" y="103358"/>
                  <a:pt x="110541" y="102797"/>
                </a:cubicBezTo>
                <a:cubicBezTo>
                  <a:pt x="114945" y="102292"/>
                  <a:pt x="122043" y="102573"/>
                  <a:pt x="123446" y="104396"/>
                </a:cubicBezTo>
                <a:cubicBezTo>
                  <a:pt x="124484" y="105827"/>
                  <a:pt x="123446" y="111999"/>
                  <a:pt x="121623" y="116488"/>
                </a:cubicBezTo>
                <a:close/>
              </a:path>
            </a:pathLst>
          </a:custGeom>
          <a:solidFill>
            <a:srgbClr val="F97316"/>
          </a:solidFill>
          <a:ln/>
        </p:spPr>
      </p:sp>
      <p:sp>
        <p:nvSpPr>
          <p:cNvPr id="17" name="Text 15"/>
          <p:cNvSpPr/>
          <p:nvPr/>
        </p:nvSpPr>
        <p:spPr>
          <a:xfrm>
            <a:off x="897791" y="3519340"/>
            <a:ext cx="2639505"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Amazon</a:t>
            </a:r>
            <a:endParaRPr lang="en-US" sz="1600" dirty="0"/>
          </a:p>
        </p:txBody>
      </p:sp>
      <p:sp>
        <p:nvSpPr>
          <p:cNvPr id="18" name="Text 16"/>
          <p:cNvSpPr/>
          <p:nvPr/>
        </p:nvSpPr>
        <p:spPr>
          <a:xfrm>
            <a:off x="897791" y="3734810"/>
            <a:ext cx="2630527"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Checkout flow A/B testing on same customers</a:t>
            </a:r>
            <a:endParaRPr lang="en-US" sz="1600" dirty="0"/>
          </a:p>
        </p:txBody>
      </p:sp>
      <p:sp>
        <p:nvSpPr>
          <p:cNvPr id="19" name="Shape 17"/>
          <p:cNvSpPr/>
          <p:nvPr/>
        </p:nvSpPr>
        <p:spPr>
          <a:xfrm>
            <a:off x="6204633" y="1580112"/>
            <a:ext cx="5629149" cy="2576660"/>
          </a:xfrm>
          <a:custGeom>
            <a:avLst/>
            <a:gdLst/>
            <a:ahLst/>
            <a:cxnLst/>
            <a:rect l="l" t="t" r="r" b="b"/>
            <a:pathLst>
              <a:path w="5629149" h="2576660">
                <a:moveTo>
                  <a:pt x="35912" y="0"/>
                </a:moveTo>
                <a:lnTo>
                  <a:pt x="5557337" y="0"/>
                </a:lnTo>
                <a:cubicBezTo>
                  <a:pt x="5596998" y="0"/>
                  <a:pt x="5629149" y="32151"/>
                  <a:pt x="5629149" y="71812"/>
                </a:cubicBezTo>
                <a:lnTo>
                  <a:pt x="5629149" y="2504848"/>
                </a:lnTo>
                <a:cubicBezTo>
                  <a:pt x="5629149" y="2544509"/>
                  <a:pt x="5596998" y="2576660"/>
                  <a:pt x="5557337" y="2576660"/>
                </a:cubicBezTo>
                <a:lnTo>
                  <a:pt x="35912" y="2576660"/>
                </a:lnTo>
                <a:cubicBezTo>
                  <a:pt x="16078" y="2576660"/>
                  <a:pt x="0" y="2560582"/>
                  <a:pt x="0" y="2540748"/>
                </a:cubicBezTo>
                <a:lnTo>
                  <a:pt x="0" y="35912"/>
                </a:lnTo>
                <a:cubicBezTo>
                  <a:pt x="0" y="16091"/>
                  <a:pt x="16091" y="0"/>
                  <a:pt x="35912" y="0"/>
                </a:cubicBezTo>
                <a:close/>
              </a:path>
            </a:pathLst>
          </a:custGeom>
          <a:solidFill>
            <a:srgbClr val="374151"/>
          </a:solidFill>
          <a:ln/>
        </p:spPr>
      </p:sp>
      <p:sp>
        <p:nvSpPr>
          <p:cNvPr id="20" name="Shape 18"/>
          <p:cNvSpPr/>
          <p:nvPr/>
        </p:nvSpPr>
        <p:spPr>
          <a:xfrm>
            <a:off x="6204633" y="1580112"/>
            <a:ext cx="35912" cy="2576660"/>
          </a:xfrm>
          <a:custGeom>
            <a:avLst/>
            <a:gdLst/>
            <a:ahLst/>
            <a:cxnLst/>
            <a:rect l="l" t="t" r="r" b="b"/>
            <a:pathLst>
              <a:path w="35912" h="2576660">
                <a:moveTo>
                  <a:pt x="35912" y="0"/>
                </a:moveTo>
                <a:lnTo>
                  <a:pt x="35912" y="0"/>
                </a:lnTo>
                <a:lnTo>
                  <a:pt x="35912" y="2576660"/>
                </a:lnTo>
                <a:lnTo>
                  <a:pt x="35912" y="2576660"/>
                </a:lnTo>
                <a:cubicBezTo>
                  <a:pt x="16078" y="2576660"/>
                  <a:pt x="0" y="2560582"/>
                  <a:pt x="0" y="2540748"/>
                </a:cubicBezTo>
                <a:lnTo>
                  <a:pt x="0" y="35912"/>
                </a:lnTo>
                <a:cubicBezTo>
                  <a:pt x="0" y="16078"/>
                  <a:pt x="16078" y="0"/>
                  <a:pt x="35912" y="0"/>
                </a:cubicBezTo>
                <a:close/>
              </a:path>
            </a:pathLst>
          </a:custGeom>
          <a:solidFill>
            <a:srgbClr val="3B82F6"/>
          </a:solidFill>
          <a:ln/>
        </p:spPr>
      </p:sp>
      <p:sp>
        <p:nvSpPr>
          <p:cNvPr id="21" name="Shape 19"/>
          <p:cNvSpPr/>
          <p:nvPr/>
        </p:nvSpPr>
        <p:spPr>
          <a:xfrm>
            <a:off x="6438059" y="1795582"/>
            <a:ext cx="574586" cy="574586"/>
          </a:xfrm>
          <a:custGeom>
            <a:avLst/>
            <a:gdLst/>
            <a:ahLst/>
            <a:cxnLst/>
            <a:rect l="l" t="t" r="r" b="b"/>
            <a:pathLst>
              <a:path w="574586" h="574586">
                <a:moveTo>
                  <a:pt x="71823" y="0"/>
                </a:moveTo>
                <a:lnTo>
                  <a:pt x="502763" y="0"/>
                </a:lnTo>
                <a:cubicBezTo>
                  <a:pt x="542430" y="0"/>
                  <a:pt x="574586" y="32156"/>
                  <a:pt x="574586" y="71823"/>
                </a:cubicBezTo>
                <a:lnTo>
                  <a:pt x="574586" y="502763"/>
                </a:lnTo>
                <a:cubicBezTo>
                  <a:pt x="574586" y="542430"/>
                  <a:pt x="542430" y="574586"/>
                  <a:pt x="502763" y="574586"/>
                </a:cubicBezTo>
                <a:lnTo>
                  <a:pt x="71823" y="574586"/>
                </a:lnTo>
                <a:cubicBezTo>
                  <a:pt x="32156" y="574586"/>
                  <a:pt x="0" y="542430"/>
                  <a:pt x="0" y="502763"/>
                </a:cubicBezTo>
                <a:lnTo>
                  <a:pt x="0" y="71823"/>
                </a:lnTo>
                <a:cubicBezTo>
                  <a:pt x="0" y="32156"/>
                  <a:pt x="32156" y="0"/>
                  <a:pt x="71823" y="0"/>
                </a:cubicBezTo>
                <a:close/>
              </a:path>
            </a:pathLst>
          </a:custGeom>
          <a:solidFill>
            <a:srgbClr val="3B82F6">
              <a:alpha val="20000"/>
            </a:srgbClr>
          </a:solidFill>
          <a:ln/>
        </p:spPr>
      </p:sp>
      <p:sp>
        <p:nvSpPr>
          <p:cNvPr id="22" name="Shape 20"/>
          <p:cNvSpPr/>
          <p:nvPr/>
        </p:nvSpPr>
        <p:spPr>
          <a:xfrm>
            <a:off x="6559260" y="1948206"/>
            <a:ext cx="336672" cy="269337"/>
          </a:xfrm>
          <a:custGeom>
            <a:avLst/>
            <a:gdLst/>
            <a:ahLst/>
            <a:cxnLst/>
            <a:rect l="l" t="t" r="r" b="b"/>
            <a:pathLst>
              <a:path w="336672" h="269337">
                <a:moveTo>
                  <a:pt x="12625" y="-8417"/>
                </a:moveTo>
                <a:cubicBezTo>
                  <a:pt x="5629" y="-8417"/>
                  <a:pt x="0" y="-2788"/>
                  <a:pt x="0" y="4208"/>
                </a:cubicBezTo>
                <a:cubicBezTo>
                  <a:pt x="0" y="11205"/>
                  <a:pt x="5629" y="16834"/>
                  <a:pt x="12625" y="16834"/>
                </a:cubicBezTo>
                <a:lnTo>
                  <a:pt x="36455" y="16834"/>
                </a:lnTo>
                <a:cubicBezTo>
                  <a:pt x="38507" y="16834"/>
                  <a:pt x="40243" y="18307"/>
                  <a:pt x="40611" y="20306"/>
                </a:cubicBezTo>
                <a:lnTo>
                  <a:pt x="68018" y="170913"/>
                </a:lnTo>
                <a:cubicBezTo>
                  <a:pt x="71280" y="188904"/>
                  <a:pt x="86956" y="202003"/>
                  <a:pt x="105262" y="202003"/>
                </a:cubicBezTo>
                <a:lnTo>
                  <a:pt x="239878" y="202003"/>
                </a:lnTo>
                <a:cubicBezTo>
                  <a:pt x="246875" y="202003"/>
                  <a:pt x="252504" y="196374"/>
                  <a:pt x="252504" y="189378"/>
                </a:cubicBezTo>
                <a:cubicBezTo>
                  <a:pt x="252504" y="182381"/>
                  <a:pt x="246875" y="176753"/>
                  <a:pt x="239878" y="176753"/>
                </a:cubicBezTo>
                <a:lnTo>
                  <a:pt x="105262" y="176753"/>
                </a:lnTo>
                <a:cubicBezTo>
                  <a:pt x="99160" y="176753"/>
                  <a:pt x="93952" y="172386"/>
                  <a:pt x="92848" y="166389"/>
                </a:cubicBezTo>
                <a:lnTo>
                  <a:pt x="90165" y="151502"/>
                </a:lnTo>
                <a:lnTo>
                  <a:pt x="249873" y="151502"/>
                </a:lnTo>
                <a:cubicBezTo>
                  <a:pt x="266076" y="151502"/>
                  <a:pt x="279963" y="139982"/>
                  <a:pt x="282962" y="124042"/>
                </a:cubicBezTo>
                <a:lnTo>
                  <a:pt x="299269" y="36771"/>
                </a:lnTo>
                <a:cubicBezTo>
                  <a:pt x="301216" y="26408"/>
                  <a:pt x="293273" y="16834"/>
                  <a:pt x="282699" y="16834"/>
                </a:cubicBezTo>
                <a:lnTo>
                  <a:pt x="65598" y="16834"/>
                </a:lnTo>
                <a:lnTo>
                  <a:pt x="65388" y="15781"/>
                </a:lnTo>
                <a:cubicBezTo>
                  <a:pt x="62863" y="1789"/>
                  <a:pt x="50659" y="-8417"/>
                  <a:pt x="36403" y="-8417"/>
                </a:cubicBezTo>
                <a:lnTo>
                  <a:pt x="12625" y="-8417"/>
                </a:lnTo>
                <a:close/>
                <a:moveTo>
                  <a:pt x="109418" y="269337"/>
                </a:moveTo>
                <a:cubicBezTo>
                  <a:pt x="123354" y="269337"/>
                  <a:pt x="134669" y="258023"/>
                  <a:pt x="134669" y="244087"/>
                </a:cubicBezTo>
                <a:cubicBezTo>
                  <a:pt x="134669" y="230151"/>
                  <a:pt x="123354" y="218837"/>
                  <a:pt x="109418" y="218837"/>
                </a:cubicBezTo>
                <a:cubicBezTo>
                  <a:pt x="95482" y="218837"/>
                  <a:pt x="84168" y="230151"/>
                  <a:pt x="84168" y="244087"/>
                </a:cubicBezTo>
                <a:cubicBezTo>
                  <a:pt x="84168" y="258023"/>
                  <a:pt x="95482" y="269337"/>
                  <a:pt x="109418" y="269337"/>
                </a:cubicBezTo>
                <a:close/>
                <a:moveTo>
                  <a:pt x="227253" y="269337"/>
                </a:moveTo>
                <a:cubicBezTo>
                  <a:pt x="241189" y="269337"/>
                  <a:pt x="252504" y="258023"/>
                  <a:pt x="252504" y="244087"/>
                </a:cubicBezTo>
                <a:cubicBezTo>
                  <a:pt x="252504" y="230151"/>
                  <a:pt x="241189" y="218837"/>
                  <a:pt x="227253" y="218837"/>
                </a:cubicBezTo>
                <a:cubicBezTo>
                  <a:pt x="213317" y="218837"/>
                  <a:pt x="202003" y="230151"/>
                  <a:pt x="202003" y="244087"/>
                </a:cubicBezTo>
                <a:cubicBezTo>
                  <a:pt x="202003" y="258023"/>
                  <a:pt x="213317" y="269337"/>
                  <a:pt x="227253" y="269337"/>
                </a:cubicBezTo>
                <a:close/>
              </a:path>
            </a:pathLst>
          </a:custGeom>
          <a:solidFill>
            <a:srgbClr val="3B82F6"/>
          </a:solidFill>
          <a:ln/>
        </p:spPr>
      </p:sp>
      <p:sp>
        <p:nvSpPr>
          <p:cNvPr id="23" name="Text 21"/>
          <p:cNvSpPr/>
          <p:nvPr/>
        </p:nvSpPr>
        <p:spPr>
          <a:xfrm>
            <a:off x="7156291" y="1939228"/>
            <a:ext cx="1346686" cy="287293"/>
          </a:xfrm>
          <a:prstGeom prst="rect">
            <a:avLst/>
          </a:prstGeom>
          <a:noFill/>
          <a:ln/>
        </p:spPr>
        <p:txBody>
          <a:bodyPr wrap="square" lIns="0" tIns="0" rIns="0" bIns="0" rtlCol="0" anchor="ctr"/>
          <a:lstStyle/>
          <a:p>
            <a:pPr>
              <a:lnSpc>
                <a:spcPct val="110000"/>
              </a:lnSpc>
            </a:pPr>
            <a:r>
              <a:rPr lang="en-US" sz="1697" b="1" dirty="0">
                <a:solidFill>
                  <a:srgbClr val="F9FAFB"/>
                </a:solidFill>
                <a:latin typeface="Liter" pitchFamily="34" charset="0"/>
                <a:ea typeface="Liter" pitchFamily="34" charset="-122"/>
                <a:cs typeface="Liter" pitchFamily="34" charset="-120"/>
              </a:rPr>
              <a:t>E-commerce</a:t>
            </a:r>
            <a:endParaRPr lang="en-US" sz="1600" dirty="0"/>
          </a:p>
        </p:txBody>
      </p:sp>
      <p:sp>
        <p:nvSpPr>
          <p:cNvPr id="24" name="Shape 22"/>
          <p:cNvSpPr/>
          <p:nvPr/>
        </p:nvSpPr>
        <p:spPr>
          <a:xfrm>
            <a:off x="6456014" y="2549726"/>
            <a:ext cx="143647" cy="143647"/>
          </a:xfrm>
          <a:custGeom>
            <a:avLst/>
            <a:gdLst/>
            <a:ahLst/>
            <a:cxnLst/>
            <a:rect l="l" t="t" r="r" b="b"/>
            <a:pathLst>
              <a:path w="143647" h="143647">
                <a:moveTo>
                  <a:pt x="8613" y="20284"/>
                </a:moveTo>
                <a:cubicBezTo>
                  <a:pt x="10549" y="13579"/>
                  <a:pt x="16693" y="8978"/>
                  <a:pt x="23679" y="8978"/>
                </a:cubicBezTo>
                <a:lnTo>
                  <a:pt x="120192" y="8978"/>
                </a:lnTo>
                <a:cubicBezTo>
                  <a:pt x="127178" y="8978"/>
                  <a:pt x="133322" y="13579"/>
                  <a:pt x="135286" y="20284"/>
                </a:cubicBezTo>
                <a:lnTo>
                  <a:pt x="141851" y="42785"/>
                </a:lnTo>
                <a:cubicBezTo>
                  <a:pt x="145442" y="55046"/>
                  <a:pt x="136212" y="67334"/>
                  <a:pt x="123446" y="67334"/>
                </a:cubicBezTo>
                <a:cubicBezTo>
                  <a:pt x="116068" y="67334"/>
                  <a:pt x="109587" y="63154"/>
                  <a:pt x="106388" y="56926"/>
                </a:cubicBezTo>
                <a:cubicBezTo>
                  <a:pt x="103134" y="63070"/>
                  <a:pt x="96681" y="67334"/>
                  <a:pt x="89162" y="67334"/>
                </a:cubicBezTo>
                <a:cubicBezTo>
                  <a:pt x="81699" y="67334"/>
                  <a:pt x="75218" y="63126"/>
                  <a:pt x="71964" y="56954"/>
                </a:cubicBezTo>
                <a:cubicBezTo>
                  <a:pt x="68709" y="63126"/>
                  <a:pt x="62228" y="67334"/>
                  <a:pt x="54765" y="67334"/>
                </a:cubicBezTo>
                <a:cubicBezTo>
                  <a:pt x="47246" y="67334"/>
                  <a:pt x="40793" y="63098"/>
                  <a:pt x="37539" y="56926"/>
                </a:cubicBezTo>
                <a:cubicBezTo>
                  <a:pt x="34341" y="63126"/>
                  <a:pt x="27860" y="67334"/>
                  <a:pt x="20481" y="67334"/>
                </a:cubicBezTo>
                <a:cubicBezTo>
                  <a:pt x="7687" y="67334"/>
                  <a:pt x="-1515" y="55074"/>
                  <a:pt x="2076" y="42785"/>
                </a:cubicBezTo>
                <a:lnTo>
                  <a:pt x="8613" y="20284"/>
                </a:lnTo>
                <a:close/>
                <a:moveTo>
                  <a:pt x="27046" y="98757"/>
                </a:moveTo>
                <a:lnTo>
                  <a:pt x="116825" y="98757"/>
                </a:lnTo>
                <a:lnTo>
                  <a:pt x="116825" y="80128"/>
                </a:lnTo>
                <a:cubicBezTo>
                  <a:pt x="118957" y="80577"/>
                  <a:pt x="121174" y="80801"/>
                  <a:pt x="123418" y="80801"/>
                </a:cubicBezTo>
                <a:cubicBezTo>
                  <a:pt x="127430" y="80801"/>
                  <a:pt x="131274" y="80072"/>
                  <a:pt x="134781" y="78781"/>
                </a:cubicBezTo>
                <a:lnTo>
                  <a:pt x="134781" y="121202"/>
                </a:lnTo>
                <a:cubicBezTo>
                  <a:pt x="134781" y="128637"/>
                  <a:pt x="128749" y="134669"/>
                  <a:pt x="121314" y="134669"/>
                </a:cubicBezTo>
                <a:lnTo>
                  <a:pt x="22557" y="134669"/>
                </a:lnTo>
                <a:cubicBezTo>
                  <a:pt x="15122" y="134669"/>
                  <a:pt x="9090" y="128637"/>
                  <a:pt x="9090" y="121202"/>
                </a:cubicBezTo>
                <a:lnTo>
                  <a:pt x="9090" y="78781"/>
                </a:lnTo>
                <a:cubicBezTo>
                  <a:pt x="12597" y="80072"/>
                  <a:pt x="16413" y="80801"/>
                  <a:pt x="20453" y="80801"/>
                </a:cubicBezTo>
                <a:cubicBezTo>
                  <a:pt x="22725" y="80801"/>
                  <a:pt x="24914" y="80577"/>
                  <a:pt x="27046" y="80128"/>
                </a:cubicBezTo>
                <a:lnTo>
                  <a:pt x="27046" y="98757"/>
                </a:lnTo>
                <a:close/>
              </a:path>
            </a:pathLst>
          </a:custGeom>
          <a:solidFill>
            <a:srgbClr val="3B82F6"/>
          </a:solidFill>
          <a:ln/>
        </p:spPr>
      </p:sp>
      <p:sp>
        <p:nvSpPr>
          <p:cNvPr id="25" name="Text 23"/>
          <p:cNvSpPr/>
          <p:nvPr/>
        </p:nvSpPr>
        <p:spPr>
          <a:xfrm>
            <a:off x="6725352" y="2513814"/>
            <a:ext cx="2612571"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Flipkart</a:t>
            </a:r>
            <a:endParaRPr lang="en-US" sz="1600" dirty="0"/>
          </a:p>
        </p:txBody>
      </p:sp>
      <p:sp>
        <p:nvSpPr>
          <p:cNvPr id="26" name="Text 24"/>
          <p:cNvSpPr/>
          <p:nvPr/>
        </p:nvSpPr>
        <p:spPr>
          <a:xfrm>
            <a:off x="6725352" y="2729284"/>
            <a:ext cx="2603594"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Pricing strategy impact (before/after discount)</a:t>
            </a:r>
            <a:endParaRPr lang="en-US" sz="1600" dirty="0"/>
          </a:p>
        </p:txBody>
      </p:sp>
      <p:sp>
        <p:nvSpPr>
          <p:cNvPr id="27" name="Shape 25"/>
          <p:cNvSpPr/>
          <p:nvPr/>
        </p:nvSpPr>
        <p:spPr>
          <a:xfrm>
            <a:off x="6464992" y="3052489"/>
            <a:ext cx="125691" cy="143647"/>
          </a:xfrm>
          <a:custGeom>
            <a:avLst/>
            <a:gdLst/>
            <a:ahLst/>
            <a:cxnLst/>
            <a:rect l="l" t="t" r="r" b="b"/>
            <a:pathLst>
              <a:path w="125691" h="143647">
                <a:moveTo>
                  <a:pt x="108997" y="29206"/>
                </a:moveTo>
                <a:cubicBezTo>
                  <a:pt x="108941" y="28898"/>
                  <a:pt x="108801" y="28617"/>
                  <a:pt x="108577" y="28421"/>
                </a:cubicBezTo>
                <a:cubicBezTo>
                  <a:pt x="108352" y="28224"/>
                  <a:pt x="108072" y="28084"/>
                  <a:pt x="107763" y="28084"/>
                </a:cubicBezTo>
                <a:cubicBezTo>
                  <a:pt x="107202" y="28084"/>
                  <a:pt x="97326" y="27860"/>
                  <a:pt x="97326" y="27860"/>
                </a:cubicBezTo>
                <a:cubicBezTo>
                  <a:pt x="97326" y="27860"/>
                  <a:pt x="91266" y="22024"/>
                  <a:pt x="89022" y="19779"/>
                </a:cubicBezTo>
                <a:lnTo>
                  <a:pt x="89022" y="141178"/>
                </a:lnTo>
                <a:lnTo>
                  <a:pt x="124288" y="132424"/>
                </a:lnTo>
                <a:cubicBezTo>
                  <a:pt x="124288" y="132424"/>
                  <a:pt x="109138" y="29880"/>
                  <a:pt x="109025" y="29206"/>
                </a:cubicBezTo>
                <a:close/>
                <a:moveTo>
                  <a:pt x="81054" y="19779"/>
                </a:moveTo>
                <a:cubicBezTo>
                  <a:pt x="80521" y="18068"/>
                  <a:pt x="79847" y="16441"/>
                  <a:pt x="79034" y="14842"/>
                </a:cubicBezTo>
                <a:cubicBezTo>
                  <a:pt x="76116" y="9230"/>
                  <a:pt x="71739" y="6172"/>
                  <a:pt x="66577" y="6172"/>
                </a:cubicBezTo>
                <a:cubicBezTo>
                  <a:pt x="66212" y="6172"/>
                  <a:pt x="65819" y="6200"/>
                  <a:pt x="65455" y="6285"/>
                </a:cubicBezTo>
                <a:cubicBezTo>
                  <a:pt x="65342" y="6060"/>
                  <a:pt x="65118" y="5948"/>
                  <a:pt x="65006" y="5723"/>
                </a:cubicBezTo>
                <a:cubicBezTo>
                  <a:pt x="62761" y="3254"/>
                  <a:pt x="59843" y="2132"/>
                  <a:pt x="56364" y="2244"/>
                </a:cubicBezTo>
                <a:cubicBezTo>
                  <a:pt x="49631" y="2469"/>
                  <a:pt x="42898" y="7295"/>
                  <a:pt x="37511" y="15936"/>
                </a:cubicBezTo>
                <a:cubicBezTo>
                  <a:pt x="33695" y="21996"/>
                  <a:pt x="30777" y="29627"/>
                  <a:pt x="29992" y="35603"/>
                </a:cubicBezTo>
                <a:cubicBezTo>
                  <a:pt x="22248" y="37960"/>
                  <a:pt x="16862" y="39643"/>
                  <a:pt x="16749" y="39755"/>
                </a:cubicBezTo>
                <a:cubicBezTo>
                  <a:pt x="12822" y="40990"/>
                  <a:pt x="12709" y="41102"/>
                  <a:pt x="12260" y="44805"/>
                </a:cubicBezTo>
                <a:cubicBezTo>
                  <a:pt x="11924" y="47611"/>
                  <a:pt x="1599" y="126673"/>
                  <a:pt x="1599" y="126673"/>
                </a:cubicBezTo>
                <a:lnTo>
                  <a:pt x="86497" y="141402"/>
                </a:lnTo>
                <a:lnTo>
                  <a:pt x="86497" y="18433"/>
                </a:lnTo>
                <a:cubicBezTo>
                  <a:pt x="86076" y="18461"/>
                  <a:pt x="85683" y="18489"/>
                  <a:pt x="85262" y="18545"/>
                </a:cubicBezTo>
                <a:cubicBezTo>
                  <a:pt x="85262" y="18545"/>
                  <a:pt x="83691" y="18994"/>
                  <a:pt x="81110" y="19779"/>
                </a:cubicBezTo>
                <a:close/>
                <a:moveTo>
                  <a:pt x="65539" y="24605"/>
                </a:moveTo>
                <a:cubicBezTo>
                  <a:pt x="61050" y="25952"/>
                  <a:pt x="56112" y="27523"/>
                  <a:pt x="51286" y="28982"/>
                </a:cubicBezTo>
                <a:cubicBezTo>
                  <a:pt x="52633" y="23707"/>
                  <a:pt x="55326" y="18433"/>
                  <a:pt x="58469" y="14954"/>
                </a:cubicBezTo>
                <a:cubicBezTo>
                  <a:pt x="59703" y="13719"/>
                  <a:pt x="61386" y="12260"/>
                  <a:pt x="63294" y="11363"/>
                </a:cubicBezTo>
                <a:cubicBezTo>
                  <a:pt x="65202" y="15403"/>
                  <a:pt x="65651" y="20902"/>
                  <a:pt x="65539" y="24605"/>
                </a:cubicBezTo>
                <a:close/>
                <a:moveTo>
                  <a:pt x="56336" y="6846"/>
                </a:moveTo>
                <a:cubicBezTo>
                  <a:pt x="57739" y="6790"/>
                  <a:pt x="59142" y="7154"/>
                  <a:pt x="60376" y="7856"/>
                </a:cubicBezTo>
                <a:cubicBezTo>
                  <a:pt x="58581" y="8753"/>
                  <a:pt x="56785" y="10212"/>
                  <a:pt x="55102" y="11896"/>
                </a:cubicBezTo>
                <a:cubicBezTo>
                  <a:pt x="50837" y="16497"/>
                  <a:pt x="47583" y="23679"/>
                  <a:pt x="46236" y="30553"/>
                </a:cubicBezTo>
                <a:cubicBezTo>
                  <a:pt x="42196" y="31787"/>
                  <a:pt x="38156" y="33022"/>
                  <a:pt x="34453" y="34144"/>
                </a:cubicBezTo>
                <a:cubicBezTo>
                  <a:pt x="36922" y="23371"/>
                  <a:pt x="46012" y="7098"/>
                  <a:pt x="56336" y="6874"/>
                </a:cubicBezTo>
                <a:close/>
                <a:moveTo>
                  <a:pt x="43318" y="68625"/>
                </a:moveTo>
                <a:cubicBezTo>
                  <a:pt x="43767" y="75807"/>
                  <a:pt x="62733" y="77378"/>
                  <a:pt x="63855" y="94352"/>
                </a:cubicBezTo>
                <a:cubicBezTo>
                  <a:pt x="64641" y="107707"/>
                  <a:pt x="56785" y="116825"/>
                  <a:pt x="45451" y="117498"/>
                </a:cubicBezTo>
                <a:cubicBezTo>
                  <a:pt x="31759" y="118396"/>
                  <a:pt x="24240" y="110316"/>
                  <a:pt x="24240" y="110316"/>
                </a:cubicBezTo>
                <a:lnTo>
                  <a:pt x="27158" y="97971"/>
                </a:lnTo>
                <a:cubicBezTo>
                  <a:pt x="27158" y="97971"/>
                  <a:pt x="34677" y="103695"/>
                  <a:pt x="40737" y="103246"/>
                </a:cubicBezTo>
                <a:cubicBezTo>
                  <a:pt x="44665" y="103022"/>
                  <a:pt x="46124" y="99767"/>
                  <a:pt x="46012" y="97523"/>
                </a:cubicBezTo>
                <a:cubicBezTo>
                  <a:pt x="45451" y="88096"/>
                  <a:pt x="29964" y="88657"/>
                  <a:pt x="28954" y="73142"/>
                </a:cubicBezTo>
                <a:cubicBezTo>
                  <a:pt x="28056" y="60124"/>
                  <a:pt x="36585" y="46966"/>
                  <a:pt x="55467" y="45731"/>
                </a:cubicBezTo>
                <a:cubicBezTo>
                  <a:pt x="62761" y="45282"/>
                  <a:pt x="66465" y="47078"/>
                  <a:pt x="66465" y="47078"/>
                </a:cubicBezTo>
                <a:lnTo>
                  <a:pt x="62200" y="63238"/>
                </a:lnTo>
                <a:cubicBezTo>
                  <a:pt x="62200" y="63238"/>
                  <a:pt x="57374" y="60994"/>
                  <a:pt x="51651" y="61443"/>
                </a:cubicBezTo>
                <a:cubicBezTo>
                  <a:pt x="43346" y="62004"/>
                  <a:pt x="43234" y="67278"/>
                  <a:pt x="43346" y="68625"/>
                </a:cubicBezTo>
                <a:close/>
                <a:moveTo>
                  <a:pt x="70028" y="23258"/>
                </a:moveTo>
                <a:cubicBezTo>
                  <a:pt x="70028" y="19892"/>
                  <a:pt x="69579" y="15066"/>
                  <a:pt x="68008" y="11026"/>
                </a:cubicBezTo>
                <a:cubicBezTo>
                  <a:pt x="73170" y="12036"/>
                  <a:pt x="75639" y="17759"/>
                  <a:pt x="76761" y="21238"/>
                </a:cubicBezTo>
                <a:cubicBezTo>
                  <a:pt x="74741" y="21799"/>
                  <a:pt x="72497" y="22473"/>
                  <a:pt x="70028" y="23258"/>
                </a:cubicBezTo>
                <a:close/>
              </a:path>
            </a:pathLst>
          </a:custGeom>
          <a:solidFill>
            <a:srgbClr val="3B82F6"/>
          </a:solidFill>
          <a:ln/>
        </p:spPr>
      </p:sp>
      <p:sp>
        <p:nvSpPr>
          <p:cNvPr id="28" name="Text 26"/>
          <p:cNvSpPr/>
          <p:nvPr/>
        </p:nvSpPr>
        <p:spPr>
          <a:xfrm>
            <a:off x="6725352" y="3016577"/>
            <a:ext cx="2531770"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Shopify</a:t>
            </a:r>
            <a:endParaRPr lang="en-US" sz="1600" dirty="0"/>
          </a:p>
        </p:txBody>
      </p:sp>
      <p:sp>
        <p:nvSpPr>
          <p:cNvPr id="29" name="Text 27"/>
          <p:cNvSpPr/>
          <p:nvPr/>
        </p:nvSpPr>
        <p:spPr>
          <a:xfrm>
            <a:off x="6725352" y="3232047"/>
            <a:ext cx="2522792"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Conversion rate optimization on same stores</a:t>
            </a:r>
            <a:endParaRPr lang="en-US" sz="1600" dirty="0"/>
          </a:p>
        </p:txBody>
      </p:sp>
      <p:sp>
        <p:nvSpPr>
          <p:cNvPr id="30" name="Shape 28"/>
          <p:cNvSpPr/>
          <p:nvPr/>
        </p:nvSpPr>
        <p:spPr>
          <a:xfrm>
            <a:off x="6456014" y="3555252"/>
            <a:ext cx="143647" cy="143647"/>
          </a:xfrm>
          <a:custGeom>
            <a:avLst/>
            <a:gdLst/>
            <a:ahLst/>
            <a:cxnLst/>
            <a:rect l="l" t="t" r="r" b="b"/>
            <a:pathLst>
              <a:path w="143647" h="143647">
                <a:moveTo>
                  <a:pt x="17956" y="17956"/>
                </a:moveTo>
                <a:cubicBezTo>
                  <a:pt x="17956" y="12990"/>
                  <a:pt x="13944" y="8978"/>
                  <a:pt x="8978" y="8978"/>
                </a:cubicBezTo>
                <a:cubicBezTo>
                  <a:pt x="4012" y="8978"/>
                  <a:pt x="0" y="12990"/>
                  <a:pt x="0" y="17956"/>
                </a:cubicBezTo>
                <a:lnTo>
                  <a:pt x="0" y="112224"/>
                </a:lnTo>
                <a:cubicBezTo>
                  <a:pt x="0" y="124625"/>
                  <a:pt x="10044" y="134669"/>
                  <a:pt x="22445" y="134669"/>
                </a:cubicBezTo>
                <a:lnTo>
                  <a:pt x="134669" y="134669"/>
                </a:lnTo>
                <a:cubicBezTo>
                  <a:pt x="139635" y="134669"/>
                  <a:pt x="143647" y="130657"/>
                  <a:pt x="143647" y="125691"/>
                </a:cubicBezTo>
                <a:cubicBezTo>
                  <a:pt x="143647" y="120725"/>
                  <a:pt x="139635" y="116713"/>
                  <a:pt x="134669" y="116713"/>
                </a:cubicBezTo>
                <a:lnTo>
                  <a:pt x="22445" y="116713"/>
                </a:lnTo>
                <a:cubicBezTo>
                  <a:pt x="19976" y="116713"/>
                  <a:pt x="17956" y="114693"/>
                  <a:pt x="17956" y="112224"/>
                </a:cubicBezTo>
                <a:lnTo>
                  <a:pt x="17956" y="17956"/>
                </a:lnTo>
                <a:close/>
                <a:moveTo>
                  <a:pt x="132031" y="42252"/>
                </a:moveTo>
                <a:cubicBezTo>
                  <a:pt x="135538" y="38745"/>
                  <a:pt x="135538" y="33050"/>
                  <a:pt x="132031" y="29543"/>
                </a:cubicBezTo>
                <a:cubicBezTo>
                  <a:pt x="128524" y="26036"/>
                  <a:pt x="122829" y="26036"/>
                  <a:pt x="119322" y="29543"/>
                </a:cubicBezTo>
                <a:lnTo>
                  <a:pt x="89779" y="59114"/>
                </a:lnTo>
                <a:lnTo>
                  <a:pt x="73675" y="43038"/>
                </a:lnTo>
                <a:cubicBezTo>
                  <a:pt x="70168" y="39531"/>
                  <a:pt x="64473" y="39531"/>
                  <a:pt x="60966" y="43038"/>
                </a:cubicBezTo>
                <a:lnTo>
                  <a:pt x="34032" y="69972"/>
                </a:lnTo>
                <a:cubicBezTo>
                  <a:pt x="30525" y="73479"/>
                  <a:pt x="30525" y="79174"/>
                  <a:pt x="34032" y="82681"/>
                </a:cubicBezTo>
                <a:cubicBezTo>
                  <a:pt x="37539" y="86188"/>
                  <a:pt x="43234" y="86188"/>
                  <a:pt x="46741" y="82681"/>
                </a:cubicBezTo>
                <a:lnTo>
                  <a:pt x="67334" y="62088"/>
                </a:lnTo>
                <a:lnTo>
                  <a:pt x="83438" y="78192"/>
                </a:lnTo>
                <a:cubicBezTo>
                  <a:pt x="86945" y="81699"/>
                  <a:pt x="92641" y="81699"/>
                  <a:pt x="96148" y="78192"/>
                </a:cubicBezTo>
                <a:lnTo>
                  <a:pt x="132059" y="42280"/>
                </a:lnTo>
                <a:close/>
              </a:path>
            </a:pathLst>
          </a:custGeom>
          <a:solidFill>
            <a:srgbClr val="3B82F6"/>
          </a:solidFill>
          <a:ln/>
        </p:spPr>
      </p:sp>
      <p:sp>
        <p:nvSpPr>
          <p:cNvPr id="31" name="Text 29"/>
          <p:cNvSpPr/>
          <p:nvPr/>
        </p:nvSpPr>
        <p:spPr>
          <a:xfrm>
            <a:off x="6725352" y="3519340"/>
            <a:ext cx="2280389"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General</a:t>
            </a:r>
            <a:endParaRPr lang="en-US" sz="1600" dirty="0"/>
          </a:p>
        </p:txBody>
      </p:sp>
      <p:sp>
        <p:nvSpPr>
          <p:cNvPr id="32" name="Text 30"/>
          <p:cNvSpPr/>
          <p:nvPr/>
        </p:nvSpPr>
        <p:spPr>
          <a:xfrm>
            <a:off x="6725352" y="3734810"/>
            <a:ext cx="2271411"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Product recommendation engine testing</a:t>
            </a:r>
            <a:endParaRPr lang="en-US" sz="1600" dirty="0"/>
          </a:p>
        </p:txBody>
      </p:sp>
      <p:sp>
        <p:nvSpPr>
          <p:cNvPr id="33" name="Shape 31"/>
          <p:cNvSpPr/>
          <p:nvPr/>
        </p:nvSpPr>
        <p:spPr>
          <a:xfrm>
            <a:off x="377072" y="4339361"/>
            <a:ext cx="5629149" cy="2576660"/>
          </a:xfrm>
          <a:custGeom>
            <a:avLst/>
            <a:gdLst/>
            <a:ahLst/>
            <a:cxnLst/>
            <a:rect l="l" t="t" r="r" b="b"/>
            <a:pathLst>
              <a:path w="5629149" h="2576660">
                <a:moveTo>
                  <a:pt x="35912" y="0"/>
                </a:moveTo>
                <a:lnTo>
                  <a:pt x="5557337" y="0"/>
                </a:lnTo>
                <a:cubicBezTo>
                  <a:pt x="5596998" y="0"/>
                  <a:pt x="5629149" y="32151"/>
                  <a:pt x="5629149" y="71812"/>
                </a:cubicBezTo>
                <a:lnTo>
                  <a:pt x="5629149" y="2504848"/>
                </a:lnTo>
                <a:cubicBezTo>
                  <a:pt x="5629149" y="2544509"/>
                  <a:pt x="5596998" y="2576660"/>
                  <a:pt x="5557337" y="2576660"/>
                </a:cubicBezTo>
                <a:lnTo>
                  <a:pt x="35912" y="2576660"/>
                </a:lnTo>
                <a:cubicBezTo>
                  <a:pt x="16078" y="2576660"/>
                  <a:pt x="0" y="2560582"/>
                  <a:pt x="0" y="2540748"/>
                </a:cubicBezTo>
                <a:lnTo>
                  <a:pt x="0" y="35912"/>
                </a:lnTo>
                <a:cubicBezTo>
                  <a:pt x="0" y="16091"/>
                  <a:pt x="16091" y="0"/>
                  <a:pt x="35912" y="0"/>
                </a:cubicBezTo>
                <a:close/>
              </a:path>
            </a:pathLst>
          </a:custGeom>
          <a:solidFill>
            <a:srgbClr val="374151"/>
          </a:solidFill>
          <a:ln/>
        </p:spPr>
      </p:sp>
      <p:sp>
        <p:nvSpPr>
          <p:cNvPr id="34" name="Shape 32"/>
          <p:cNvSpPr/>
          <p:nvPr/>
        </p:nvSpPr>
        <p:spPr>
          <a:xfrm>
            <a:off x="377072" y="4339361"/>
            <a:ext cx="35912" cy="2576660"/>
          </a:xfrm>
          <a:custGeom>
            <a:avLst/>
            <a:gdLst/>
            <a:ahLst/>
            <a:cxnLst/>
            <a:rect l="l" t="t" r="r" b="b"/>
            <a:pathLst>
              <a:path w="35912" h="2576660">
                <a:moveTo>
                  <a:pt x="35912" y="0"/>
                </a:moveTo>
                <a:lnTo>
                  <a:pt x="35912" y="0"/>
                </a:lnTo>
                <a:lnTo>
                  <a:pt x="35912" y="2576660"/>
                </a:lnTo>
                <a:lnTo>
                  <a:pt x="35912" y="2576660"/>
                </a:lnTo>
                <a:cubicBezTo>
                  <a:pt x="16078" y="2576660"/>
                  <a:pt x="0" y="2560582"/>
                  <a:pt x="0" y="2540748"/>
                </a:cubicBezTo>
                <a:lnTo>
                  <a:pt x="0" y="35912"/>
                </a:lnTo>
                <a:cubicBezTo>
                  <a:pt x="0" y="16078"/>
                  <a:pt x="16078" y="0"/>
                  <a:pt x="35912" y="0"/>
                </a:cubicBezTo>
                <a:close/>
              </a:path>
            </a:pathLst>
          </a:custGeom>
          <a:solidFill>
            <a:srgbClr val="10B981"/>
          </a:solidFill>
          <a:ln/>
        </p:spPr>
      </p:sp>
      <p:sp>
        <p:nvSpPr>
          <p:cNvPr id="35" name="Shape 33"/>
          <p:cNvSpPr/>
          <p:nvPr/>
        </p:nvSpPr>
        <p:spPr>
          <a:xfrm>
            <a:off x="610498" y="4554831"/>
            <a:ext cx="574586" cy="574586"/>
          </a:xfrm>
          <a:custGeom>
            <a:avLst/>
            <a:gdLst/>
            <a:ahLst/>
            <a:cxnLst/>
            <a:rect l="l" t="t" r="r" b="b"/>
            <a:pathLst>
              <a:path w="574586" h="574586">
                <a:moveTo>
                  <a:pt x="71823" y="0"/>
                </a:moveTo>
                <a:lnTo>
                  <a:pt x="502763" y="0"/>
                </a:lnTo>
                <a:cubicBezTo>
                  <a:pt x="542430" y="0"/>
                  <a:pt x="574586" y="32156"/>
                  <a:pt x="574586" y="71823"/>
                </a:cubicBezTo>
                <a:lnTo>
                  <a:pt x="574586" y="502763"/>
                </a:lnTo>
                <a:cubicBezTo>
                  <a:pt x="574586" y="542430"/>
                  <a:pt x="542430" y="574586"/>
                  <a:pt x="502763" y="574586"/>
                </a:cubicBezTo>
                <a:lnTo>
                  <a:pt x="71823" y="574586"/>
                </a:lnTo>
                <a:cubicBezTo>
                  <a:pt x="32156" y="574586"/>
                  <a:pt x="0" y="542430"/>
                  <a:pt x="0" y="502763"/>
                </a:cubicBezTo>
                <a:lnTo>
                  <a:pt x="0" y="71823"/>
                </a:lnTo>
                <a:cubicBezTo>
                  <a:pt x="0" y="32156"/>
                  <a:pt x="32156" y="0"/>
                  <a:pt x="71823" y="0"/>
                </a:cubicBezTo>
                <a:close/>
              </a:path>
            </a:pathLst>
          </a:custGeom>
          <a:solidFill>
            <a:srgbClr val="10B981">
              <a:alpha val="20000"/>
            </a:srgbClr>
          </a:solidFill>
          <a:ln/>
        </p:spPr>
      </p:sp>
      <p:sp>
        <p:nvSpPr>
          <p:cNvPr id="36" name="Shape 34"/>
          <p:cNvSpPr/>
          <p:nvPr/>
        </p:nvSpPr>
        <p:spPr>
          <a:xfrm>
            <a:off x="765367" y="4707456"/>
            <a:ext cx="269337" cy="269337"/>
          </a:xfrm>
          <a:custGeom>
            <a:avLst/>
            <a:gdLst/>
            <a:ahLst/>
            <a:cxnLst/>
            <a:rect l="l" t="t" r="r" b="b"/>
            <a:pathLst>
              <a:path w="269337" h="269337">
                <a:moveTo>
                  <a:pt x="16834" y="16834"/>
                </a:moveTo>
                <a:cubicBezTo>
                  <a:pt x="7523" y="16834"/>
                  <a:pt x="0" y="24356"/>
                  <a:pt x="0" y="33667"/>
                </a:cubicBezTo>
                <a:lnTo>
                  <a:pt x="0" y="227253"/>
                </a:lnTo>
                <a:cubicBezTo>
                  <a:pt x="0" y="241194"/>
                  <a:pt x="11310" y="252504"/>
                  <a:pt x="25250" y="252504"/>
                </a:cubicBezTo>
                <a:lnTo>
                  <a:pt x="244087" y="252504"/>
                </a:lnTo>
                <a:cubicBezTo>
                  <a:pt x="258027" y="252504"/>
                  <a:pt x="269337" y="241194"/>
                  <a:pt x="269337" y="227253"/>
                </a:cubicBezTo>
                <a:lnTo>
                  <a:pt x="269337" y="80065"/>
                </a:lnTo>
                <a:cubicBezTo>
                  <a:pt x="269337" y="70491"/>
                  <a:pt x="259132" y="64441"/>
                  <a:pt x="250715" y="68965"/>
                </a:cubicBezTo>
                <a:lnTo>
                  <a:pt x="168336" y="113311"/>
                </a:lnTo>
                <a:lnTo>
                  <a:pt x="168336" y="80065"/>
                </a:lnTo>
                <a:cubicBezTo>
                  <a:pt x="168336" y="70491"/>
                  <a:pt x="158130" y="64441"/>
                  <a:pt x="149714" y="68965"/>
                </a:cubicBezTo>
                <a:lnTo>
                  <a:pt x="67334" y="113311"/>
                </a:lnTo>
                <a:lnTo>
                  <a:pt x="67334" y="33667"/>
                </a:lnTo>
                <a:cubicBezTo>
                  <a:pt x="67334" y="24356"/>
                  <a:pt x="59812" y="16834"/>
                  <a:pt x="50501" y="16834"/>
                </a:cubicBezTo>
                <a:lnTo>
                  <a:pt x="16834" y="16834"/>
                </a:lnTo>
                <a:close/>
              </a:path>
            </a:pathLst>
          </a:custGeom>
          <a:solidFill>
            <a:srgbClr val="10B981"/>
          </a:solidFill>
          <a:ln/>
        </p:spPr>
      </p:sp>
      <p:sp>
        <p:nvSpPr>
          <p:cNvPr id="37" name="Text 35"/>
          <p:cNvSpPr/>
          <p:nvPr/>
        </p:nvSpPr>
        <p:spPr>
          <a:xfrm>
            <a:off x="1328730" y="4698478"/>
            <a:ext cx="1490333" cy="287293"/>
          </a:xfrm>
          <a:prstGeom prst="rect">
            <a:avLst/>
          </a:prstGeom>
          <a:noFill/>
          <a:ln/>
        </p:spPr>
        <p:txBody>
          <a:bodyPr wrap="square" lIns="0" tIns="0" rIns="0" bIns="0" rtlCol="0" anchor="ctr"/>
          <a:lstStyle/>
          <a:p>
            <a:pPr>
              <a:lnSpc>
                <a:spcPct val="110000"/>
              </a:lnSpc>
            </a:pPr>
            <a:r>
              <a:rPr lang="en-US" sz="1697" b="1" dirty="0">
                <a:solidFill>
                  <a:srgbClr val="F9FAFB"/>
                </a:solidFill>
                <a:latin typeface="Liter" pitchFamily="34" charset="0"/>
                <a:ea typeface="Liter" pitchFamily="34" charset="-122"/>
                <a:cs typeface="Liter" pitchFamily="34" charset="-120"/>
              </a:rPr>
              <a:t>Manufacturing</a:t>
            </a:r>
            <a:endParaRPr lang="en-US" sz="1600" dirty="0"/>
          </a:p>
        </p:txBody>
      </p:sp>
      <p:sp>
        <p:nvSpPr>
          <p:cNvPr id="38" name="Shape 36"/>
          <p:cNvSpPr/>
          <p:nvPr/>
        </p:nvSpPr>
        <p:spPr>
          <a:xfrm>
            <a:off x="628454" y="5308975"/>
            <a:ext cx="143647" cy="143647"/>
          </a:xfrm>
          <a:custGeom>
            <a:avLst/>
            <a:gdLst/>
            <a:ahLst/>
            <a:cxnLst/>
            <a:rect l="l" t="t" r="r" b="b"/>
            <a:pathLst>
              <a:path w="143647" h="143647">
                <a:moveTo>
                  <a:pt x="37932" y="32938"/>
                </a:moveTo>
                <a:lnTo>
                  <a:pt x="30609" y="53867"/>
                </a:lnTo>
                <a:lnTo>
                  <a:pt x="113037" y="53867"/>
                </a:lnTo>
                <a:lnTo>
                  <a:pt x="105715" y="32938"/>
                </a:lnTo>
                <a:cubicBezTo>
                  <a:pt x="104452" y="29347"/>
                  <a:pt x="101058" y="26934"/>
                  <a:pt x="97242" y="26934"/>
                </a:cubicBezTo>
                <a:lnTo>
                  <a:pt x="46405" y="26934"/>
                </a:lnTo>
                <a:cubicBezTo>
                  <a:pt x="42589" y="26934"/>
                  <a:pt x="39194" y="29347"/>
                  <a:pt x="37932" y="32938"/>
                </a:cubicBezTo>
                <a:close/>
                <a:moveTo>
                  <a:pt x="11110" y="55214"/>
                </a:moveTo>
                <a:lnTo>
                  <a:pt x="20986" y="27018"/>
                </a:lnTo>
                <a:cubicBezTo>
                  <a:pt x="24773" y="16216"/>
                  <a:pt x="34958" y="8978"/>
                  <a:pt x="46405" y="8978"/>
                </a:cubicBezTo>
                <a:lnTo>
                  <a:pt x="97242" y="8978"/>
                </a:lnTo>
                <a:cubicBezTo>
                  <a:pt x="108689" y="8978"/>
                  <a:pt x="118873" y="16216"/>
                  <a:pt x="122661" y="27018"/>
                </a:cubicBezTo>
                <a:lnTo>
                  <a:pt x="132536" y="55214"/>
                </a:lnTo>
                <a:cubicBezTo>
                  <a:pt x="139045" y="57908"/>
                  <a:pt x="143647" y="64332"/>
                  <a:pt x="143647" y="71823"/>
                </a:cubicBezTo>
                <a:lnTo>
                  <a:pt x="143647" y="125691"/>
                </a:lnTo>
                <a:cubicBezTo>
                  <a:pt x="143647" y="130657"/>
                  <a:pt x="139635" y="134669"/>
                  <a:pt x="134669" y="134669"/>
                </a:cubicBezTo>
                <a:lnTo>
                  <a:pt x="125691" y="134669"/>
                </a:lnTo>
                <a:cubicBezTo>
                  <a:pt x="120725" y="134669"/>
                  <a:pt x="116713" y="130657"/>
                  <a:pt x="116713" y="125691"/>
                </a:cubicBezTo>
                <a:lnTo>
                  <a:pt x="116713" y="116713"/>
                </a:lnTo>
                <a:lnTo>
                  <a:pt x="26934" y="116713"/>
                </a:lnTo>
                <a:lnTo>
                  <a:pt x="26934" y="125691"/>
                </a:lnTo>
                <a:cubicBezTo>
                  <a:pt x="26934" y="130657"/>
                  <a:pt x="22922" y="134669"/>
                  <a:pt x="17956" y="134669"/>
                </a:cubicBezTo>
                <a:lnTo>
                  <a:pt x="8978" y="134669"/>
                </a:lnTo>
                <a:cubicBezTo>
                  <a:pt x="4012" y="134669"/>
                  <a:pt x="0" y="130657"/>
                  <a:pt x="0" y="125691"/>
                </a:cubicBezTo>
                <a:lnTo>
                  <a:pt x="0" y="71823"/>
                </a:lnTo>
                <a:cubicBezTo>
                  <a:pt x="0" y="64332"/>
                  <a:pt x="4601" y="57908"/>
                  <a:pt x="11110" y="55214"/>
                </a:cubicBezTo>
                <a:close/>
                <a:moveTo>
                  <a:pt x="35912" y="85290"/>
                </a:moveTo>
                <a:cubicBezTo>
                  <a:pt x="35912" y="80335"/>
                  <a:pt x="31889" y="76312"/>
                  <a:pt x="26934" y="76312"/>
                </a:cubicBezTo>
                <a:cubicBezTo>
                  <a:pt x="21979" y="76312"/>
                  <a:pt x="17956" y="80335"/>
                  <a:pt x="17956" y="85290"/>
                </a:cubicBezTo>
                <a:cubicBezTo>
                  <a:pt x="17956" y="90245"/>
                  <a:pt x="21979" y="94268"/>
                  <a:pt x="26934" y="94268"/>
                </a:cubicBezTo>
                <a:cubicBezTo>
                  <a:pt x="31889" y="94268"/>
                  <a:pt x="35912" y="90245"/>
                  <a:pt x="35912" y="85290"/>
                </a:cubicBezTo>
                <a:close/>
                <a:moveTo>
                  <a:pt x="116713" y="94268"/>
                </a:moveTo>
                <a:cubicBezTo>
                  <a:pt x="121668" y="94268"/>
                  <a:pt x="125691" y="90245"/>
                  <a:pt x="125691" y="85290"/>
                </a:cubicBezTo>
                <a:cubicBezTo>
                  <a:pt x="125691" y="80335"/>
                  <a:pt x="121668" y="76312"/>
                  <a:pt x="116713" y="76312"/>
                </a:cubicBezTo>
                <a:cubicBezTo>
                  <a:pt x="111758" y="76312"/>
                  <a:pt x="107735" y="80335"/>
                  <a:pt x="107735" y="85290"/>
                </a:cubicBezTo>
                <a:cubicBezTo>
                  <a:pt x="107735" y="90245"/>
                  <a:pt x="111758" y="94268"/>
                  <a:pt x="116713" y="94268"/>
                </a:cubicBezTo>
                <a:close/>
              </a:path>
            </a:pathLst>
          </a:custGeom>
          <a:solidFill>
            <a:srgbClr val="10B981"/>
          </a:solidFill>
          <a:ln/>
        </p:spPr>
      </p:sp>
      <p:sp>
        <p:nvSpPr>
          <p:cNvPr id="39" name="Text 37"/>
          <p:cNvSpPr/>
          <p:nvPr/>
        </p:nvSpPr>
        <p:spPr>
          <a:xfrm>
            <a:off x="897791" y="5273064"/>
            <a:ext cx="2406080"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Toyota</a:t>
            </a:r>
            <a:endParaRPr lang="en-US" sz="1600" dirty="0"/>
          </a:p>
        </p:txBody>
      </p:sp>
      <p:sp>
        <p:nvSpPr>
          <p:cNvPr id="40" name="Text 38"/>
          <p:cNvSpPr/>
          <p:nvPr/>
        </p:nvSpPr>
        <p:spPr>
          <a:xfrm>
            <a:off x="897791" y="5488534"/>
            <a:ext cx="2397102"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Production efficiency (before/after Kaizen)</a:t>
            </a:r>
            <a:endParaRPr lang="en-US" sz="1600" dirty="0"/>
          </a:p>
        </p:txBody>
      </p:sp>
      <p:sp>
        <p:nvSpPr>
          <p:cNvPr id="41" name="Shape 39"/>
          <p:cNvSpPr/>
          <p:nvPr/>
        </p:nvSpPr>
        <p:spPr>
          <a:xfrm>
            <a:off x="646409" y="5811738"/>
            <a:ext cx="107735" cy="143647"/>
          </a:xfrm>
          <a:custGeom>
            <a:avLst/>
            <a:gdLst/>
            <a:ahLst/>
            <a:cxnLst/>
            <a:rect l="l" t="t" r="r" b="b"/>
            <a:pathLst>
              <a:path w="107735" h="143647">
                <a:moveTo>
                  <a:pt x="4489" y="17956"/>
                </a:moveTo>
                <a:cubicBezTo>
                  <a:pt x="4489" y="8052"/>
                  <a:pt x="12541" y="0"/>
                  <a:pt x="22445" y="0"/>
                </a:cubicBezTo>
                <a:lnTo>
                  <a:pt x="85290" y="0"/>
                </a:lnTo>
                <a:cubicBezTo>
                  <a:pt x="95194" y="0"/>
                  <a:pt x="103246" y="8052"/>
                  <a:pt x="103246" y="17956"/>
                </a:cubicBezTo>
                <a:lnTo>
                  <a:pt x="103246" y="125691"/>
                </a:lnTo>
                <a:cubicBezTo>
                  <a:pt x="103246" y="135594"/>
                  <a:pt x="95194" y="143647"/>
                  <a:pt x="85290" y="143647"/>
                </a:cubicBezTo>
                <a:lnTo>
                  <a:pt x="22445" y="143647"/>
                </a:lnTo>
                <a:cubicBezTo>
                  <a:pt x="12541" y="143647"/>
                  <a:pt x="4489" y="135594"/>
                  <a:pt x="4489" y="125691"/>
                </a:cubicBezTo>
                <a:lnTo>
                  <a:pt x="4489" y="17956"/>
                </a:lnTo>
                <a:close/>
                <a:moveTo>
                  <a:pt x="22445" y="17956"/>
                </a:moveTo>
                <a:lnTo>
                  <a:pt x="22445" y="103246"/>
                </a:lnTo>
                <a:lnTo>
                  <a:pt x="85290" y="103246"/>
                </a:lnTo>
                <a:lnTo>
                  <a:pt x="85290" y="17956"/>
                </a:lnTo>
                <a:lnTo>
                  <a:pt x="22445" y="17956"/>
                </a:lnTo>
                <a:close/>
                <a:moveTo>
                  <a:pt x="53867" y="132424"/>
                </a:moveTo>
                <a:cubicBezTo>
                  <a:pt x="58833" y="132424"/>
                  <a:pt x="62845" y="128412"/>
                  <a:pt x="62845" y="123446"/>
                </a:cubicBezTo>
                <a:cubicBezTo>
                  <a:pt x="62845" y="118480"/>
                  <a:pt x="58833" y="114468"/>
                  <a:pt x="53867" y="114468"/>
                </a:cubicBezTo>
                <a:cubicBezTo>
                  <a:pt x="48902" y="114468"/>
                  <a:pt x="44890" y="118480"/>
                  <a:pt x="44890" y="123446"/>
                </a:cubicBezTo>
                <a:cubicBezTo>
                  <a:pt x="44890" y="128412"/>
                  <a:pt x="48902" y="132424"/>
                  <a:pt x="53867" y="132424"/>
                </a:cubicBezTo>
                <a:close/>
              </a:path>
            </a:pathLst>
          </a:custGeom>
          <a:solidFill>
            <a:srgbClr val="10B981"/>
          </a:solidFill>
          <a:ln/>
        </p:spPr>
      </p:sp>
      <p:sp>
        <p:nvSpPr>
          <p:cNvPr id="42" name="Text 40"/>
          <p:cNvSpPr/>
          <p:nvPr/>
        </p:nvSpPr>
        <p:spPr>
          <a:xfrm>
            <a:off x="897791" y="5775827"/>
            <a:ext cx="1795582"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Samsung</a:t>
            </a:r>
            <a:endParaRPr lang="en-US" sz="1600" dirty="0"/>
          </a:p>
        </p:txBody>
      </p:sp>
      <p:sp>
        <p:nvSpPr>
          <p:cNvPr id="43" name="Text 41"/>
          <p:cNvSpPr/>
          <p:nvPr/>
        </p:nvSpPr>
        <p:spPr>
          <a:xfrm>
            <a:off x="897791" y="5991296"/>
            <a:ext cx="1786604"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Quality control protocol testing</a:t>
            </a:r>
            <a:endParaRPr lang="en-US" sz="1600" dirty="0"/>
          </a:p>
        </p:txBody>
      </p:sp>
      <p:sp>
        <p:nvSpPr>
          <p:cNvPr id="44" name="Shape 42"/>
          <p:cNvSpPr/>
          <p:nvPr/>
        </p:nvSpPr>
        <p:spPr>
          <a:xfrm>
            <a:off x="610498" y="6314501"/>
            <a:ext cx="179558" cy="143647"/>
          </a:xfrm>
          <a:custGeom>
            <a:avLst/>
            <a:gdLst/>
            <a:ahLst/>
            <a:cxnLst/>
            <a:rect l="l" t="t" r="r" b="b"/>
            <a:pathLst>
              <a:path w="179558" h="143647">
                <a:moveTo>
                  <a:pt x="116685" y="59058"/>
                </a:moveTo>
                <a:cubicBezTo>
                  <a:pt x="120108" y="58132"/>
                  <a:pt x="123699" y="59759"/>
                  <a:pt x="125242" y="62930"/>
                </a:cubicBezTo>
                <a:lnTo>
                  <a:pt x="130460" y="73479"/>
                </a:lnTo>
                <a:cubicBezTo>
                  <a:pt x="133350" y="73871"/>
                  <a:pt x="136184" y="74657"/>
                  <a:pt x="138849" y="75751"/>
                </a:cubicBezTo>
                <a:lnTo>
                  <a:pt x="148669" y="69214"/>
                </a:lnTo>
                <a:cubicBezTo>
                  <a:pt x="151614" y="67250"/>
                  <a:pt x="155514" y="67643"/>
                  <a:pt x="158011" y="70140"/>
                </a:cubicBezTo>
                <a:lnTo>
                  <a:pt x="163398" y="75527"/>
                </a:lnTo>
                <a:cubicBezTo>
                  <a:pt x="165895" y="78024"/>
                  <a:pt x="166288" y="81951"/>
                  <a:pt x="164324" y="84869"/>
                </a:cubicBezTo>
                <a:lnTo>
                  <a:pt x="157787" y="94661"/>
                </a:lnTo>
                <a:cubicBezTo>
                  <a:pt x="158320" y="95979"/>
                  <a:pt x="158797" y="97354"/>
                  <a:pt x="159190" y="98785"/>
                </a:cubicBezTo>
                <a:cubicBezTo>
                  <a:pt x="159582" y="100216"/>
                  <a:pt x="159835" y="101619"/>
                  <a:pt x="160031" y="103050"/>
                </a:cubicBezTo>
                <a:lnTo>
                  <a:pt x="170608" y="108268"/>
                </a:lnTo>
                <a:cubicBezTo>
                  <a:pt x="173779" y="109839"/>
                  <a:pt x="175406" y="113430"/>
                  <a:pt x="174480" y="116825"/>
                </a:cubicBezTo>
                <a:lnTo>
                  <a:pt x="172516" y="124176"/>
                </a:lnTo>
                <a:cubicBezTo>
                  <a:pt x="171590" y="127570"/>
                  <a:pt x="168420" y="129871"/>
                  <a:pt x="164885" y="129647"/>
                </a:cubicBezTo>
                <a:lnTo>
                  <a:pt x="153101" y="128889"/>
                </a:lnTo>
                <a:cubicBezTo>
                  <a:pt x="151334" y="131162"/>
                  <a:pt x="149286" y="133266"/>
                  <a:pt x="146957" y="135061"/>
                </a:cubicBezTo>
                <a:lnTo>
                  <a:pt x="147715" y="146817"/>
                </a:lnTo>
                <a:cubicBezTo>
                  <a:pt x="147939" y="150352"/>
                  <a:pt x="145639" y="153550"/>
                  <a:pt x="142244" y="154448"/>
                </a:cubicBezTo>
                <a:lnTo>
                  <a:pt x="134893" y="156412"/>
                </a:lnTo>
                <a:cubicBezTo>
                  <a:pt x="131470" y="157338"/>
                  <a:pt x="127907" y="155711"/>
                  <a:pt x="126336" y="152540"/>
                </a:cubicBezTo>
                <a:lnTo>
                  <a:pt x="121118" y="141991"/>
                </a:lnTo>
                <a:cubicBezTo>
                  <a:pt x="118228" y="141598"/>
                  <a:pt x="115394" y="140813"/>
                  <a:pt x="112729" y="139719"/>
                </a:cubicBezTo>
                <a:lnTo>
                  <a:pt x="102909" y="146256"/>
                </a:lnTo>
                <a:cubicBezTo>
                  <a:pt x="99963" y="148220"/>
                  <a:pt x="96064" y="147827"/>
                  <a:pt x="93567" y="145330"/>
                </a:cubicBezTo>
                <a:lnTo>
                  <a:pt x="88180" y="139943"/>
                </a:lnTo>
                <a:cubicBezTo>
                  <a:pt x="85683" y="137446"/>
                  <a:pt x="85290" y="133546"/>
                  <a:pt x="87254" y="130601"/>
                </a:cubicBezTo>
                <a:lnTo>
                  <a:pt x="93791" y="120781"/>
                </a:lnTo>
                <a:cubicBezTo>
                  <a:pt x="93258" y="119462"/>
                  <a:pt x="92781" y="118088"/>
                  <a:pt x="92388" y="116657"/>
                </a:cubicBezTo>
                <a:cubicBezTo>
                  <a:pt x="91996" y="115226"/>
                  <a:pt x="91743" y="113795"/>
                  <a:pt x="91547" y="112392"/>
                </a:cubicBezTo>
                <a:lnTo>
                  <a:pt x="80970" y="107174"/>
                </a:lnTo>
                <a:cubicBezTo>
                  <a:pt x="77799" y="105603"/>
                  <a:pt x="76200" y="102011"/>
                  <a:pt x="77098" y="98617"/>
                </a:cubicBezTo>
                <a:lnTo>
                  <a:pt x="79062" y="91266"/>
                </a:lnTo>
                <a:cubicBezTo>
                  <a:pt x="79988" y="87871"/>
                  <a:pt x="83158" y="85571"/>
                  <a:pt x="86693" y="85795"/>
                </a:cubicBezTo>
                <a:lnTo>
                  <a:pt x="98448" y="86553"/>
                </a:lnTo>
                <a:cubicBezTo>
                  <a:pt x="100216" y="84280"/>
                  <a:pt x="102264" y="82176"/>
                  <a:pt x="104593" y="80380"/>
                </a:cubicBezTo>
                <a:lnTo>
                  <a:pt x="103835" y="68653"/>
                </a:lnTo>
                <a:cubicBezTo>
                  <a:pt x="103611" y="65118"/>
                  <a:pt x="105911" y="61920"/>
                  <a:pt x="109306" y="61022"/>
                </a:cubicBezTo>
                <a:lnTo>
                  <a:pt x="116657" y="59058"/>
                </a:lnTo>
                <a:close/>
                <a:moveTo>
                  <a:pt x="125803" y="95390"/>
                </a:moveTo>
                <a:cubicBezTo>
                  <a:pt x="118990" y="95398"/>
                  <a:pt x="113465" y="100936"/>
                  <a:pt x="113472" y="107749"/>
                </a:cubicBezTo>
                <a:cubicBezTo>
                  <a:pt x="113480" y="114562"/>
                  <a:pt x="119018" y="120087"/>
                  <a:pt x="125831" y="120080"/>
                </a:cubicBezTo>
                <a:cubicBezTo>
                  <a:pt x="132644" y="120072"/>
                  <a:pt x="138169" y="114534"/>
                  <a:pt x="138162" y="107721"/>
                </a:cubicBezTo>
                <a:cubicBezTo>
                  <a:pt x="138154" y="100908"/>
                  <a:pt x="132616" y="95383"/>
                  <a:pt x="125803" y="95390"/>
                </a:cubicBezTo>
                <a:close/>
                <a:moveTo>
                  <a:pt x="63098" y="-12765"/>
                </a:moveTo>
                <a:lnTo>
                  <a:pt x="70449" y="-10802"/>
                </a:lnTo>
                <a:cubicBezTo>
                  <a:pt x="73843" y="-9876"/>
                  <a:pt x="76144" y="-6677"/>
                  <a:pt x="75919" y="-3170"/>
                </a:cubicBezTo>
                <a:lnTo>
                  <a:pt x="75162" y="8557"/>
                </a:lnTo>
                <a:cubicBezTo>
                  <a:pt x="77491" y="10353"/>
                  <a:pt x="79539" y="12429"/>
                  <a:pt x="81306" y="14729"/>
                </a:cubicBezTo>
                <a:lnTo>
                  <a:pt x="93090" y="13972"/>
                </a:lnTo>
                <a:cubicBezTo>
                  <a:pt x="96597" y="13747"/>
                  <a:pt x="99795" y="16048"/>
                  <a:pt x="100721" y="19443"/>
                </a:cubicBezTo>
                <a:lnTo>
                  <a:pt x="102685" y="26793"/>
                </a:lnTo>
                <a:cubicBezTo>
                  <a:pt x="103583" y="30188"/>
                  <a:pt x="101983" y="33779"/>
                  <a:pt x="98813" y="35351"/>
                </a:cubicBezTo>
                <a:lnTo>
                  <a:pt x="88236" y="40569"/>
                </a:lnTo>
                <a:cubicBezTo>
                  <a:pt x="88040" y="42000"/>
                  <a:pt x="87759" y="43431"/>
                  <a:pt x="87394" y="44833"/>
                </a:cubicBezTo>
                <a:cubicBezTo>
                  <a:pt x="87030" y="46236"/>
                  <a:pt x="86525" y="47639"/>
                  <a:pt x="85992" y="48958"/>
                </a:cubicBezTo>
                <a:lnTo>
                  <a:pt x="92529" y="58777"/>
                </a:lnTo>
                <a:cubicBezTo>
                  <a:pt x="94492" y="61723"/>
                  <a:pt x="94100" y="65623"/>
                  <a:pt x="91603" y="68120"/>
                </a:cubicBezTo>
                <a:lnTo>
                  <a:pt x="86216" y="73507"/>
                </a:lnTo>
                <a:cubicBezTo>
                  <a:pt x="83719" y="76004"/>
                  <a:pt x="79819" y="76396"/>
                  <a:pt x="76873" y="74432"/>
                </a:cubicBezTo>
                <a:lnTo>
                  <a:pt x="67054" y="67895"/>
                </a:lnTo>
                <a:cubicBezTo>
                  <a:pt x="64388" y="68990"/>
                  <a:pt x="61555" y="69775"/>
                  <a:pt x="58665" y="70168"/>
                </a:cubicBezTo>
                <a:lnTo>
                  <a:pt x="53447" y="80717"/>
                </a:lnTo>
                <a:cubicBezTo>
                  <a:pt x="51875" y="83887"/>
                  <a:pt x="48284" y="85487"/>
                  <a:pt x="44890" y="84589"/>
                </a:cubicBezTo>
                <a:lnTo>
                  <a:pt x="37539" y="82625"/>
                </a:lnTo>
                <a:cubicBezTo>
                  <a:pt x="34116" y="81699"/>
                  <a:pt x="31844" y="78501"/>
                  <a:pt x="32068" y="74994"/>
                </a:cubicBezTo>
                <a:lnTo>
                  <a:pt x="32825" y="63238"/>
                </a:lnTo>
                <a:cubicBezTo>
                  <a:pt x="30497" y="61443"/>
                  <a:pt x="28449" y="59366"/>
                  <a:pt x="26681" y="57066"/>
                </a:cubicBezTo>
                <a:lnTo>
                  <a:pt x="14898" y="57823"/>
                </a:lnTo>
                <a:cubicBezTo>
                  <a:pt x="11391" y="58048"/>
                  <a:pt x="8192" y="55747"/>
                  <a:pt x="7266" y="52352"/>
                </a:cubicBezTo>
                <a:lnTo>
                  <a:pt x="5303" y="45002"/>
                </a:lnTo>
                <a:cubicBezTo>
                  <a:pt x="4405" y="41607"/>
                  <a:pt x="6004" y="38016"/>
                  <a:pt x="9174" y="36445"/>
                </a:cubicBezTo>
                <a:lnTo>
                  <a:pt x="19751" y="31226"/>
                </a:lnTo>
                <a:cubicBezTo>
                  <a:pt x="19948" y="29795"/>
                  <a:pt x="20228" y="28393"/>
                  <a:pt x="20593" y="26962"/>
                </a:cubicBezTo>
                <a:cubicBezTo>
                  <a:pt x="20986" y="25531"/>
                  <a:pt x="21435" y="24156"/>
                  <a:pt x="21996" y="22838"/>
                </a:cubicBezTo>
                <a:lnTo>
                  <a:pt x="15459" y="13046"/>
                </a:lnTo>
                <a:cubicBezTo>
                  <a:pt x="13495" y="10100"/>
                  <a:pt x="13888" y="6200"/>
                  <a:pt x="16385" y="3703"/>
                </a:cubicBezTo>
                <a:lnTo>
                  <a:pt x="21771" y="-1683"/>
                </a:lnTo>
                <a:cubicBezTo>
                  <a:pt x="24268" y="-4180"/>
                  <a:pt x="28168" y="-4573"/>
                  <a:pt x="31114" y="-2609"/>
                </a:cubicBezTo>
                <a:lnTo>
                  <a:pt x="40934" y="3928"/>
                </a:lnTo>
                <a:cubicBezTo>
                  <a:pt x="43599" y="2834"/>
                  <a:pt x="46433" y="2048"/>
                  <a:pt x="49322" y="1655"/>
                </a:cubicBezTo>
                <a:lnTo>
                  <a:pt x="54541" y="-8894"/>
                </a:lnTo>
                <a:cubicBezTo>
                  <a:pt x="56112" y="-12064"/>
                  <a:pt x="59675" y="-13663"/>
                  <a:pt x="63098" y="-12765"/>
                </a:cubicBezTo>
                <a:close/>
                <a:moveTo>
                  <a:pt x="53980" y="23567"/>
                </a:moveTo>
                <a:cubicBezTo>
                  <a:pt x="47166" y="23567"/>
                  <a:pt x="41635" y="29098"/>
                  <a:pt x="41635" y="35912"/>
                </a:cubicBezTo>
                <a:cubicBezTo>
                  <a:pt x="41635" y="42725"/>
                  <a:pt x="47166" y="48256"/>
                  <a:pt x="53980" y="48256"/>
                </a:cubicBezTo>
                <a:cubicBezTo>
                  <a:pt x="60793" y="48256"/>
                  <a:pt x="66324" y="42725"/>
                  <a:pt x="66324" y="35912"/>
                </a:cubicBezTo>
                <a:cubicBezTo>
                  <a:pt x="66324" y="29098"/>
                  <a:pt x="60793" y="23567"/>
                  <a:pt x="53980" y="23567"/>
                </a:cubicBezTo>
                <a:close/>
              </a:path>
            </a:pathLst>
          </a:custGeom>
          <a:solidFill>
            <a:srgbClr val="10B981"/>
          </a:solidFill>
          <a:ln/>
        </p:spPr>
      </p:sp>
      <p:sp>
        <p:nvSpPr>
          <p:cNvPr id="45" name="Text 43"/>
          <p:cNvSpPr/>
          <p:nvPr/>
        </p:nvSpPr>
        <p:spPr>
          <a:xfrm>
            <a:off x="897791" y="6278590"/>
            <a:ext cx="1723758"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General</a:t>
            </a:r>
            <a:endParaRPr lang="en-US" sz="1600" dirty="0"/>
          </a:p>
        </p:txBody>
      </p:sp>
      <p:sp>
        <p:nvSpPr>
          <p:cNvPr id="46" name="Text 44"/>
          <p:cNvSpPr/>
          <p:nvPr/>
        </p:nvSpPr>
        <p:spPr>
          <a:xfrm>
            <a:off x="897791" y="6494059"/>
            <a:ext cx="1714781"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Machine calibration validation</a:t>
            </a:r>
            <a:endParaRPr lang="en-US" sz="1600" dirty="0"/>
          </a:p>
        </p:txBody>
      </p:sp>
      <p:sp>
        <p:nvSpPr>
          <p:cNvPr id="47" name="Shape 45"/>
          <p:cNvSpPr/>
          <p:nvPr/>
        </p:nvSpPr>
        <p:spPr>
          <a:xfrm>
            <a:off x="6204633" y="4339361"/>
            <a:ext cx="5629149" cy="2576660"/>
          </a:xfrm>
          <a:custGeom>
            <a:avLst/>
            <a:gdLst/>
            <a:ahLst/>
            <a:cxnLst/>
            <a:rect l="l" t="t" r="r" b="b"/>
            <a:pathLst>
              <a:path w="5629149" h="2576660">
                <a:moveTo>
                  <a:pt x="35912" y="0"/>
                </a:moveTo>
                <a:lnTo>
                  <a:pt x="5557337" y="0"/>
                </a:lnTo>
                <a:cubicBezTo>
                  <a:pt x="5596998" y="0"/>
                  <a:pt x="5629149" y="32151"/>
                  <a:pt x="5629149" y="71812"/>
                </a:cubicBezTo>
                <a:lnTo>
                  <a:pt x="5629149" y="2504848"/>
                </a:lnTo>
                <a:cubicBezTo>
                  <a:pt x="5629149" y="2544509"/>
                  <a:pt x="5596998" y="2576660"/>
                  <a:pt x="5557337" y="2576660"/>
                </a:cubicBezTo>
                <a:lnTo>
                  <a:pt x="35912" y="2576660"/>
                </a:lnTo>
                <a:cubicBezTo>
                  <a:pt x="16078" y="2576660"/>
                  <a:pt x="0" y="2560582"/>
                  <a:pt x="0" y="2540748"/>
                </a:cubicBezTo>
                <a:lnTo>
                  <a:pt x="0" y="35912"/>
                </a:lnTo>
                <a:cubicBezTo>
                  <a:pt x="0" y="16091"/>
                  <a:pt x="16091" y="0"/>
                  <a:pt x="35912" y="0"/>
                </a:cubicBezTo>
                <a:close/>
              </a:path>
            </a:pathLst>
          </a:custGeom>
          <a:solidFill>
            <a:srgbClr val="374151"/>
          </a:solidFill>
          <a:ln/>
        </p:spPr>
      </p:sp>
      <p:sp>
        <p:nvSpPr>
          <p:cNvPr id="48" name="Shape 46"/>
          <p:cNvSpPr/>
          <p:nvPr/>
        </p:nvSpPr>
        <p:spPr>
          <a:xfrm>
            <a:off x="6204633" y="4339361"/>
            <a:ext cx="35912" cy="2576660"/>
          </a:xfrm>
          <a:custGeom>
            <a:avLst/>
            <a:gdLst/>
            <a:ahLst/>
            <a:cxnLst/>
            <a:rect l="l" t="t" r="r" b="b"/>
            <a:pathLst>
              <a:path w="35912" h="2576660">
                <a:moveTo>
                  <a:pt x="35912" y="0"/>
                </a:moveTo>
                <a:lnTo>
                  <a:pt x="35912" y="0"/>
                </a:lnTo>
                <a:lnTo>
                  <a:pt x="35912" y="2576660"/>
                </a:lnTo>
                <a:lnTo>
                  <a:pt x="35912" y="2576660"/>
                </a:lnTo>
                <a:cubicBezTo>
                  <a:pt x="16078" y="2576660"/>
                  <a:pt x="0" y="2560582"/>
                  <a:pt x="0" y="2540748"/>
                </a:cubicBezTo>
                <a:lnTo>
                  <a:pt x="0" y="35912"/>
                </a:lnTo>
                <a:cubicBezTo>
                  <a:pt x="0" y="16078"/>
                  <a:pt x="16078" y="0"/>
                  <a:pt x="35912" y="0"/>
                </a:cubicBezTo>
                <a:close/>
              </a:path>
            </a:pathLst>
          </a:custGeom>
          <a:solidFill>
            <a:srgbClr val="8B5CF6"/>
          </a:solidFill>
          <a:ln/>
        </p:spPr>
      </p:sp>
      <p:sp>
        <p:nvSpPr>
          <p:cNvPr id="49" name="Shape 47"/>
          <p:cNvSpPr/>
          <p:nvPr/>
        </p:nvSpPr>
        <p:spPr>
          <a:xfrm>
            <a:off x="6438059" y="4554831"/>
            <a:ext cx="574586" cy="574586"/>
          </a:xfrm>
          <a:custGeom>
            <a:avLst/>
            <a:gdLst/>
            <a:ahLst/>
            <a:cxnLst/>
            <a:rect l="l" t="t" r="r" b="b"/>
            <a:pathLst>
              <a:path w="574586" h="574586">
                <a:moveTo>
                  <a:pt x="71823" y="0"/>
                </a:moveTo>
                <a:lnTo>
                  <a:pt x="502763" y="0"/>
                </a:lnTo>
                <a:cubicBezTo>
                  <a:pt x="542430" y="0"/>
                  <a:pt x="574586" y="32156"/>
                  <a:pt x="574586" y="71823"/>
                </a:cubicBezTo>
                <a:lnTo>
                  <a:pt x="574586" y="502763"/>
                </a:lnTo>
                <a:cubicBezTo>
                  <a:pt x="574586" y="542430"/>
                  <a:pt x="542430" y="574586"/>
                  <a:pt x="502763" y="574586"/>
                </a:cubicBezTo>
                <a:lnTo>
                  <a:pt x="71823" y="574586"/>
                </a:lnTo>
                <a:cubicBezTo>
                  <a:pt x="32156" y="574586"/>
                  <a:pt x="0" y="542430"/>
                  <a:pt x="0" y="502763"/>
                </a:cubicBezTo>
                <a:lnTo>
                  <a:pt x="0" y="71823"/>
                </a:lnTo>
                <a:cubicBezTo>
                  <a:pt x="0" y="32156"/>
                  <a:pt x="32156" y="0"/>
                  <a:pt x="71823" y="0"/>
                </a:cubicBezTo>
                <a:close/>
              </a:path>
            </a:pathLst>
          </a:custGeom>
          <a:solidFill>
            <a:srgbClr val="8B5CF6">
              <a:alpha val="20000"/>
            </a:srgbClr>
          </a:solidFill>
          <a:ln/>
        </p:spPr>
      </p:sp>
      <p:sp>
        <p:nvSpPr>
          <p:cNvPr id="50" name="Shape 48"/>
          <p:cNvSpPr/>
          <p:nvPr/>
        </p:nvSpPr>
        <p:spPr>
          <a:xfrm>
            <a:off x="6592928" y="4707456"/>
            <a:ext cx="269337" cy="269337"/>
          </a:xfrm>
          <a:custGeom>
            <a:avLst/>
            <a:gdLst/>
            <a:ahLst/>
            <a:cxnLst/>
            <a:rect l="l" t="t" r="r" b="b"/>
            <a:pathLst>
              <a:path w="269337" h="269337">
                <a:moveTo>
                  <a:pt x="242614" y="9942"/>
                </a:moveTo>
                <a:cubicBezTo>
                  <a:pt x="248664" y="12625"/>
                  <a:pt x="252504" y="18622"/>
                  <a:pt x="252504" y="25250"/>
                </a:cubicBezTo>
                <a:lnTo>
                  <a:pt x="252504" y="244087"/>
                </a:lnTo>
                <a:cubicBezTo>
                  <a:pt x="252504" y="250715"/>
                  <a:pt x="248664" y="256712"/>
                  <a:pt x="242614" y="259395"/>
                </a:cubicBezTo>
                <a:cubicBezTo>
                  <a:pt x="236564" y="262078"/>
                  <a:pt x="229568" y="261078"/>
                  <a:pt x="224570" y="256712"/>
                </a:cubicBezTo>
                <a:lnTo>
                  <a:pt x="200057" y="235302"/>
                </a:lnTo>
                <a:cubicBezTo>
                  <a:pt x="177121" y="215259"/>
                  <a:pt x="148135" y="203581"/>
                  <a:pt x="117782" y="202161"/>
                </a:cubicBezTo>
                <a:lnTo>
                  <a:pt x="117782" y="252504"/>
                </a:lnTo>
                <a:cubicBezTo>
                  <a:pt x="117782" y="261815"/>
                  <a:pt x="110260" y="269337"/>
                  <a:pt x="100949" y="269337"/>
                </a:cubicBezTo>
                <a:lnTo>
                  <a:pt x="84115" y="269337"/>
                </a:lnTo>
                <a:cubicBezTo>
                  <a:pt x="74804" y="269337"/>
                  <a:pt x="67282" y="261815"/>
                  <a:pt x="67282" y="252504"/>
                </a:cubicBezTo>
                <a:lnTo>
                  <a:pt x="67282" y="202003"/>
                </a:lnTo>
                <a:cubicBezTo>
                  <a:pt x="30143" y="202003"/>
                  <a:pt x="0" y="171860"/>
                  <a:pt x="0" y="134669"/>
                </a:cubicBezTo>
                <a:cubicBezTo>
                  <a:pt x="0" y="97477"/>
                  <a:pt x="30143" y="67334"/>
                  <a:pt x="67334" y="67334"/>
                </a:cubicBezTo>
                <a:lnTo>
                  <a:pt x="111785" y="67334"/>
                </a:lnTo>
                <a:cubicBezTo>
                  <a:pt x="144295" y="67229"/>
                  <a:pt x="175648" y="55393"/>
                  <a:pt x="200109" y="34035"/>
                </a:cubicBezTo>
                <a:lnTo>
                  <a:pt x="224623" y="12625"/>
                </a:lnTo>
                <a:cubicBezTo>
                  <a:pt x="229568" y="8259"/>
                  <a:pt x="236670" y="7259"/>
                  <a:pt x="242667" y="9942"/>
                </a:cubicBezTo>
                <a:close/>
                <a:moveTo>
                  <a:pt x="117835" y="168336"/>
                </a:moveTo>
                <a:lnTo>
                  <a:pt x="117835" y="168441"/>
                </a:lnTo>
                <a:cubicBezTo>
                  <a:pt x="154816" y="169861"/>
                  <a:pt x="190325" y="183433"/>
                  <a:pt x="218837" y="207053"/>
                </a:cubicBezTo>
                <a:lnTo>
                  <a:pt x="218837" y="62232"/>
                </a:lnTo>
                <a:cubicBezTo>
                  <a:pt x="190325" y="85851"/>
                  <a:pt x="154816" y="99423"/>
                  <a:pt x="117835" y="100844"/>
                </a:cubicBezTo>
                <a:lnTo>
                  <a:pt x="117835" y="168336"/>
                </a:lnTo>
                <a:close/>
              </a:path>
            </a:pathLst>
          </a:custGeom>
          <a:solidFill>
            <a:srgbClr val="8B5CF6"/>
          </a:solidFill>
          <a:ln/>
        </p:spPr>
      </p:sp>
      <p:sp>
        <p:nvSpPr>
          <p:cNvPr id="51" name="Text 49"/>
          <p:cNvSpPr/>
          <p:nvPr/>
        </p:nvSpPr>
        <p:spPr>
          <a:xfrm>
            <a:off x="7156291" y="4698478"/>
            <a:ext cx="1059393" cy="287293"/>
          </a:xfrm>
          <a:prstGeom prst="rect">
            <a:avLst/>
          </a:prstGeom>
          <a:noFill/>
          <a:ln/>
        </p:spPr>
        <p:txBody>
          <a:bodyPr wrap="square" lIns="0" tIns="0" rIns="0" bIns="0" rtlCol="0" anchor="ctr"/>
          <a:lstStyle/>
          <a:p>
            <a:pPr>
              <a:lnSpc>
                <a:spcPct val="110000"/>
              </a:lnSpc>
            </a:pPr>
            <a:r>
              <a:rPr lang="en-US" sz="1697" b="1" dirty="0">
                <a:solidFill>
                  <a:srgbClr val="F9FAFB"/>
                </a:solidFill>
                <a:latin typeface="Liter" pitchFamily="34" charset="0"/>
                <a:ea typeface="Liter" pitchFamily="34" charset="-122"/>
                <a:cs typeface="Liter" pitchFamily="34" charset="-120"/>
              </a:rPr>
              <a:t>Marketing</a:t>
            </a:r>
            <a:endParaRPr lang="en-US" sz="1600" dirty="0"/>
          </a:p>
        </p:txBody>
      </p:sp>
      <p:sp>
        <p:nvSpPr>
          <p:cNvPr id="52" name="Shape 50"/>
          <p:cNvSpPr/>
          <p:nvPr/>
        </p:nvSpPr>
        <p:spPr>
          <a:xfrm>
            <a:off x="6456014" y="5308975"/>
            <a:ext cx="143647" cy="143647"/>
          </a:xfrm>
          <a:custGeom>
            <a:avLst/>
            <a:gdLst/>
            <a:ahLst/>
            <a:cxnLst/>
            <a:rect l="l" t="t" r="r" b="b"/>
            <a:pathLst>
              <a:path w="143647" h="143647">
                <a:moveTo>
                  <a:pt x="13467" y="17956"/>
                </a:moveTo>
                <a:cubicBezTo>
                  <a:pt x="6032" y="17956"/>
                  <a:pt x="0" y="23988"/>
                  <a:pt x="0" y="31423"/>
                </a:cubicBezTo>
                <a:cubicBezTo>
                  <a:pt x="0" y="35659"/>
                  <a:pt x="1992" y="39643"/>
                  <a:pt x="5387" y="42196"/>
                </a:cubicBezTo>
                <a:lnTo>
                  <a:pt x="63743" y="85963"/>
                </a:lnTo>
                <a:cubicBezTo>
                  <a:pt x="68541" y="89555"/>
                  <a:pt x="75106" y="89555"/>
                  <a:pt x="79903" y="85963"/>
                </a:cubicBezTo>
                <a:lnTo>
                  <a:pt x="138260" y="42196"/>
                </a:lnTo>
                <a:cubicBezTo>
                  <a:pt x="141655" y="39643"/>
                  <a:pt x="143647" y="35659"/>
                  <a:pt x="143647" y="31423"/>
                </a:cubicBezTo>
                <a:cubicBezTo>
                  <a:pt x="143647" y="23988"/>
                  <a:pt x="137615" y="17956"/>
                  <a:pt x="130180" y="17956"/>
                </a:cubicBezTo>
                <a:lnTo>
                  <a:pt x="13467" y="17956"/>
                </a:lnTo>
                <a:close/>
                <a:moveTo>
                  <a:pt x="0" y="54990"/>
                </a:moveTo>
                <a:lnTo>
                  <a:pt x="0" y="107735"/>
                </a:lnTo>
                <a:cubicBezTo>
                  <a:pt x="0" y="117639"/>
                  <a:pt x="8052" y="125691"/>
                  <a:pt x="17956" y="125691"/>
                </a:cubicBezTo>
                <a:lnTo>
                  <a:pt x="125691" y="125691"/>
                </a:lnTo>
                <a:cubicBezTo>
                  <a:pt x="135594" y="125691"/>
                  <a:pt x="143647" y="117639"/>
                  <a:pt x="143647" y="107735"/>
                </a:cubicBezTo>
                <a:lnTo>
                  <a:pt x="143647" y="54990"/>
                </a:lnTo>
                <a:lnTo>
                  <a:pt x="87984" y="96737"/>
                </a:lnTo>
                <a:cubicBezTo>
                  <a:pt x="78416" y="103919"/>
                  <a:pt x="65230" y="103919"/>
                  <a:pt x="55663" y="96737"/>
                </a:cubicBezTo>
                <a:lnTo>
                  <a:pt x="0" y="54990"/>
                </a:lnTo>
                <a:close/>
              </a:path>
            </a:pathLst>
          </a:custGeom>
          <a:solidFill>
            <a:srgbClr val="8B5CF6"/>
          </a:solidFill>
          <a:ln/>
        </p:spPr>
      </p:sp>
      <p:sp>
        <p:nvSpPr>
          <p:cNvPr id="53" name="Text 51"/>
          <p:cNvSpPr/>
          <p:nvPr/>
        </p:nvSpPr>
        <p:spPr>
          <a:xfrm>
            <a:off x="6725352" y="5273064"/>
            <a:ext cx="2513814"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Email Campaigns</a:t>
            </a:r>
            <a:endParaRPr lang="en-US" sz="1600" dirty="0"/>
          </a:p>
        </p:txBody>
      </p:sp>
      <p:sp>
        <p:nvSpPr>
          <p:cNvPr id="54" name="Text 52"/>
          <p:cNvSpPr/>
          <p:nvPr/>
        </p:nvSpPr>
        <p:spPr>
          <a:xfrm>
            <a:off x="6725352" y="5488534"/>
            <a:ext cx="2504837"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Open rates before/after subject line changes</a:t>
            </a:r>
            <a:endParaRPr lang="en-US" sz="1600" dirty="0"/>
          </a:p>
        </p:txBody>
      </p:sp>
      <p:sp>
        <p:nvSpPr>
          <p:cNvPr id="55" name="Shape 53"/>
          <p:cNvSpPr/>
          <p:nvPr/>
        </p:nvSpPr>
        <p:spPr>
          <a:xfrm>
            <a:off x="6447037" y="5811738"/>
            <a:ext cx="161602" cy="143647"/>
          </a:xfrm>
          <a:custGeom>
            <a:avLst/>
            <a:gdLst/>
            <a:ahLst/>
            <a:cxnLst/>
            <a:rect l="l" t="t" r="r" b="b"/>
            <a:pathLst>
              <a:path w="161602" h="143647">
                <a:moveTo>
                  <a:pt x="6032" y="50809"/>
                </a:moveTo>
                <a:lnTo>
                  <a:pt x="21968" y="18910"/>
                </a:lnTo>
                <a:cubicBezTo>
                  <a:pt x="25026" y="12822"/>
                  <a:pt x="31226" y="8978"/>
                  <a:pt x="38044" y="8978"/>
                </a:cubicBezTo>
                <a:lnTo>
                  <a:pt x="123587" y="8978"/>
                </a:lnTo>
                <a:cubicBezTo>
                  <a:pt x="130376" y="8978"/>
                  <a:pt x="136604" y="12822"/>
                  <a:pt x="139635" y="18910"/>
                </a:cubicBezTo>
                <a:lnTo>
                  <a:pt x="155570" y="50809"/>
                </a:lnTo>
                <a:cubicBezTo>
                  <a:pt x="156580" y="52829"/>
                  <a:pt x="157113" y="55046"/>
                  <a:pt x="157113" y="57318"/>
                </a:cubicBezTo>
                <a:cubicBezTo>
                  <a:pt x="157113" y="64978"/>
                  <a:pt x="151166" y="71262"/>
                  <a:pt x="143647" y="71795"/>
                </a:cubicBezTo>
                <a:lnTo>
                  <a:pt x="143647" y="125691"/>
                </a:lnTo>
                <a:cubicBezTo>
                  <a:pt x="143647" y="130657"/>
                  <a:pt x="139635" y="134669"/>
                  <a:pt x="134669" y="134669"/>
                </a:cubicBezTo>
                <a:cubicBezTo>
                  <a:pt x="129703" y="134669"/>
                  <a:pt x="125691" y="130657"/>
                  <a:pt x="125691" y="125691"/>
                </a:cubicBezTo>
                <a:lnTo>
                  <a:pt x="125691" y="71823"/>
                </a:lnTo>
                <a:lnTo>
                  <a:pt x="98757" y="71823"/>
                </a:lnTo>
                <a:lnTo>
                  <a:pt x="98757" y="121202"/>
                </a:lnTo>
                <a:cubicBezTo>
                  <a:pt x="98757" y="128637"/>
                  <a:pt x="92725" y="134669"/>
                  <a:pt x="85290" y="134669"/>
                </a:cubicBezTo>
                <a:lnTo>
                  <a:pt x="31423" y="134669"/>
                </a:lnTo>
                <a:cubicBezTo>
                  <a:pt x="23988" y="134669"/>
                  <a:pt x="17956" y="128637"/>
                  <a:pt x="17956" y="121202"/>
                </a:cubicBezTo>
                <a:lnTo>
                  <a:pt x="17956" y="71795"/>
                </a:lnTo>
                <a:cubicBezTo>
                  <a:pt x="10437" y="71262"/>
                  <a:pt x="4489" y="64978"/>
                  <a:pt x="4489" y="57318"/>
                </a:cubicBezTo>
                <a:cubicBezTo>
                  <a:pt x="4489" y="55074"/>
                  <a:pt x="5022" y="52829"/>
                  <a:pt x="6032" y="50809"/>
                </a:cubicBezTo>
                <a:close/>
                <a:moveTo>
                  <a:pt x="35912" y="71823"/>
                </a:moveTo>
                <a:lnTo>
                  <a:pt x="35912" y="103246"/>
                </a:lnTo>
                <a:cubicBezTo>
                  <a:pt x="35912" y="105715"/>
                  <a:pt x="37932" y="107735"/>
                  <a:pt x="40401" y="107735"/>
                </a:cubicBezTo>
                <a:lnTo>
                  <a:pt x="76312" y="107735"/>
                </a:lnTo>
                <a:cubicBezTo>
                  <a:pt x="78781" y="107735"/>
                  <a:pt x="80801" y="105715"/>
                  <a:pt x="80801" y="103246"/>
                </a:cubicBezTo>
                <a:lnTo>
                  <a:pt x="80801" y="71823"/>
                </a:lnTo>
                <a:lnTo>
                  <a:pt x="35912" y="71823"/>
                </a:lnTo>
                <a:close/>
              </a:path>
            </a:pathLst>
          </a:custGeom>
          <a:solidFill>
            <a:srgbClr val="8B5CF6"/>
          </a:solidFill>
          <a:ln/>
        </p:spPr>
      </p:sp>
      <p:sp>
        <p:nvSpPr>
          <p:cNvPr id="56" name="Text 54"/>
          <p:cNvSpPr/>
          <p:nvPr/>
        </p:nvSpPr>
        <p:spPr>
          <a:xfrm>
            <a:off x="6725352" y="5775827"/>
            <a:ext cx="1921272"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Retail Stores</a:t>
            </a:r>
            <a:endParaRPr lang="en-US" sz="1600" dirty="0"/>
          </a:p>
        </p:txBody>
      </p:sp>
      <p:sp>
        <p:nvSpPr>
          <p:cNvPr id="57" name="Text 55"/>
          <p:cNvSpPr/>
          <p:nvPr/>
        </p:nvSpPr>
        <p:spPr>
          <a:xfrm>
            <a:off x="6725352" y="5991296"/>
            <a:ext cx="1912295"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Sales before/after layout redesign</a:t>
            </a:r>
            <a:endParaRPr lang="en-US" sz="1600" dirty="0"/>
          </a:p>
        </p:txBody>
      </p:sp>
      <p:sp>
        <p:nvSpPr>
          <p:cNvPr id="58" name="Shape 56"/>
          <p:cNvSpPr/>
          <p:nvPr/>
        </p:nvSpPr>
        <p:spPr>
          <a:xfrm>
            <a:off x="6456014" y="6314501"/>
            <a:ext cx="143647" cy="143647"/>
          </a:xfrm>
          <a:custGeom>
            <a:avLst/>
            <a:gdLst/>
            <a:ahLst/>
            <a:cxnLst/>
            <a:rect l="l" t="t" r="r" b="b"/>
            <a:pathLst>
              <a:path w="143647" h="143647">
                <a:moveTo>
                  <a:pt x="17956" y="17956"/>
                </a:moveTo>
                <a:cubicBezTo>
                  <a:pt x="8052" y="17956"/>
                  <a:pt x="0" y="26008"/>
                  <a:pt x="0" y="35912"/>
                </a:cubicBezTo>
                <a:lnTo>
                  <a:pt x="0" y="107735"/>
                </a:lnTo>
                <a:cubicBezTo>
                  <a:pt x="0" y="117639"/>
                  <a:pt x="8052" y="125691"/>
                  <a:pt x="17956" y="125691"/>
                </a:cubicBezTo>
                <a:lnTo>
                  <a:pt x="125691" y="125691"/>
                </a:lnTo>
                <a:cubicBezTo>
                  <a:pt x="135594" y="125691"/>
                  <a:pt x="143647" y="117639"/>
                  <a:pt x="143647" y="107735"/>
                </a:cubicBezTo>
                <a:lnTo>
                  <a:pt x="143647" y="35912"/>
                </a:lnTo>
                <a:cubicBezTo>
                  <a:pt x="143647" y="26008"/>
                  <a:pt x="135594" y="17956"/>
                  <a:pt x="125691" y="17956"/>
                </a:cubicBezTo>
                <a:lnTo>
                  <a:pt x="17956" y="17956"/>
                </a:lnTo>
                <a:close/>
                <a:moveTo>
                  <a:pt x="116713" y="51623"/>
                </a:moveTo>
                <a:lnTo>
                  <a:pt x="116713" y="92024"/>
                </a:lnTo>
                <a:cubicBezTo>
                  <a:pt x="116713" y="95755"/>
                  <a:pt x="113711" y="98757"/>
                  <a:pt x="109979" y="98757"/>
                </a:cubicBezTo>
                <a:cubicBezTo>
                  <a:pt x="107987" y="98757"/>
                  <a:pt x="106192" y="97887"/>
                  <a:pt x="104957" y="96513"/>
                </a:cubicBezTo>
                <a:cubicBezTo>
                  <a:pt x="102096" y="97943"/>
                  <a:pt x="98841" y="98757"/>
                  <a:pt x="95390" y="98757"/>
                </a:cubicBezTo>
                <a:cubicBezTo>
                  <a:pt x="83607" y="98757"/>
                  <a:pt x="74068" y="89218"/>
                  <a:pt x="74068" y="77434"/>
                </a:cubicBezTo>
                <a:cubicBezTo>
                  <a:pt x="74068" y="65651"/>
                  <a:pt x="83607" y="56112"/>
                  <a:pt x="95390" y="56112"/>
                </a:cubicBezTo>
                <a:cubicBezTo>
                  <a:pt x="98168" y="56112"/>
                  <a:pt x="100805" y="56645"/>
                  <a:pt x="103246" y="57599"/>
                </a:cubicBezTo>
                <a:lnTo>
                  <a:pt x="103246" y="51623"/>
                </a:lnTo>
                <a:cubicBezTo>
                  <a:pt x="103246" y="47892"/>
                  <a:pt x="106248" y="44890"/>
                  <a:pt x="109979" y="44890"/>
                </a:cubicBezTo>
                <a:cubicBezTo>
                  <a:pt x="113711" y="44890"/>
                  <a:pt x="116713" y="47892"/>
                  <a:pt x="116713" y="51623"/>
                </a:cubicBezTo>
                <a:close/>
                <a:moveTo>
                  <a:pt x="103246" y="77434"/>
                </a:moveTo>
                <a:cubicBezTo>
                  <a:pt x="103246" y="73099"/>
                  <a:pt x="99726" y="69579"/>
                  <a:pt x="95390" y="69579"/>
                </a:cubicBezTo>
                <a:cubicBezTo>
                  <a:pt x="91055" y="69579"/>
                  <a:pt x="87535" y="73099"/>
                  <a:pt x="87535" y="77434"/>
                </a:cubicBezTo>
                <a:cubicBezTo>
                  <a:pt x="87535" y="81770"/>
                  <a:pt x="91055" y="85290"/>
                  <a:pt x="95390" y="85290"/>
                </a:cubicBezTo>
                <a:cubicBezTo>
                  <a:pt x="99726" y="85290"/>
                  <a:pt x="103246" y="81770"/>
                  <a:pt x="103246" y="77434"/>
                </a:cubicBezTo>
                <a:close/>
                <a:moveTo>
                  <a:pt x="44890" y="58356"/>
                </a:moveTo>
                <a:cubicBezTo>
                  <a:pt x="42421" y="58356"/>
                  <a:pt x="40401" y="60376"/>
                  <a:pt x="40401" y="62845"/>
                </a:cubicBezTo>
                <a:lnTo>
                  <a:pt x="40401" y="71823"/>
                </a:lnTo>
                <a:lnTo>
                  <a:pt x="53867" y="71823"/>
                </a:lnTo>
                <a:lnTo>
                  <a:pt x="53867" y="62845"/>
                </a:lnTo>
                <a:cubicBezTo>
                  <a:pt x="53867" y="60376"/>
                  <a:pt x="51847" y="58356"/>
                  <a:pt x="49378" y="58356"/>
                </a:cubicBezTo>
                <a:lnTo>
                  <a:pt x="44890" y="58356"/>
                </a:lnTo>
                <a:close/>
                <a:moveTo>
                  <a:pt x="53867" y="85290"/>
                </a:moveTo>
                <a:lnTo>
                  <a:pt x="40401" y="85290"/>
                </a:lnTo>
                <a:lnTo>
                  <a:pt x="40401" y="92024"/>
                </a:lnTo>
                <a:cubicBezTo>
                  <a:pt x="40401" y="95755"/>
                  <a:pt x="37399" y="98757"/>
                  <a:pt x="33667" y="98757"/>
                </a:cubicBezTo>
                <a:cubicBezTo>
                  <a:pt x="29936" y="98757"/>
                  <a:pt x="26934" y="95755"/>
                  <a:pt x="26934" y="92024"/>
                </a:cubicBezTo>
                <a:lnTo>
                  <a:pt x="26934" y="62845"/>
                </a:lnTo>
                <a:cubicBezTo>
                  <a:pt x="26934" y="52942"/>
                  <a:pt x="34986" y="44890"/>
                  <a:pt x="44890" y="44890"/>
                </a:cubicBezTo>
                <a:lnTo>
                  <a:pt x="49378" y="44890"/>
                </a:lnTo>
                <a:cubicBezTo>
                  <a:pt x="59282" y="44890"/>
                  <a:pt x="67334" y="52942"/>
                  <a:pt x="67334" y="62845"/>
                </a:cubicBezTo>
                <a:lnTo>
                  <a:pt x="67334" y="92024"/>
                </a:lnTo>
                <a:cubicBezTo>
                  <a:pt x="67334" y="95755"/>
                  <a:pt x="64332" y="98757"/>
                  <a:pt x="60601" y="98757"/>
                </a:cubicBezTo>
                <a:cubicBezTo>
                  <a:pt x="56869" y="98757"/>
                  <a:pt x="53867" y="95755"/>
                  <a:pt x="53867" y="92024"/>
                </a:cubicBezTo>
                <a:lnTo>
                  <a:pt x="53867" y="85290"/>
                </a:lnTo>
                <a:close/>
              </a:path>
            </a:pathLst>
          </a:custGeom>
          <a:solidFill>
            <a:srgbClr val="8B5CF6"/>
          </a:solidFill>
          <a:ln/>
        </p:spPr>
      </p:sp>
      <p:sp>
        <p:nvSpPr>
          <p:cNvPr id="59" name="Text 57"/>
          <p:cNvSpPr/>
          <p:nvPr/>
        </p:nvSpPr>
        <p:spPr>
          <a:xfrm>
            <a:off x="6725352" y="6278590"/>
            <a:ext cx="1813538" cy="215470"/>
          </a:xfrm>
          <a:prstGeom prst="rect">
            <a:avLst/>
          </a:prstGeom>
          <a:noFill/>
          <a:ln/>
        </p:spPr>
        <p:txBody>
          <a:bodyPr wrap="square" lIns="0" tIns="0" rIns="0" bIns="0" rtlCol="0" anchor="ctr"/>
          <a:lstStyle/>
          <a:p>
            <a:pPr>
              <a:lnSpc>
                <a:spcPct val="120000"/>
              </a:lnSpc>
            </a:pPr>
            <a:r>
              <a:rPr lang="en-US" sz="1131" b="1" dirty="0">
                <a:solidFill>
                  <a:srgbClr val="F9FAFB"/>
                </a:solidFill>
                <a:latin typeface="Quattrocento Sans" pitchFamily="34" charset="0"/>
                <a:ea typeface="Quattrocento Sans" pitchFamily="34" charset="-122"/>
                <a:cs typeface="Quattrocento Sans" pitchFamily="34" charset="-120"/>
              </a:rPr>
              <a:t>Digital Ads</a:t>
            </a:r>
            <a:endParaRPr lang="en-US" sz="1600" dirty="0"/>
          </a:p>
        </p:txBody>
      </p:sp>
      <p:sp>
        <p:nvSpPr>
          <p:cNvPr id="60" name="Text 58"/>
          <p:cNvSpPr/>
          <p:nvPr/>
        </p:nvSpPr>
        <p:spPr>
          <a:xfrm>
            <a:off x="6725352" y="6494059"/>
            <a:ext cx="1804560" cy="179558"/>
          </a:xfrm>
          <a:prstGeom prst="rect">
            <a:avLst/>
          </a:prstGeom>
          <a:noFill/>
          <a:ln/>
        </p:spPr>
        <p:txBody>
          <a:bodyPr wrap="square" lIns="0" tIns="0" rIns="0" bIns="0" rtlCol="0" anchor="ctr"/>
          <a:lstStyle/>
          <a:p>
            <a:pPr>
              <a:lnSpc>
                <a:spcPct val="120000"/>
              </a:lnSpc>
            </a:pPr>
            <a:r>
              <a:rPr lang="en-US" sz="990" dirty="0">
                <a:solidFill>
                  <a:srgbClr val="F9FAFB">
                    <a:alpha val="70000"/>
                  </a:srgbClr>
                </a:solidFill>
                <a:latin typeface="Quattrocento Sans" pitchFamily="34" charset="0"/>
                <a:ea typeface="Quattrocento Sans" pitchFamily="34" charset="-122"/>
                <a:cs typeface="Quattrocento Sans" pitchFamily="34" charset="-120"/>
              </a:rPr>
              <a:t>Click-through rate optimization</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53" kern="0" dirty="0">
                <a:solidFill>
                  <a:srgbClr val="F97316"/>
                </a:solidFill>
                <a:latin typeface="Quattrocento Sans" pitchFamily="34" charset="0"/>
                <a:ea typeface="Quattrocento Sans" pitchFamily="34" charset="-122"/>
                <a:cs typeface="Quattrocento Sans" pitchFamily="34" charset="-120"/>
              </a:rPr>
              <a:t>CASE STUDY: NETFLIX</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9FAFB"/>
                </a:solidFill>
                <a:latin typeface="Liter" pitchFamily="34" charset="0"/>
                <a:ea typeface="Liter" pitchFamily="34" charset="-122"/>
                <a:cs typeface="Liter" pitchFamily="34" charset="-120"/>
              </a:rPr>
              <a:t>The Problem</a:t>
            </a:r>
            <a:endParaRPr lang="en-US" sz="1600" dirty="0"/>
          </a:p>
        </p:txBody>
      </p:sp>
      <p:sp>
        <p:nvSpPr>
          <p:cNvPr id="4" name="Shape 2"/>
          <p:cNvSpPr/>
          <p:nvPr/>
        </p:nvSpPr>
        <p:spPr>
          <a:xfrm>
            <a:off x="400050" y="1333500"/>
            <a:ext cx="6743700" cy="2524125"/>
          </a:xfrm>
          <a:custGeom>
            <a:avLst/>
            <a:gdLst/>
            <a:ahLst/>
            <a:cxnLst/>
            <a:rect l="l" t="t" r="r" b="b"/>
            <a:pathLst>
              <a:path w="6743700" h="2524125">
                <a:moveTo>
                  <a:pt x="38100" y="0"/>
                </a:moveTo>
                <a:lnTo>
                  <a:pt x="6667497" y="0"/>
                </a:lnTo>
                <a:cubicBezTo>
                  <a:pt x="6709583" y="0"/>
                  <a:pt x="6743700" y="34117"/>
                  <a:pt x="6743700" y="76203"/>
                </a:cubicBezTo>
                <a:lnTo>
                  <a:pt x="6743700" y="2447922"/>
                </a:lnTo>
                <a:cubicBezTo>
                  <a:pt x="6743700" y="2490008"/>
                  <a:pt x="6709583" y="2524125"/>
                  <a:pt x="6667497" y="2524125"/>
                </a:cubicBezTo>
                <a:lnTo>
                  <a:pt x="38100" y="2524125"/>
                </a:lnTo>
                <a:cubicBezTo>
                  <a:pt x="17072" y="2524125"/>
                  <a:pt x="0" y="2507053"/>
                  <a:pt x="0" y="2486025"/>
                </a:cubicBezTo>
                <a:lnTo>
                  <a:pt x="0" y="38100"/>
                </a:lnTo>
                <a:cubicBezTo>
                  <a:pt x="0" y="17072"/>
                  <a:pt x="17072" y="0"/>
                  <a:pt x="38100" y="0"/>
                </a:cubicBezTo>
                <a:close/>
              </a:path>
            </a:pathLst>
          </a:custGeom>
          <a:solidFill>
            <a:srgbClr val="374151"/>
          </a:solidFill>
          <a:ln/>
        </p:spPr>
      </p:sp>
      <p:sp>
        <p:nvSpPr>
          <p:cNvPr id="5" name="Shape 3"/>
          <p:cNvSpPr/>
          <p:nvPr/>
        </p:nvSpPr>
        <p:spPr>
          <a:xfrm>
            <a:off x="400050" y="1333500"/>
            <a:ext cx="38100" cy="2524125"/>
          </a:xfrm>
          <a:custGeom>
            <a:avLst/>
            <a:gdLst/>
            <a:ahLst/>
            <a:cxnLst/>
            <a:rect l="l" t="t" r="r" b="b"/>
            <a:pathLst>
              <a:path w="38100" h="2524125">
                <a:moveTo>
                  <a:pt x="38100" y="0"/>
                </a:moveTo>
                <a:lnTo>
                  <a:pt x="38100" y="0"/>
                </a:lnTo>
                <a:lnTo>
                  <a:pt x="38100" y="2524125"/>
                </a:lnTo>
                <a:lnTo>
                  <a:pt x="38100" y="2524125"/>
                </a:lnTo>
                <a:cubicBezTo>
                  <a:pt x="17072" y="2524125"/>
                  <a:pt x="0" y="2507053"/>
                  <a:pt x="0" y="2486025"/>
                </a:cubicBezTo>
                <a:lnTo>
                  <a:pt x="0" y="38100"/>
                </a:lnTo>
                <a:cubicBezTo>
                  <a:pt x="0" y="17072"/>
                  <a:pt x="17072" y="0"/>
                  <a:pt x="38100" y="0"/>
                </a:cubicBezTo>
                <a:close/>
              </a:path>
            </a:pathLst>
          </a:custGeom>
          <a:solidFill>
            <a:srgbClr val="F97316"/>
          </a:solidFill>
          <a:ln/>
        </p:spPr>
      </p:sp>
      <p:sp>
        <p:nvSpPr>
          <p:cNvPr id="6" name="Shape 4"/>
          <p:cNvSpPr/>
          <p:nvPr/>
        </p:nvSpPr>
        <p:spPr>
          <a:xfrm>
            <a:off x="676275" y="1600081"/>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14300" y="78581"/>
                </a:moveTo>
                <a:cubicBezTo>
                  <a:pt x="106397" y="78581"/>
                  <a:pt x="100013" y="84966"/>
                  <a:pt x="100013" y="92869"/>
                </a:cubicBezTo>
                <a:cubicBezTo>
                  <a:pt x="100013" y="98807"/>
                  <a:pt x="95235" y="103584"/>
                  <a:pt x="89297" y="103584"/>
                </a:cubicBezTo>
                <a:cubicBezTo>
                  <a:pt x="83359" y="103584"/>
                  <a:pt x="78581" y="98807"/>
                  <a:pt x="78581" y="92869"/>
                </a:cubicBezTo>
                <a:cubicBezTo>
                  <a:pt x="78581" y="73134"/>
                  <a:pt x="94565" y="57150"/>
                  <a:pt x="114300" y="57150"/>
                </a:cubicBezTo>
                <a:cubicBezTo>
                  <a:pt x="134035" y="57150"/>
                  <a:pt x="150019" y="73134"/>
                  <a:pt x="150019" y="92869"/>
                </a:cubicBezTo>
                <a:cubicBezTo>
                  <a:pt x="150019" y="113943"/>
                  <a:pt x="133945" y="122873"/>
                  <a:pt x="125016" y="126132"/>
                </a:cubicBezTo>
                <a:lnTo>
                  <a:pt x="125016" y="127828"/>
                </a:lnTo>
                <a:cubicBezTo>
                  <a:pt x="125016" y="133767"/>
                  <a:pt x="120238" y="138544"/>
                  <a:pt x="114300" y="138544"/>
                </a:cubicBezTo>
                <a:cubicBezTo>
                  <a:pt x="108362" y="138544"/>
                  <a:pt x="103584" y="133767"/>
                  <a:pt x="103584" y="127828"/>
                </a:cubicBezTo>
                <a:lnTo>
                  <a:pt x="103584" y="124212"/>
                </a:lnTo>
                <a:cubicBezTo>
                  <a:pt x="103584" y="115059"/>
                  <a:pt x="110192" y="108496"/>
                  <a:pt x="117024" y="106263"/>
                </a:cubicBezTo>
                <a:cubicBezTo>
                  <a:pt x="119881" y="105326"/>
                  <a:pt x="122917" y="103808"/>
                  <a:pt x="125150" y="101664"/>
                </a:cubicBezTo>
                <a:cubicBezTo>
                  <a:pt x="127069" y="99789"/>
                  <a:pt x="128588" y="97200"/>
                  <a:pt x="128588" y="92913"/>
                </a:cubicBezTo>
                <a:cubicBezTo>
                  <a:pt x="128588" y="85011"/>
                  <a:pt x="122203" y="78626"/>
                  <a:pt x="114300" y="78626"/>
                </a:cubicBezTo>
                <a:close/>
                <a:moveTo>
                  <a:pt x="100013" y="164306"/>
                </a:moveTo>
                <a:cubicBezTo>
                  <a:pt x="100013" y="156421"/>
                  <a:pt x="106415" y="150019"/>
                  <a:pt x="114300" y="150019"/>
                </a:cubicBezTo>
                <a:cubicBezTo>
                  <a:pt x="122185" y="150019"/>
                  <a:pt x="128588" y="156421"/>
                  <a:pt x="128588" y="164306"/>
                </a:cubicBezTo>
                <a:cubicBezTo>
                  <a:pt x="128588" y="172192"/>
                  <a:pt x="122185" y="178594"/>
                  <a:pt x="114300" y="178594"/>
                </a:cubicBezTo>
                <a:cubicBezTo>
                  <a:pt x="106415" y="178594"/>
                  <a:pt x="100013" y="172192"/>
                  <a:pt x="100013" y="164306"/>
                </a:cubicBezTo>
                <a:close/>
              </a:path>
            </a:pathLst>
          </a:custGeom>
          <a:solidFill>
            <a:srgbClr val="F97316"/>
          </a:solidFill>
          <a:ln/>
        </p:spPr>
      </p:sp>
      <p:sp>
        <p:nvSpPr>
          <p:cNvPr id="7" name="Text 5"/>
          <p:cNvSpPr/>
          <p:nvPr/>
        </p:nvSpPr>
        <p:spPr>
          <a:xfrm>
            <a:off x="933450" y="1562100"/>
            <a:ext cx="6096000"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Liter" pitchFamily="34" charset="0"/>
                <a:ea typeface="Liter" pitchFamily="34" charset="-122"/>
                <a:cs typeface="Liter" pitchFamily="34" charset="-120"/>
              </a:rPr>
              <a:t>Business Question</a:t>
            </a:r>
            <a:endParaRPr lang="en-US" sz="1600" dirty="0"/>
          </a:p>
        </p:txBody>
      </p:sp>
      <p:sp>
        <p:nvSpPr>
          <p:cNvPr id="8" name="Text 6"/>
          <p:cNvSpPr/>
          <p:nvPr/>
        </p:nvSpPr>
        <p:spPr>
          <a:xfrm>
            <a:off x="647700" y="2019181"/>
            <a:ext cx="6410325" cy="342900"/>
          </a:xfrm>
          <a:prstGeom prst="rect">
            <a:avLst/>
          </a:prstGeom>
          <a:noFill/>
          <a:ln/>
        </p:spPr>
        <p:txBody>
          <a:bodyPr wrap="square" lIns="0" tIns="0" rIns="0" bIns="0" rtlCol="0" anchor="ctr"/>
          <a:lstStyle/>
          <a:p>
            <a:pPr>
              <a:lnSpc>
                <a:spcPct val="100000"/>
              </a:lnSpc>
            </a:pPr>
            <a:r>
              <a:rPr lang="en-US" sz="2250" b="1" dirty="0">
                <a:solidFill>
                  <a:srgbClr val="F9FAFB"/>
                </a:solidFill>
                <a:latin typeface="Quattrocento Sans" pitchFamily="34" charset="0"/>
                <a:ea typeface="Quattrocento Sans" pitchFamily="34" charset="-122"/>
                <a:cs typeface="Quattrocento Sans" pitchFamily="34" charset="-120"/>
              </a:rPr>
              <a:t>Should we deploy new </a:t>
            </a:r>
            <a:pPr>
              <a:lnSpc>
                <a:spcPct val="100000"/>
              </a:lnSpc>
            </a:pPr>
            <a:r>
              <a:rPr lang="en-US" sz="2250" b="1" dirty="0">
                <a:solidFill>
                  <a:srgbClr val="F97316"/>
                </a:solidFill>
                <a:latin typeface="Quattrocento Sans" pitchFamily="34" charset="0"/>
                <a:ea typeface="Quattrocento Sans" pitchFamily="34" charset="-122"/>
                <a:cs typeface="Quattrocento Sans" pitchFamily="34" charset="-120"/>
              </a:rPr>
              <a:t>Algorithm V2</a:t>
            </a:r>
            <a:pPr>
              <a:lnSpc>
                <a:spcPct val="100000"/>
              </a:lnSpc>
            </a:pPr>
            <a:r>
              <a:rPr lang="en-US" sz="2250" b="1" dirty="0">
                <a:solidFill>
                  <a:srgbClr val="F9FAFB"/>
                </a:solidFill>
                <a:latin typeface="Quattrocento Sans" pitchFamily="34" charset="0"/>
                <a:ea typeface="Quattrocento Sans" pitchFamily="34" charset="-122"/>
                <a:cs typeface="Quattrocento Sans" pitchFamily="34" charset="-120"/>
              </a:rPr>
              <a:t> globally?</a:t>
            </a:r>
            <a:endParaRPr lang="en-US" sz="1600" dirty="0"/>
          </a:p>
        </p:txBody>
      </p:sp>
      <p:sp>
        <p:nvSpPr>
          <p:cNvPr id="9" name="Text 7"/>
          <p:cNvSpPr/>
          <p:nvPr/>
        </p:nvSpPr>
        <p:spPr>
          <a:xfrm>
            <a:off x="647700" y="2514481"/>
            <a:ext cx="6353175" cy="1114425"/>
          </a:xfrm>
          <a:prstGeom prst="rect">
            <a:avLst/>
          </a:prstGeom>
          <a:noFill/>
          <a:ln/>
        </p:spPr>
        <p:txBody>
          <a:bodyPr wrap="square" lIns="0" tIns="0" rIns="0" bIns="0" rtlCol="0" anchor="ctr"/>
          <a:lstStyle/>
          <a:p>
            <a:pPr>
              <a:lnSpc>
                <a:spcPct val="140000"/>
              </a:lnSpc>
            </a:pPr>
            <a:r>
              <a:rPr lang="en-US" sz="1350" dirty="0">
                <a:solidFill>
                  <a:srgbClr val="F9FAFB">
                    <a:alpha val="80000"/>
                  </a:srgbClr>
                </a:solidFill>
                <a:latin typeface="Quattrocento Sans" pitchFamily="34" charset="0"/>
                <a:ea typeface="Quattrocento Sans" pitchFamily="34" charset="-122"/>
                <a:cs typeface="Quattrocento Sans" pitchFamily="34" charset="-120"/>
              </a:rPr>
              <a:t>Netflix's data science team developed an enhanced recommendation algorithm that claims to improve personalization. Before rolling it out to 230 million subscribers worldwide, they needed rigorous statistical proof that it actually works.</a:t>
            </a:r>
            <a:endParaRPr lang="en-US" sz="1600" dirty="0"/>
          </a:p>
        </p:txBody>
      </p:sp>
      <p:sp>
        <p:nvSpPr>
          <p:cNvPr id="10" name="Shape 8"/>
          <p:cNvSpPr/>
          <p:nvPr/>
        </p:nvSpPr>
        <p:spPr>
          <a:xfrm>
            <a:off x="384810" y="4089916"/>
            <a:ext cx="6760845" cy="2731770"/>
          </a:xfrm>
          <a:custGeom>
            <a:avLst/>
            <a:gdLst/>
            <a:ahLst/>
            <a:cxnLst/>
            <a:rect l="l" t="t" r="r" b="b"/>
            <a:pathLst>
              <a:path w="6760845" h="2731770">
                <a:moveTo>
                  <a:pt x="76189" y="0"/>
                </a:moveTo>
                <a:lnTo>
                  <a:pt x="6684656" y="0"/>
                </a:lnTo>
                <a:cubicBezTo>
                  <a:pt x="6726734" y="0"/>
                  <a:pt x="6760845" y="34111"/>
                  <a:pt x="6760845" y="76189"/>
                </a:cubicBezTo>
                <a:lnTo>
                  <a:pt x="6760845" y="2655581"/>
                </a:lnTo>
                <a:cubicBezTo>
                  <a:pt x="6760845" y="2697659"/>
                  <a:pt x="6726734" y="2731770"/>
                  <a:pt x="6684656" y="2731770"/>
                </a:cubicBezTo>
                <a:lnTo>
                  <a:pt x="76189" y="2731770"/>
                </a:lnTo>
                <a:cubicBezTo>
                  <a:pt x="34111" y="2731770"/>
                  <a:pt x="0" y="2697659"/>
                  <a:pt x="0" y="2655581"/>
                </a:cubicBezTo>
                <a:lnTo>
                  <a:pt x="0" y="76189"/>
                </a:lnTo>
                <a:cubicBezTo>
                  <a:pt x="0" y="34139"/>
                  <a:pt x="34139" y="0"/>
                  <a:pt x="76189" y="0"/>
                </a:cubicBezTo>
                <a:close/>
              </a:path>
            </a:pathLst>
          </a:custGeom>
          <a:solidFill>
            <a:srgbClr val="374151">
              <a:alpha val="50196"/>
            </a:srgbClr>
          </a:solidFill>
          <a:ln w="10160">
            <a:solidFill>
              <a:srgbClr val="4B5563"/>
            </a:solidFill>
            <a:prstDash val="solid"/>
          </a:ln>
        </p:spPr>
      </p:sp>
      <p:sp>
        <p:nvSpPr>
          <p:cNvPr id="11" name="Shape 9"/>
          <p:cNvSpPr/>
          <p:nvPr/>
        </p:nvSpPr>
        <p:spPr>
          <a:xfrm>
            <a:off x="641033" y="4360427"/>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F97316"/>
          </a:solidFill>
          <a:ln/>
        </p:spPr>
      </p:sp>
      <p:sp>
        <p:nvSpPr>
          <p:cNvPr id="12" name="Text 10"/>
          <p:cNvSpPr/>
          <p:nvPr/>
        </p:nvSpPr>
        <p:spPr>
          <a:xfrm>
            <a:off x="855345" y="4322327"/>
            <a:ext cx="6153150" cy="266700"/>
          </a:xfrm>
          <a:prstGeom prst="rect">
            <a:avLst/>
          </a:prstGeom>
          <a:noFill/>
          <a:ln/>
        </p:spPr>
        <p:txBody>
          <a:bodyPr wrap="square" lIns="0" tIns="0" rIns="0" bIns="0" rtlCol="0" anchor="ctr"/>
          <a:lstStyle/>
          <a:p>
            <a:pPr>
              <a:lnSpc>
                <a:spcPct val="120000"/>
              </a:lnSpc>
            </a:pPr>
            <a:r>
              <a:rPr lang="en-US" sz="1500" b="1" dirty="0">
                <a:solidFill>
                  <a:srgbClr val="F9FAFB"/>
                </a:solidFill>
                <a:latin typeface="Liter" pitchFamily="34" charset="0"/>
                <a:ea typeface="Liter" pitchFamily="34" charset="-122"/>
                <a:cs typeface="Liter" pitchFamily="34" charset="-120"/>
              </a:rPr>
              <a:t>The Challenge</a:t>
            </a:r>
            <a:endParaRPr lang="en-US" sz="1600" dirty="0"/>
          </a:p>
        </p:txBody>
      </p:sp>
      <p:sp>
        <p:nvSpPr>
          <p:cNvPr id="13" name="Shape 11"/>
          <p:cNvSpPr/>
          <p:nvPr/>
        </p:nvSpPr>
        <p:spPr>
          <a:xfrm>
            <a:off x="617220" y="4741427"/>
            <a:ext cx="3067050" cy="1143000"/>
          </a:xfrm>
          <a:custGeom>
            <a:avLst/>
            <a:gdLst/>
            <a:ahLst/>
            <a:cxnLst/>
            <a:rect l="l" t="t" r="r" b="b"/>
            <a:pathLst>
              <a:path w="3067050" h="1143000">
                <a:moveTo>
                  <a:pt x="76204" y="0"/>
                </a:moveTo>
                <a:lnTo>
                  <a:pt x="2990846" y="0"/>
                </a:lnTo>
                <a:cubicBezTo>
                  <a:pt x="3032932" y="0"/>
                  <a:pt x="3067050" y="34118"/>
                  <a:pt x="3067050" y="76204"/>
                </a:cubicBezTo>
                <a:lnTo>
                  <a:pt x="3067050" y="1066796"/>
                </a:lnTo>
                <a:cubicBezTo>
                  <a:pt x="3067050" y="1108882"/>
                  <a:pt x="3032932" y="1143000"/>
                  <a:pt x="2990846" y="1143000"/>
                </a:cubicBezTo>
                <a:lnTo>
                  <a:pt x="76204" y="1143000"/>
                </a:lnTo>
                <a:cubicBezTo>
                  <a:pt x="34118" y="1143000"/>
                  <a:pt x="0" y="1108882"/>
                  <a:pt x="0" y="1066796"/>
                </a:cubicBezTo>
                <a:lnTo>
                  <a:pt x="0" y="76204"/>
                </a:lnTo>
                <a:cubicBezTo>
                  <a:pt x="0" y="34146"/>
                  <a:pt x="34146" y="0"/>
                  <a:pt x="76204" y="0"/>
                </a:cubicBezTo>
                <a:close/>
              </a:path>
            </a:pathLst>
          </a:custGeom>
          <a:solidFill>
            <a:srgbClr val="111827"/>
          </a:solidFill>
          <a:ln/>
        </p:spPr>
      </p:sp>
      <p:sp>
        <p:nvSpPr>
          <p:cNvPr id="14" name="Text 12"/>
          <p:cNvSpPr/>
          <p:nvPr/>
        </p:nvSpPr>
        <p:spPr>
          <a:xfrm>
            <a:off x="769620" y="4893827"/>
            <a:ext cx="2828925" cy="190500"/>
          </a:xfrm>
          <a:prstGeom prst="rect">
            <a:avLst/>
          </a:prstGeom>
          <a:noFill/>
          <a:ln/>
        </p:spPr>
        <p:txBody>
          <a:bodyPr wrap="square" lIns="0" tIns="0" rIns="0" bIns="0" rtlCol="0" anchor="ctr"/>
          <a:lstStyle/>
          <a:p>
            <a:pPr>
              <a:lnSpc>
                <a:spcPct val="120000"/>
              </a:lnSpc>
            </a:pPr>
            <a:r>
              <a:rPr lang="en-US" sz="1050" dirty="0">
                <a:solidFill>
                  <a:srgbClr val="F9FAFB">
                    <a:alpha val="60000"/>
                  </a:srgbClr>
                </a:solidFill>
                <a:latin typeface="Quattrocento Sans" pitchFamily="34" charset="0"/>
                <a:ea typeface="Quattrocento Sans" pitchFamily="34" charset="-122"/>
                <a:cs typeface="Quattrocento Sans" pitchFamily="34" charset="-120"/>
              </a:rPr>
              <a:t>Algorithm V1 (Current)</a:t>
            </a:r>
            <a:endParaRPr lang="en-US" sz="1600" dirty="0"/>
          </a:p>
        </p:txBody>
      </p:sp>
      <p:sp>
        <p:nvSpPr>
          <p:cNvPr id="15" name="Text 13"/>
          <p:cNvSpPr/>
          <p:nvPr/>
        </p:nvSpPr>
        <p:spPr>
          <a:xfrm>
            <a:off x="769620" y="5160527"/>
            <a:ext cx="2905125" cy="342900"/>
          </a:xfrm>
          <a:prstGeom prst="rect">
            <a:avLst/>
          </a:prstGeom>
          <a:noFill/>
          <a:ln/>
        </p:spPr>
        <p:txBody>
          <a:bodyPr wrap="square" lIns="0" tIns="0" rIns="0" bIns="0" rtlCol="0" anchor="ctr"/>
          <a:lstStyle/>
          <a:p>
            <a:pPr>
              <a:lnSpc>
                <a:spcPct val="100000"/>
              </a:lnSpc>
            </a:pPr>
            <a:r>
              <a:rPr lang="en-US" sz="2250" b="1" dirty="0">
                <a:solidFill>
                  <a:srgbClr val="F9FAFB"/>
                </a:solidFill>
                <a:latin typeface="Quattrocento Sans" pitchFamily="34" charset="0"/>
                <a:ea typeface="Quattrocento Sans" pitchFamily="34" charset="-122"/>
                <a:cs typeface="Quattrocento Sans" pitchFamily="34" charset="-120"/>
              </a:rPr>
              <a:t>2.1 hours</a:t>
            </a:r>
            <a:endParaRPr lang="en-US" sz="1600" dirty="0"/>
          </a:p>
        </p:txBody>
      </p:sp>
      <p:sp>
        <p:nvSpPr>
          <p:cNvPr id="16" name="Text 14"/>
          <p:cNvSpPr/>
          <p:nvPr/>
        </p:nvSpPr>
        <p:spPr>
          <a:xfrm>
            <a:off x="769620" y="5503427"/>
            <a:ext cx="2838450" cy="2286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avg viewing/day</a:t>
            </a:r>
            <a:endParaRPr lang="en-US" sz="1600" dirty="0"/>
          </a:p>
        </p:txBody>
      </p:sp>
      <p:sp>
        <p:nvSpPr>
          <p:cNvPr id="17" name="Shape 15"/>
          <p:cNvSpPr/>
          <p:nvPr/>
        </p:nvSpPr>
        <p:spPr>
          <a:xfrm>
            <a:off x="3840480" y="4741427"/>
            <a:ext cx="3067050" cy="1143000"/>
          </a:xfrm>
          <a:custGeom>
            <a:avLst/>
            <a:gdLst/>
            <a:ahLst/>
            <a:cxnLst/>
            <a:rect l="l" t="t" r="r" b="b"/>
            <a:pathLst>
              <a:path w="3067050" h="1143000">
                <a:moveTo>
                  <a:pt x="76204" y="0"/>
                </a:moveTo>
                <a:lnTo>
                  <a:pt x="2990846" y="0"/>
                </a:lnTo>
                <a:cubicBezTo>
                  <a:pt x="3032932" y="0"/>
                  <a:pt x="3067050" y="34118"/>
                  <a:pt x="3067050" y="76204"/>
                </a:cubicBezTo>
                <a:lnTo>
                  <a:pt x="3067050" y="1066796"/>
                </a:lnTo>
                <a:cubicBezTo>
                  <a:pt x="3067050" y="1108882"/>
                  <a:pt x="3032932" y="1143000"/>
                  <a:pt x="2990846" y="1143000"/>
                </a:cubicBezTo>
                <a:lnTo>
                  <a:pt x="76204" y="1143000"/>
                </a:lnTo>
                <a:cubicBezTo>
                  <a:pt x="34118" y="1143000"/>
                  <a:pt x="0" y="1108882"/>
                  <a:pt x="0" y="1066796"/>
                </a:cubicBezTo>
                <a:lnTo>
                  <a:pt x="0" y="76204"/>
                </a:lnTo>
                <a:cubicBezTo>
                  <a:pt x="0" y="34146"/>
                  <a:pt x="34146" y="0"/>
                  <a:pt x="76204" y="0"/>
                </a:cubicBezTo>
                <a:close/>
              </a:path>
            </a:pathLst>
          </a:custGeom>
          <a:solidFill>
            <a:srgbClr val="111827"/>
          </a:solidFill>
          <a:ln/>
        </p:spPr>
      </p:sp>
      <p:sp>
        <p:nvSpPr>
          <p:cNvPr id="18" name="Text 16"/>
          <p:cNvSpPr/>
          <p:nvPr/>
        </p:nvSpPr>
        <p:spPr>
          <a:xfrm>
            <a:off x="3992880" y="4893827"/>
            <a:ext cx="2828925" cy="190500"/>
          </a:xfrm>
          <a:prstGeom prst="rect">
            <a:avLst/>
          </a:prstGeom>
          <a:noFill/>
          <a:ln/>
        </p:spPr>
        <p:txBody>
          <a:bodyPr wrap="square" lIns="0" tIns="0" rIns="0" bIns="0" rtlCol="0" anchor="ctr"/>
          <a:lstStyle/>
          <a:p>
            <a:pPr>
              <a:lnSpc>
                <a:spcPct val="120000"/>
              </a:lnSpc>
            </a:pPr>
            <a:r>
              <a:rPr lang="en-US" sz="1050" dirty="0">
                <a:solidFill>
                  <a:srgbClr val="F9FAFB">
                    <a:alpha val="60000"/>
                  </a:srgbClr>
                </a:solidFill>
                <a:latin typeface="Quattrocento Sans" pitchFamily="34" charset="0"/>
                <a:ea typeface="Quattrocento Sans" pitchFamily="34" charset="-122"/>
                <a:cs typeface="Quattrocento Sans" pitchFamily="34" charset="-120"/>
              </a:rPr>
              <a:t>Algorithm V2 (New)</a:t>
            </a:r>
            <a:endParaRPr lang="en-US" sz="1600" dirty="0"/>
          </a:p>
        </p:txBody>
      </p:sp>
      <p:sp>
        <p:nvSpPr>
          <p:cNvPr id="19" name="Text 17"/>
          <p:cNvSpPr/>
          <p:nvPr/>
        </p:nvSpPr>
        <p:spPr>
          <a:xfrm>
            <a:off x="3992880" y="5160527"/>
            <a:ext cx="2905125" cy="342900"/>
          </a:xfrm>
          <a:prstGeom prst="rect">
            <a:avLst/>
          </a:prstGeom>
          <a:noFill/>
          <a:ln/>
        </p:spPr>
        <p:txBody>
          <a:bodyPr wrap="square" lIns="0" tIns="0" rIns="0" bIns="0" rtlCol="0" anchor="ctr"/>
          <a:lstStyle/>
          <a:p>
            <a:pPr>
              <a:lnSpc>
                <a:spcPct val="100000"/>
              </a:lnSpc>
            </a:pPr>
            <a:r>
              <a:rPr lang="en-US" sz="2250" b="1" dirty="0">
                <a:solidFill>
                  <a:srgbClr val="F97316"/>
                </a:solidFill>
                <a:latin typeface="Quattrocento Sans" pitchFamily="34" charset="0"/>
                <a:ea typeface="Quattrocento Sans" pitchFamily="34" charset="-122"/>
                <a:cs typeface="Quattrocento Sans" pitchFamily="34" charset="-120"/>
              </a:rPr>
              <a:t>?</a:t>
            </a:r>
            <a:endParaRPr lang="en-US" sz="1600" dirty="0"/>
          </a:p>
        </p:txBody>
      </p:sp>
      <p:sp>
        <p:nvSpPr>
          <p:cNvPr id="20" name="Text 18"/>
          <p:cNvSpPr/>
          <p:nvPr/>
        </p:nvSpPr>
        <p:spPr>
          <a:xfrm>
            <a:off x="3992880" y="5503427"/>
            <a:ext cx="2838450" cy="2286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claims better personalization</a:t>
            </a:r>
            <a:endParaRPr lang="en-US" sz="1600" dirty="0"/>
          </a:p>
        </p:txBody>
      </p:sp>
      <p:sp>
        <p:nvSpPr>
          <p:cNvPr id="21" name="Shape 19"/>
          <p:cNvSpPr/>
          <p:nvPr/>
        </p:nvSpPr>
        <p:spPr>
          <a:xfrm>
            <a:off x="621030" y="6040637"/>
            <a:ext cx="6284595" cy="541020"/>
          </a:xfrm>
          <a:custGeom>
            <a:avLst/>
            <a:gdLst/>
            <a:ahLst/>
            <a:cxnLst/>
            <a:rect l="l" t="t" r="r" b="b"/>
            <a:pathLst>
              <a:path w="6284595" h="541020">
                <a:moveTo>
                  <a:pt x="76203" y="0"/>
                </a:moveTo>
                <a:lnTo>
                  <a:pt x="6208392" y="0"/>
                </a:lnTo>
                <a:cubicBezTo>
                  <a:pt x="6250478" y="0"/>
                  <a:pt x="6284595" y="34117"/>
                  <a:pt x="6284595" y="76203"/>
                </a:cubicBezTo>
                <a:lnTo>
                  <a:pt x="6284595" y="464817"/>
                </a:lnTo>
                <a:cubicBezTo>
                  <a:pt x="6284595" y="506903"/>
                  <a:pt x="6250478" y="541020"/>
                  <a:pt x="6208392" y="541020"/>
                </a:cubicBezTo>
                <a:lnTo>
                  <a:pt x="76203" y="541020"/>
                </a:lnTo>
                <a:cubicBezTo>
                  <a:pt x="34117" y="541020"/>
                  <a:pt x="0" y="506903"/>
                  <a:pt x="0" y="464817"/>
                </a:cubicBezTo>
                <a:lnTo>
                  <a:pt x="0" y="76203"/>
                </a:lnTo>
                <a:cubicBezTo>
                  <a:pt x="0" y="34145"/>
                  <a:pt x="34145" y="0"/>
                  <a:pt x="76203" y="0"/>
                </a:cubicBezTo>
                <a:close/>
              </a:path>
            </a:pathLst>
          </a:custGeom>
          <a:solidFill>
            <a:srgbClr val="F97316">
              <a:alpha val="10196"/>
            </a:srgbClr>
          </a:solidFill>
          <a:ln w="10160">
            <a:solidFill>
              <a:srgbClr val="F97316">
                <a:alpha val="30196"/>
              </a:srgbClr>
            </a:solidFill>
            <a:prstDash val="solid"/>
          </a:ln>
        </p:spPr>
      </p:sp>
      <p:sp>
        <p:nvSpPr>
          <p:cNvPr id="22" name="Shape 20"/>
          <p:cNvSpPr/>
          <p:nvPr/>
        </p:nvSpPr>
        <p:spPr>
          <a:xfrm>
            <a:off x="796290" y="6234947"/>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47625"/>
                </a:moveTo>
                <a:cubicBezTo>
                  <a:pt x="66675" y="42368"/>
                  <a:pt x="70943" y="38100"/>
                  <a:pt x="76200" y="38100"/>
                </a:cubicBezTo>
                <a:cubicBezTo>
                  <a:pt x="81457" y="38100"/>
                  <a:pt x="85725" y="42368"/>
                  <a:pt x="85725" y="47625"/>
                </a:cubicBezTo>
                <a:cubicBezTo>
                  <a:pt x="85725" y="52882"/>
                  <a:pt x="81457" y="57150"/>
                  <a:pt x="76200" y="57150"/>
                </a:cubicBezTo>
                <a:cubicBezTo>
                  <a:pt x="70943" y="57150"/>
                  <a:pt x="66675" y="52882"/>
                  <a:pt x="66675" y="47625"/>
                </a:cubicBezTo>
                <a:close/>
                <a:moveTo>
                  <a:pt x="64294" y="66675"/>
                </a:moveTo>
                <a:lnTo>
                  <a:pt x="78581" y="66675"/>
                </a:lnTo>
                <a:cubicBezTo>
                  <a:pt x="82540" y="66675"/>
                  <a:pt x="85725" y="69860"/>
                  <a:pt x="85725" y="73819"/>
                </a:cubicBezTo>
                <a:lnTo>
                  <a:pt x="85725" y="100013"/>
                </a:lnTo>
                <a:lnTo>
                  <a:pt x="88106" y="100013"/>
                </a:lnTo>
                <a:cubicBezTo>
                  <a:pt x="92065" y="100013"/>
                  <a:pt x="95250" y="103197"/>
                  <a:pt x="95250" y="107156"/>
                </a:cubicBezTo>
                <a:cubicBezTo>
                  <a:pt x="95250" y="111115"/>
                  <a:pt x="92065" y="114300"/>
                  <a:pt x="88106" y="114300"/>
                </a:cubicBezTo>
                <a:lnTo>
                  <a:pt x="64294" y="114300"/>
                </a:lnTo>
                <a:cubicBezTo>
                  <a:pt x="60335" y="114300"/>
                  <a:pt x="57150" y="111115"/>
                  <a:pt x="57150" y="107156"/>
                </a:cubicBezTo>
                <a:cubicBezTo>
                  <a:pt x="57150" y="103197"/>
                  <a:pt x="60335" y="100013"/>
                  <a:pt x="64294" y="100013"/>
                </a:cubicBezTo>
                <a:lnTo>
                  <a:pt x="71438" y="100013"/>
                </a:lnTo>
                <a:lnTo>
                  <a:pt x="71438" y="80962"/>
                </a:lnTo>
                <a:lnTo>
                  <a:pt x="64294" y="80962"/>
                </a:lnTo>
                <a:cubicBezTo>
                  <a:pt x="60335" y="80962"/>
                  <a:pt x="57150" y="77778"/>
                  <a:pt x="57150" y="73819"/>
                </a:cubicBezTo>
                <a:cubicBezTo>
                  <a:pt x="57150" y="69860"/>
                  <a:pt x="60335" y="66675"/>
                  <a:pt x="64294" y="66675"/>
                </a:cubicBezTo>
                <a:close/>
              </a:path>
            </a:pathLst>
          </a:custGeom>
          <a:solidFill>
            <a:srgbClr val="F97316"/>
          </a:solidFill>
          <a:ln/>
        </p:spPr>
      </p:sp>
      <p:sp>
        <p:nvSpPr>
          <p:cNvPr id="23" name="Text 21"/>
          <p:cNvSpPr/>
          <p:nvPr/>
        </p:nvSpPr>
        <p:spPr>
          <a:xfrm>
            <a:off x="1024890" y="6196847"/>
            <a:ext cx="5800725" cy="228600"/>
          </a:xfrm>
          <a:prstGeom prst="rect">
            <a:avLst/>
          </a:prstGeom>
          <a:noFill/>
          <a:ln/>
        </p:spPr>
        <p:txBody>
          <a:bodyPr wrap="square" lIns="0" tIns="0" rIns="0" bIns="0" rtlCol="0" anchor="ctr"/>
          <a:lstStyle/>
          <a:p>
            <a:pPr>
              <a:lnSpc>
                <a:spcPct val="130000"/>
              </a:lnSpc>
            </a:pPr>
            <a:r>
              <a:rPr lang="en-US" sz="1200" b="1" dirty="0">
                <a:solidFill>
                  <a:srgbClr val="F9FAFB">
                    <a:alpha val="80000"/>
                  </a:srgbClr>
                </a:solidFill>
                <a:latin typeface="Quattrocento Sans" pitchFamily="34" charset="0"/>
                <a:ea typeface="Quattrocento Sans" pitchFamily="34" charset="-122"/>
                <a:cs typeface="Quattrocento Sans" pitchFamily="34" charset="-120"/>
              </a:rPr>
              <a:t>Need:</a:t>
            </a:r>
            <a:pPr>
              <a:lnSpc>
                <a:spcPct val="130000"/>
              </a:lnSpc>
            </a:pPr>
            <a:r>
              <a:rPr lang="en-US" sz="1200" dirty="0">
                <a:solidFill>
                  <a:srgbClr val="F9FAFB">
                    <a:alpha val="80000"/>
                  </a:srgbClr>
                </a:solidFill>
                <a:latin typeface="Quattrocento Sans" pitchFamily="34" charset="0"/>
                <a:ea typeface="Quattrocento Sans" pitchFamily="34" charset="-122"/>
                <a:cs typeface="Quattrocento Sans" pitchFamily="34" charset="-120"/>
              </a:rPr>
              <a:t> Statistical proof that V2 outperforms V1 before global rollout</a:t>
            </a:r>
            <a:endParaRPr lang="en-US" sz="1600" dirty="0"/>
          </a:p>
        </p:txBody>
      </p:sp>
      <p:sp>
        <p:nvSpPr>
          <p:cNvPr id="24" name="Shape 22"/>
          <p:cNvSpPr/>
          <p:nvPr/>
        </p:nvSpPr>
        <p:spPr>
          <a:xfrm>
            <a:off x="7379970" y="1337310"/>
            <a:ext cx="4427220" cy="2912745"/>
          </a:xfrm>
          <a:custGeom>
            <a:avLst/>
            <a:gdLst/>
            <a:ahLst/>
            <a:cxnLst/>
            <a:rect l="l" t="t" r="r" b="b"/>
            <a:pathLst>
              <a:path w="4427220" h="2912745">
                <a:moveTo>
                  <a:pt x="76197" y="0"/>
                </a:moveTo>
                <a:lnTo>
                  <a:pt x="4351023" y="0"/>
                </a:lnTo>
                <a:cubicBezTo>
                  <a:pt x="4393105" y="0"/>
                  <a:pt x="4427220" y="34115"/>
                  <a:pt x="4427220" y="76197"/>
                </a:cubicBezTo>
                <a:lnTo>
                  <a:pt x="4427220" y="2836548"/>
                </a:lnTo>
                <a:cubicBezTo>
                  <a:pt x="4427220" y="2878630"/>
                  <a:pt x="4393105" y="2912745"/>
                  <a:pt x="4351023" y="2912745"/>
                </a:cubicBezTo>
                <a:lnTo>
                  <a:pt x="76197" y="2912745"/>
                </a:lnTo>
                <a:cubicBezTo>
                  <a:pt x="34115" y="2912745"/>
                  <a:pt x="0" y="2878630"/>
                  <a:pt x="0" y="2836548"/>
                </a:cubicBezTo>
                <a:lnTo>
                  <a:pt x="0" y="76197"/>
                </a:lnTo>
                <a:cubicBezTo>
                  <a:pt x="0" y="34143"/>
                  <a:pt x="34143" y="0"/>
                  <a:pt x="76197" y="0"/>
                </a:cubicBezTo>
                <a:close/>
              </a:path>
            </a:pathLst>
          </a:custGeom>
          <a:solidFill>
            <a:srgbClr val="F97316">
              <a:alpha val="10196"/>
            </a:srgbClr>
          </a:solidFill>
          <a:ln w="10160">
            <a:solidFill>
              <a:srgbClr val="F97316">
                <a:alpha val="30196"/>
              </a:srgbClr>
            </a:solidFill>
            <a:prstDash val="solid"/>
          </a:ln>
        </p:spPr>
      </p:sp>
      <p:sp>
        <p:nvSpPr>
          <p:cNvPr id="25" name="Shape 23"/>
          <p:cNvSpPr/>
          <p:nvPr/>
        </p:nvSpPr>
        <p:spPr>
          <a:xfrm>
            <a:off x="7655243" y="1607702"/>
            <a:ext cx="200025" cy="228600"/>
          </a:xfrm>
          <a:custGeom>
            <a:avLst/>
            <a:gdLst/>
            <a:ahLst/>
            <a:cxnLst/>
            <a:rect l="l" t="t" r="r" b="b"/>
            <a:pathLst>
              <a:path w="200025" h="228600">
                <a:moveTo>
                  <a:pt x="71661" y="-11787"/>
                </a:moveTo>
                <a:cubicBezTo>
                  <a:pt x="75813" y="-15270"/>
                  <a:pt x="81930" y="-15136"/>
                  <a:pt x="85904" y="-11385"/>
                </a:cubicBezTo>
                <a:cubicBezTo>
                  <a:pt x="91395" y="-6206"/>
                  <a:pt x="96307" y="-491"/>
                  <a:pt x="101039" y="5313"/>
                </a:cubicBezTo>
                <a:cubicBezTo>
                  <a:pt x="107067" y="12680"/>
                  <a:pt x="114300" y="22414"/>
                  <a:pt x="121265" y="33977"/>
                </a:cubicBezTo>
                <a:cubicBezTo>
                  <a:pt x="123587" y="30941"/>
                  <a:pt x="125730" y="28262"/>
                  <a:pt x="127605" y="25985"/>
                </a:cubicBezTo>
                <a:cubicBezTo>
                  <a:pt x="128096" y="25405"/>
                  <a:pt x="128588" y="24780"/>
                  <a:pt x="129079" y="24155"/>
                </a:cubicBezTo>
                <a:cubicBezTo>
                  <a:pt x="132606" y="19779"/>
                  <a:pt x="136981" y="14287"/>
                  <a:pt x="142830" y="14287"/>
                </a:cubicBezTo>
                <a:cubicBezTo>
                  <a:pt x="148813" y="14287"/>
                  <a:pt x="153010" y="19601"/>
                  <a:pt x="156582" y="24155"/>
                </a:cubicBezTo>
                <a:cubicBezTo>
                  <a:pt x="157163" y="24914"/>
                  <a:pt x="157743" y="25628"/>
                  <a:pt x="158323" y="26298"/>
                </a:cubicBezTo>
                <a:cubicBezTo>
                  <a:pt x="162922" y="31834"/>
                  <a:pt x="169039" y="39826"/>
                  <a:pt x="175156" y="49694"/>
                </a:cubicBezTo>
                <a:cubicBezTo>
                  <a:pt x="187300" y="69294"/>
                  <a:pt x="199980" y="97200"/>
                  <a:pt x="199980" y="128543"/>
                </a:cubicBezTo>
                <a:cubicBezTo>
                  <a:pt x="199980" y="183773"/>
                  <a:pt x="155198" y="228555"/>
                  <a:pt x="99968" y="228555"/>
                </a:cubicBezTo>
                <a:cubicBezTo>
                  <a:pt x="44738" y="228555"/>
                  <a:pt x="0" y="183818"/>
                  <a:pt x="0" y="128588"/>
                </a:cubicBezTo>
                <a:cubicBezTo>
                  <a:pt x="0" y="87913"/>
                  <a:pt x="18351" y="52685"/>
                  <a:pt x="35942" y="28129"/>
                </a:cubicBezTo>
                <a:cubicBezTo>
                  <a:pt x="44827" y="15761"/>
                  <a:pt x="53667" y="5849"/>
                  <a:pt x="60320" y="-938"/>
                </a:cubicBezTo>
                <a:cubicBezTo>
                  <a:pt x="63981" y="-4688"/>
                  <a:pt x="67687" y="-8394"/>
                  <a:pt x="71705" y="-11743"/>
                </a:cubicBezTo>
                <a:close/>
                <a:moveTo>
                  <a:pt x="100772" y="185738"/>
                </a:moveTo>
                <a:cubicBezTo>
                  <a:pt x="112068" y="185738"/>
                  <a:pt x="122069" y="182612"/>
                  <a:pt x="131490" y="176361"/>
                </a:cubicBezTo>
                <a:cubicBezTo>
                  <a:pt x="150287" y="163235"/>
                  <a:pt x="155332" y="136981"/>
                  <a:pt x="144036" y="116354"/>
                </a:cubicBezTo>
                <a:cubicBezTo>
                  <a:pt x="142027" y="112335"/>
                  <a:pt x="136892" y="112068"/>
                  <a:pt x="133990" y="115461"/>
                </a:cubicBezTo>
                <a:lnTo>
                  <a:pt x="122739" y="128543"/>
                </a:lnTo>
                <a:cubicBezTo>
                  <a:pt x="119792" y="131936"/>
                  <a:pt x="114479" y="131847"/>
                  <a:pt x="111710" y="128320"/>
                </a:cubicBezTo>
                <a:cubicBezTo>
                  <a:pt x="103986" y="118452"/>
                  <a:pt x="89788" y="100459"/>
                  <a:pt x="82555" y="91261"/>
                </a:cubicBezTo>
                <a:cubicBezTo>
                  <a:pt x="80144" y="88181"/>
                  <a:pt x="75768" y="87690"/>
                  <a:pt x="72956" y="90413"/>
                </a:cubicBezTo>
                <a:cubicBezTo>
                  <a:pt x="64785" y="98361"/>
                  <a:pt x="49962" y="115773"/>
                  <a:pt x="49962" y="136981"/>
                </a:cubicBezTo>
                <a:cubicBezTo>
                  <a:pt x="49962" y="167610"/>
                  <a:pt x="72554" y="185738"/>
                  <a:pt x="100727" y="185738"/>
                </a:cubicBezTo>
                <a:close/>
              </a:path>
            </a:pathLst>
          </a:custGeom>
          <a:solidFill>
            <a:srgbClr val="F97316"/>
          </a:solidFill>
          <a:ln/>
        </p:spPr>
      </p:sp>
      <p:sp>
        <p:nvSpPr>
          <p:cNvPr id="26" name="Text 24"/>
          <p:cNvSpPr/>
          <p:nvPr/>
        </p:nvSpPr>
        <p:spPr>
          <a:xfrm>
            <a:off x="7898130" y="1569720"/>
            <a:ext cx="3790950" cy="304800"/>
          </a:xfrm>
          <a:prstGeom prst="rect">
            <a:avLst/>
          </a:prstGeom>
          <a:noFill/>
          <a:ln/>
        </p:spPr>
        <p:txBody>
          <a:bodyPr wrap="square" lIns="0" tIns="0" rIns="0" bIns="0" rtlCol="0" anchor="ctr"/>
          <a:lstStyle/>
          <a:p>
            <a:pPr>
              <a:lnSpc>
                <a:spcPct val="110000"/>
              </a:lnSpc>
            </a:pPr>
            <a:r>
              <a:rPr lang="en-US" sz="1800" b="1" dirty="0">
                <a:solidFill>
                  <a:srgbClr val="F97316"/>
                </a:solidFill>
                <a:latin typeface="Liter" pitchFamily="34" charset="0"/>
                <a:ea typeface="Liter" pitchFamily="34" charset="-122"/>
                <a:cs typeface="Liter" pitchFamily="34" charset="-120"/>
              </a:rPr>
              <a:t>The Stakes</a:t>
            </a:r>
            <a:endParaRPr lang="en-US" sz="1600" dirty="0"/>
          </a:p>
        </p:txBody>
      </p:sp>
      <p:sp>
        <p:nvSpPr>
          <p:cNvPr id="27" name="Text 25"/>
          <p:cNvSpPr/>
          <p:nvPr/>
        </p:nvSpPr>
        <p:spPr>
          <a:xfrm>
            <a:off x="7579043" y="2026802"/>
            <a:ext cx="4029075" cy="190500"/>
          </a:xfrm>
          <a:prstGeom prst="rect">
            <a:avLst/>
          </a:prstGeom>
          <a:noFill/>
          <a:ln/>
        </p:spPr>
        <p:txBody>
          <a:bodyPr wrap="square" lIns="0" tIns="0" rIns="0" bIns="0" rtlCol="0" anchor="ctr"/>
          <a:lstStyle/>
          <a:p>
            <a:pPr algn="ctr">
              <a:lnSpc>
                <a:spcPct val="120000"/>
              </a:lnSpc>
            </a:pPr>
            <a:r>
              <a:rPr lang="en-US" sz="1050" dirty="0">
                <a:solidFill>
                  <a:srgbClr val="F9FAFB">
                    <a:alpha val="60000"/>
                  </a:srgbClr>
                </a:solidFill>
                <a:latin typeface="Quattrocento Sans" pitchFamily="34" charset="0"/>
                <a:ea typeface="Quattrocento Sans" pitchFamily="34" charset="-122"/>
                <a:cs typeface="Quattrocento Sans" pitchFamily="34" charset="-120"/>
              </a:rPr>
              <a:t>Total Subscribers</a:t>
            </a:r>
            <a:endParaRPr lang="en-US" sz="1600" dirty="0"/>
          </a:p>
        </p:txBody>
      </p:sp>
      <p:sp>
        <p:nvSpPr>
          <p:cNvPr id="28" name="Text 26"/>
          <p:cNvSpPr/>
          <p:nvPr/>
        </p:nvSpPr>
        <p:spPr>
          <a:xfrm>
            <a:off x="7469505" y="2293502"/>
            <a:ext cx="4248150" cy="571500"/>
          </a:xfrm>
          <a:prstGeom prst="rect">
            <a:avLst/>
          </a:prstGeom>
          <a:noFill/>
          <a:ln/>
        </p:spPr>
        <p:txBody>
          <a:bodyPr wrap="square" lIns="0" tIns="0" rIns="0" bIns="0" rtlCol="0" anchor="ctr"/>
          <a:lstStyle/>
          <a:p>
            <a:pPr algn="ctr">
              <a:lnSpc>
                <a:spcPct val="80000"/>
              </a:lnSpc>
            </a:pPr>
            <a:r>
              <a:rPr lang="en-US" sz="4500" b="1" dirty="0">
                <a:solidFill>
                  <a:srgbClr val="F9FAFB"/>
                </a:solidFill>
                <a:latin typeface="Quattrocento Sans" pitchFamily="34" charset="0"/>
                <a:ea typeface="Quattrocento Sans" pitchFamily="34" charset="-122"/>
                <a:cs typeface="Quattrocento Sans" pitchFamily="34" charset="-120"/>
              </a:rPr>
              <a:t>230M</a:t>
            </a:r>
            <a:endParaRPr lang="en-US" sz="1600" dirty="0"/>
          </a:p>
        </p:txBody>
      </p:sp>
      <p:sp>
        <p:nvSpPr>
          <p:cNvPr id="29" name="Shape 27"/>
          <p:cNvSpPr/>
          <p:nvPr/>
        </p:nvSpPr>
        <p:spPr>
          <a:xfrm>
            <a:off x="7612380" y="3021212"/>
            <a:ext cx="3962400" cy="7620"/>
          </a:xfrm>
          <a:custGeom>
            <a:avLst/>
            <a:gdLst/>
            <a:ahLst/>
            <a:cxnLst/>
            <a:rect l="l" t="t" r="r" b="b"/>
            <a:pathLst>
              <a:path w="3962400" h="7620">
                <a:moveTo>
                  <a:pt x="0" y="0"/>
                </a:moveTo>
                <a:lnTo>
                  <a:pt x="3962400" y="0"/>
                </a:lnTo>
                <a:lnTo>
                  <a:pt x="3962400" y="7620"/>
                </a:lnTo>
                <a:lnTo>
                  <a:pt x="0" y="7620"/>
                </a:lnTo>
                <a:lnTo>
                  <a:pt x="0" y="0"/>
                </a:lnTo>
                <a:close/>
              </a:path>
            </a:pathLst>
          </a:custGeom>
          <a:solidFill>
            <a:srgbClr val="F97316">
              <a:alpha val="30196"/>
            </a:srgbClr>
          </a:solidFill>
          <a:ln/>
        </p:spPr>
      </p:sp>
      <p:sp>
        <p:nvSpPr>
          <p:cNvPr id="30" name="Text 28"/>
          <p:cNvSpPr/>
          <p:nvPr/>
        </p:nvSpPr>
        <p:spPr>
          <a:xfrm>
            <a:off x="7579043" y="3177422"/>
            <a:ext cx="4029075" cy="190500"/>
          </a:xfrm>
          <a:prstGeom prst="rect">
            <a:avLst/>
          </a:prstGeom>
          <a:noFill/>
          <a:ln/>
        </p:spPr>
        <p:txBody>
          <a:bodyPr wrap="square" lIns="0" tIns="0" rIns="0" bIns="0" rtlCol="0" anchor="ctr"/>
          <a:lstStyle/>
          <a:p>
            <a:pPr algn="ctr">
              <a:lnSpc>
                <a:spcPct val="120000"/>
              </a:lnSpc>
            </a:pPr>
            <a:r>
              <a:rPr lang="en-US" sz="1050" dirty="0">
                <a:solidFill>
                  <a:srgbClr val="F9FAFB">
                    <a:alpha val="60000"/>
                  </a:srgbClr>
                </a:solidFill>
                <a:latin typeface="Quattrocento Sans" pitchFamily="34" charset="0"/>
                <a:ea typeface="Quattrocento Sans" pitchFamily="34" charset="-122"/>
                <a:cs typeface="Quattrocento Sans" pitchFamily="34" charset="-120"/>
              </a:rPr>
              <a:t>Annual Revenue at Risk</a:t>
            </a:r>
            <a:endParaRPr lang="en-US" sz="1600" dirty="0"/>
          </a:p>
        </p:txBody>
      </p:sp>
      <p:sp>
        <p:nvSpPr>
          <p:cNvPr id="31" name="Text 29"/>
          <p:cNvSpPr/>
          <p:nvPr/>
        </p:nvSpPr>
        <p:spPr>
          <a:xfrm>
            <a:off x="7469505" y="3444122"/>
            <a:ext cx="4248150" cy="571500"/>
          </a:xfrm>
          <a:prstGeom prst="rect">
            <a:avLst/>
          </a:prstGeom>
          <a:noFill/>
          <a:ln/>
        </p:spPr>
        <p:txBody>
          <a:bodyPr wrap="square" lIns="0" tIns="0" rIns="0" bIns="0" rtlCol="0" anchor="ctr"/>
          <a:lstStyle/>
          <a:p>
            <a:pPr algn="ctr">
              <a:lnSpc>
                <a:spcPct val="80000"/>
              </a:lnSpc>
            </a:pPr>
            <a:r>
              <a:rPr lang="en-US" sz="4500" b="1" dirty="0">
                <a:solidFill>
                  <a:srgbClr val="F97316"/>
                </a:solidFill>
                <a:latin typeface="Quattrocento Sans" pitchFamily="34" charset="0"/>
                <a:ea typeface="Quattrocento Sans" pitchFamily="34" charset="-122"/>
                <a:cs typeface="Quattrocento Sans" pitchFamily="34" charset="-120"/>
              </a:rPr>
              <a:t>$330M</a:t>
            </a:r>
            <a:endParaRPr lang="en-US" sz="1600" dirty="0"/>
          </a:p>
        </p:txBody>
      </p:sp>
      <p:sp>
        <p:nvSpPr>
          <p:cNvPr id="32" name="Shape 30"/>
          <p:cNvSpPr/>
          <p:nvPr/>
        </p:nvSpPr>
        <p:spPr>
          <a:xfrm>
            <a:off x="7376160" y="4480443"/>
            <a:ext cx="4438650" cy="2343150"/>
          </a:xfrm>
          <a:custGeom>
            <a:avLst/>
            <a:gdLst/>
            <a:ahLst/>
            <a:cxnLst/>
            <a:rect l="l" t="t" r="r" b="b"/>
            <a:pathLst>
              <a:path w="4438650" h="2343150">
                <a:moveTo>
                  <a:pt x="76199" y="0"/>
                </a:moveTo>
                <a:lnTo>
                  <a:pt x="4362451" y="0"/>
                </a:lnTo>
                <a:cubicBezTo>
                  <a:pt x="4404534" y="0"/>
                  <a:pt x="4438650" y="34116"/>
                  <a:pt x="4438650" y="76199"/>
                </a:cubicBezTo>
                <a:lnTo>
                  <a:pt x="4438650" y="2266951"/>
                </a:lnTo>
                <a:cubicBezTo>
                  <a:pt x="4438650" y="2309034"/>
                  <a:pt x="4404534" y="2343150"/>
                  <a:pt x="4362451" y="2343150"/>
                </a:cubicBezTo>
                <a:lnTo>
                  <a:pt x="76199" y="2343150"/>
                </a:lnTo>
                <a:cubicBezTo>
                  <a:pt x="34116" y="2343150"/>
                  <a:pt x="0" y="2309034"/>
                  <a:pt x="0" y="2266951"/>
                </a:cubicBezTo>
                <a:lnTo>
                  <a:pt x="0" y="76199"/>
                </a:lnTo>
                <a:cubicBezTo>
                  <a:pt x="0" y="34144"/>
                  <a:pt x="34144" y="0"/>
                  <a:pt x="76199" y="0"/>
                </a:cubicBezTo>
                <a:close/>
              </a:path>
            </a:pathLst>
          </a:custGeom>
          <a:solidFill>
            <a:srgbClr val="374151"/>
          </a:solidFill>
          <a:ln/>
        </p:spPr>
      </p:sp>
      <p:sp>
        <p:nvSpPr>
          <p:cNvPr id="33" name="Text 31"/>
          <p:cNvSpPr/>
          <p:nvPr/>
        </p:nvSpPr>
        <p:spPr>
          <a:xfrm>
            <a:off x="7604760" y="4812864"/>
            <a:ext cx="4076700" cy="266700"/>
          </a:xfrm>
          <a:prstGeom prst="rect">
            <a:avLst/>
          </a:prstGeom>
          <a:noFill/>
          <a:ln/>
        </p:spPr>
        <p:txBody>
          <a:bodyPr wrap="square" lIns="0" tIns="0" rIns="0" bIns="0" rtlCol="0" anchor="ctr"/>
          <a:lstStyle/>
          <a:p>
            <a:pPr>
              <a:lnSpc>
                <a:spcPct val="120000"/>
              </a:lnSpc>
            </a:pPr>
            <a:r>
              <a:rPr lang="en-US" sz="1500" b="1" dirty="0">
                <a:solidFill>
                  <a:srgbClr val="F9FAFB"/>
                </a:solidFill>
                <a:latin typeface="Liter" pitchFamily="34" charset="0"/>
                <a:ea typeface="Liter" pitchFamily="34" charset="-122"/>
                <a:cs typeface="Liter" pitchFamily="34" charset="-120"/>
              </a:rPr>
              <a:t>Why This Matters</a:t>
            </a:r>
            <a:endParaRPr lang="en-US" sz="1600" dirty="0"/>
          </a:p>
        </p:txBody>
      </p:sp>
      <p:sp>
        <p:nvSpPr>
          <p:cNvPr id="34" name="Shape 32"/>
          <p:cNvSpPr/>
          <p:nvPr/>
        </p:nvSpPr>
        <p:spPr>
          <a:xfrm>
            <a:off x="7623810" y="52700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EF4444"/>
          </a:solidFill>
          <a:ln/>
        </p:spPr>
      </p:sp>
      <p:sp>
        <p:nvSpPr>
          <p:cNvPr id="35" name="Text 33"/>
          <p:cNvSpPr/>
          <p:nvPr/>
        </p:nvSpPr>
        <p:spPr>
          <a:xfrm>
            <a:off x="7909560" y="5231964"/>
            <a:ext cx="2409825" cy="228600"/>
          </a:xfrm>
          <a:prstGeom prst="rect">
            <a:avLst/>
          </a:prstGeom>
          <a:noFill/>
          <a:ln/>
        </p:spPr>
        <p:txBody>
          <a:bodyPr wrap="square" lIns="0" tIns="0" rIns="0" bIns="0" rtlCol="0" anchor="ctr"/>
          <a:lstStyle/>
          <a:p>
            <a:pPr>
              <a:lnSpc>
                <a:spcPct val="130000"/>
              </a:lnSpc>
            </a:pPr>
            <a:r>
              <a:rPr lang="en-US" sz="1200" dirty="0">
                <a:solidFill>
                  <a:srgbClr val="F9FAFB">
                    <a:alpha val="80000"/>
                  </a:srgbClr>
                </a:solidFill>
                <a:latin typeface="Quattrocento Sans" pitchFamily="34" charset="0"/>
                <a:ea typeface="Quattrocento Sans" pitchFamily="34" charset="-122"/>
                <a:cs typeface="Quattrocento Sans" pitchFamily="34" charset="-120"/>
              </a:rPr>
              <a:t>Wrong decision = subscriber churn</a:t>
            </a:r>
            <a:endParaRPr lang="en-US" sz="1600" dirty="0"/>
          </a:p>
        </p:txBody>
      </p:sp>
      <p:sp>
        <p:nvSpPr>
          <p:cNvPr id="36" name="Shape 34"/>
          <p:cNvSpPr/>
          <p:nvPr/>
        </p:nvSpPr>
        <p:spPr>
          <a:xfrm>
            <a:off x="7623810" y="56129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EF4444"/>
          </a:solidFill>
          <a:ln/>
        </p:spPr>
      </p:sp>
      <p:sp>
        <p:nvSpPr>
          <p:cNvPr id="37" name="Text 35"/>
          <p:cNvSpPr/>
          <p:nvPr/>
        </p:nvSpPr>
        <p:spPr>
          <a:xfrm>
            <a:off x="7909560" y="5574864"/>
            <a:ext cx="2114550" cy="228600"/>
          </a:xfrm>
          <a:prstGeom prst="rect">
            <a:avLst/>
          </a:prstGeom>
          <a:noFill/>
          <a:ln/>
        </p:spPr>
        <p:txBody>
          <a:bodyPr wrap="square" lIns="0" tIns="0" rIns="0" bIns="0" rtlCol="0" anchor="ctr"/>
          <a:lstStyle/>
          <a:p>
            <a:pPr>
              <a:lnSpc>
                <a:spcPct val="130000"/>
              </a:lnSpc>
            </a:pPr>
            <a:r>
              <a:rPr lang="en-US" sz="1200" dirty="0">
                <a:solidFill>
                  <a:srgbClr val="F9FAFB">
                    <a:alpha val="80000"/>
                  </a:srgbClr>
                </a:solidFill>
                <a:latin typeface="Quattrocento Sans" pitchFamily="34" charset="0"/>
                <a:ea typeface="Quattrocento Sans" pitchFamily="34" charset="-122"/>
                <a:cs typeface="Quattrocento Sans" pitchFamily="34" charset="-120"/>
              </a:rPr>
              <a:t>Wrong decision = revenue loss</a:t>
            </a:r>
            <a:endParaRPr lang="en-US" sz="1600" dirty="0"/>
          </a:p>
        </p:txBody>
      </p:sp>
      <p:sp>
        <p:nvSpPr>
          <p:cNvPr id="38" name="Shape 36"/>
          <p:cNvSpPr/>
          <p:nvPr/>
        </p:nvSpPr>
        <p:spPr>
          <a:xfrm>
            <a:off x="7623810" y="59558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49709" y="49709"/>
                </a:moveTo>
                <a:cubicBezTo>
                  <a:pt x="52507" y="46911"/>
                  <a:pt x="57031" y="46911"/>
                  <a:pt x="59799" y="49709"/>
                </a:cubicBezTo>
                <a:lnTo>
                  <a:pt x="76170" y="66080"/>
                </a:lnTo>
                <a:lnTo>
                  <a:pt x="92541" y="49709"/>
                </a:lnTo>
                <a:cubicBezTo>
                  <a:pt x="95339" y="46911"/>
                  <a:pt x="99864" y="46911"/>
                  <a:pt x="102632" y="49709"/>
                </a:cubicBezTo>
                <a:cubicBezTo>
                  <a:pt x="105400" y="52507"/>
                  <a:pt x="105430" y="57031"/>
                  <a:pt x="102632" y="59799"/>
                </a:cubicBezTo>
                <a:lnTo>
                  <a:pt x="86261" y="76170"/>
                </a:lnTo>
                <a:lnTo>
                  <a:pt x="102632" y="92541"/>
                </a:lnTo>
                <a:cubicBezTo>
                  <a:pt x="105430" y="95339"/>
                  <a:pt x="105430" y="99864"/>
                  <a:pt x="102632" y="102632"/>
                </a:cubicBezTo>
                <a:cubicBezTo>
                  <a:pt x="99834" y="105400"/>
                  <a:pt x="95310" y="105430"/>
                  <a:pt x="92541" y="102632"/>
                </a:cubicBezTo>
                <a:lnTo>
                  <a:pt x="76170" y="86261"/>
                </a:lnTo>
                <a:lnTo>
                  <a:pt x="59799" y="102632"/>
                </a:lnTo>
                <a:cubicBezTo>
                  <a:pt x="57001" y="105430"/>
                  <a:pt x="52477" y="105430"/>
                  <a:pt x="49709" y="102632"/>
                </a:cubicBezTo>
                <a:cubicBezTo>
                  <a:pt x="46940" y="99834"/>
                  <a:pt x="46911" y="95310"/>
                  <a:pt x="49709" y="92541"/>
                </a:cubicBezTo>
                <a:lnTo>
                  <a:pt x="66080" y="76170"/>
                </a:lnTo>
                <a:lnTo>
                  <a:pt x="49709" y="59799"/>
                </a:lnTo>
                <a:cubicBezTo>
                  <a:pt x="46911" y="57001"/>
                  <a:pt x="46911" y="52477"/>
                  <a:pt x="49709" y="49709"/>
                </a:cubicBezTo>
                <a:close/>
              </a:path>
            </a:pathLst>
          </a:custGeom>
          <a:solidFill>
            <a:srgbClr val="EF4444"/>
          </a:solidFill>
          <a:ln/>
        </p:spPr>
      </p:sp>
      <p:sp>
        <p:nvSpPr>
          <p:cNvPr id="39" name="Text 37"/>
          <p:cNvSpPr/>
          <p:nvPr/>
        </p:nvSpPr>
        <p:spPr>
          <a:xfrm>
            <a:off x="7909560" y="5917764"/>
            <a:ext cx="2247900" cy="228600"/>
          </a:xfrm>
          <a:prstGeom prst="rect">
            <a:avLst/>
          </a:prstGeom>
          <a:noFill/>
          <a:ln/>
        </p:spPr>
        <p:txBody>
          <a:bodyPr wrap="square" lIns="0" tIns="0" rIns="0" bIns="0" rtlCol="0" anchor="ctr"/>
          <a:lstStyle/>
          <a:p>
            <a:pPr>
              <a:lnSpc>
                <a:spcPct val="130000"/>
              </a:lnSpc>
            </a:pPr>
            <a:r>
              <a:rPr lang="en-US" sz="1200" dirty="0">
                <a:solidFill>
                  <a:srgbClr val="F9FAFB">
                    <a:alpha val="80000"/>
                  </a:srgbClr>
                </a:solidFill>
                <a:latin typeface="Quattrocento Sans" pitchFamily="34" charset="0"/>
                <a:ea typeface="Quattrocento Sans" pitchFamily="34" charset="-122"/>
                <a:cs typeface="Quattrocento Sans" pitchFamily="34" charset="-120"/>
              </a:rPr>
              <a:t>Wrong decision = brand damage</a:t>
            </a:r>
            <a:endParaRPr lang="en-US" sz="1600" dirty="0"/>
          </a:p>
        </p:txBody>
      </p:sp>
      <p:sp>
        <p:nvSpPr>
          <p:cNvPr id="40" name="Shape 38"/>
          <p:cNvSpPr/>
          <p:nvPr/>
        </p:nvSpPr>
        <p:spPr>
          <a:xfrm>
            <a:off x="7623810" y="6298764"/>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10B981"/>
          </a:solidFill>
          <a:ln/>
        </p:spPr>
      </p:sp>
      <p:sp>
        <p:nvSpPr>
          <p:cNvPr id="41" name="Text 39"/>
          <p:cNvSpPr/>
          <p:nvPr/>
        </p:nvSpPr>
        <p:spPr>
          <a:xfrm>
            <a:off x="7909560" y="6260664"/>
            <a:ext cx="2314575" cy="228600"/>
          </a:xfrm>
          <a:prstGeom prst="rect">
            <a:avLst/>
          </a:prstGeom>
          <a:noFill/>
          <a:ln/>
        </p:spPr>
        <p:txBody>
          <a:bodyPr wrap="square" lIns="0" tIns="0" rIns="0" bIns="0" rtlCol="0" anchor="ctr"/>
          <a:lstStyle/>
          <a:p>
            <a:pPr>
              <a:lnSpc>
                <a:spcPct val="130000"/>
              </a:lnSpc>
            </a:pPr>
            <a:r>
              <a:rPr lang="en-US" sz="1200" dirty="0">
                <a:solidFill>
                  <a:srgbClr val="F9FAFB">
                    <a:alpha val="80000"/>
                  </a:srgbClr>
                </a:solidFill>
                <a:latin typeface="Quattrocento Sans" pitchFamily="34" charset="0"/>
                <a:ea typeface="Quattrocento Sans" pitchFamily="34" charset="-122"/>
                <a:cs typeface="Quattrocento Sans" pitchFamily="34" charset="-120"/>
              </a:rPr>
              <a:t>Right decision = $330M protected</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29291" y="329291"/>
            <a:ext cx="11591044" cy="164646"/>
          </a:xfrm>
          <a:prstGeom prst="rect">
            <a:avLst/>
          </a:prstGeom>
          <a:noFill/>
          <a:ln/>
        </p:spPr>
        <p:txBody>
          <a:bodyPr wrap="square" lIns="0" tIns="0" rIns="0" bIns="0" rtlCol="0" anchor="ctr"/>
          <a:lstStyle/>
          <a:p>
            <a:pPr>
              <a:lnSpc>
                <a:spcPct val="120000"/>
              </a:lnSpc>
            </a:pPr>
            <a:r>
              <a:rPr lang="en-US" sz="907" b="1" spc="45" kern="0" dirty="0">
                <a:solidFill>
                  <a:srgbClr val="F97316"/>
                </a:solidFill>
                <a:latin typeface="Quattrocento Sans" pitchFamily="34" charset="0"/>
                <a:ea typeface="Quattrocento Sans" pitchFamily="34" charset="-122"/>
                <a:cs typeface="Quattrocento Sans" pitchFamily="34" charset="-120"/>
              </a:rPr>
              <a:t>METHODOLOGY COMPARISON</a:t>
            </a:r>
            <a:endParaRPr lang="en-US" sz="1600" dirty="0"/>
          </a:p>
        </p:txBody>
      </p:sp>
      <p:sp>
        <p:nvSpPr>
          <p:cNvPr id="3" name="Text 1"/>
          <p:cNvSpPr/>
          <p:nvPr/>
        </p:nvSpPr>
        <p:spPr>
          <a:xfrm>
            <a:off x="329291" y="559795"/>
            <a:ext cx="11730993" cy="395149"/>
          </a:xfrm>
          <a:prstGeom prst="rect">
            <a:avLst/>
          </a:prstGeom>
          <a:noFill/>
          <a:ln/>
        </p:spPr>
        <p:txBody>
          <a:bodyPr wrap="square" lIns="0" tIns="0" rIns="0" bIns="0" rtlCol="0" anchor="ctr"/>
          <a:lstStyle/>
          <a:p>
            <a:pPr>
              <a:lnSpc>
                <a:spcPct val="80000"/>
              </a:lnSpc>
            </a:pPr>
            <a:r>
              <a:rPr lang="en-US" sz="3111" b="1" dirty="0">
                <a:solidFill>
                  <a:srgbClr val="F9FAFB"/>
                </a:solidFill>
                <a:latin typeface="Liter" pitchFamily="34" charset="0"/>
                <a:ea typeface="Liter" pitchFamily="34" charset="-122"/>
                <a:cs typeface="Liter" pitchFamily="34" charset="-120"/>
              </a:rPr>
              <a:t>Why Paired Design Wins</a:t>
            </a:r>
            <a:endParaRPr lang="en-US" sz="1600" dirty="0"/>
          </a:p>
        </p:txBody>
      </p:sp>
      <p:sp>
        <p:nvSpPr>
          <p:cNvPr id="4" name="Shape 2"/>
          <p:cNvSpPr/>
          <p:nvPr/>
        </p:nvSpPr>
        <p:spPr>
          <a:xfrm>
            <a:off x="332584" y="1155813"/>
            <a:ext cx="5629230" cy="533451"/>
          </a:xfrm>
          <a:custGeom>
            <a:avLst/>
            <a:gdLst/>
            <a:ahLst/>
            <a:cxnLst/>
            <a:rect l="l" t="t" r="r" b="b"/>
            <a:pathLst>
              <a:path w="5629230" h="533451">
                <a:moveTo>
                  <a:pt x="65860" y="0"/>
                </a:moveTo>
                <a:lnTo>
                  <a:pt x="5563370" y="0"/>
                </a:lnTo>
                <a:cubicBezTo>
                  <a:pt x="5599743" y="0"/>
                  <a:pt x="5629230" y="29486"/>
                  <a:pt x="5629230" y="65860"/>
                </a:cubicBezTo>
                <a:lnTo>
                  <a:pt x="5629230" y="467592"/>
                </a:lnTo>
                <a:cubicBezTo>
                  <a:pt x="5629230" y="503965"/>
                  <a:pt x="5599743" y="533451"/>
                  <a:pt x="5563370" y="533451"/>
                </a:cubicBezTo>
                <a:lnTo>
                  <a:pt x="65860" y="533451"/>
                </a:lnTo>
                <a:cubicBezTo>
                  <a:pt x="29486" y="533451"/>
                  <a:pt x="0" y="503965"/>
                  <a:pt x="0" y="467592"/>
                </a:cubicBezTo>
                <a:lnTo>
                  <a:pt x="0" y="65860"/>
                </a:lnTo>
                <a:cubicBezTo>
                  <a:pt x="0" y="29511"/>
                  <a:pt x="29511" y="0"/>
                  <a:pt x="65860" y="0"/>
                </a:cubicBezTo>
                <a:close/>
              </a:path>
            </a:pathLst>
          </a:custGeom>
          <a:solidFill>
            <a:srgbClr val="EF4444">
              <a:alpha val="10196"/>
            </a:srgbClr>
          </a:solidFill>
          <a:ln w="10160">
            <a:solidFill>
              <a:srgbClr val="EF4444">
                <a:alpha val="30196"/>
              </a:srgbClr>
            </a:solidFill>
            <a:prstDash val="solid"/>
          </a:ln>
        </p:spPr>
      </p:sp>
      <p:sp>
        <p:nvSpPr>
          <p:cNvPr id="5" name="Shape 3"/>
          <p:cNvSpPr/>
          <p:nvPr/>
        </p:nvSpPr>
        <p:spPr>
          <a:xfrm>
            <a:off x="492290" y="1323650"/>
            <a:ext cx="197575" cy="197575"/>
          </a:xfrm>
          <a:custGeom>
            <a:avLst/>
            <a:gdLst/>
            <a:ahLst/>
            <a:cxnLst/>
            <a:rect l="l" t="t" r="r" b="b"/>
            <a:pathLst>
              <a:path w="197575" h="197575">
                <a:moveTo>
                  <a:pt x="98787" y="197575"/>
                </a:moveTo>
                <a:cubicBezTo>
                  <a:pt x="153310" y="197575"/>
                  <a:pt x="197575" y="153310"/>
                  <a:pt x="197575" y="98787"/>
                </a:cubicBezTo>
                <a:cubicBezTo>
                  <a:pt x="197575" y="44265"/>
                  <a:pt x="153310" y="0"/>
                  <a:pt x="98787" y="0"/>
                </a:cubicBezTo>
                <a:cubicBezTo>
                  <a:pt x="44265" y="0"/>
                  <a:pt x="0" y="44265"/>
                  <a:pt x="0" y="98787"/>
                </a:cubicBezTo>
                <a:cubicBezTo>
                  <a:pt x="0" y="153310"/>
                  <a:pt x="44265" y="197575"/>
                  <a:pt x="98787" y="197575"/>
                </a:cubicBezTo>
                <a:close/>
                <a:moveTo>
                  <a:pt x="64443" y="64443"/>
                </a:moveTo>
                <a:cubicBezTo>
                  <a:pt x="68071" y="60816"/>
                  <a:pt x="73936" y="60816"/>
                  <a:pt x="77525" y="64443"/>
                </a:cubicBezTo>
                <a:lnTo>
                  <a:pt x="98749" y="85667"/>
                </a:lnTo>
                <a:lnTo>
                  <a:pt x="119973" y="64443"/>
                </a:lnTo>
                <a:cubicBezTo>
                  <a:pt x="123600" y="60816"/>
                  <a:pt x="129465" y="60816"/>
                  <a:pt x="133054" y="64443"/>
                </a:cubicBezTo>
                <a:cubicBezTo>
                  <a:pt x="136643" y="68071"/>
                  <a:pt x="136681" y="73936"/>
                  <a:pt x="133054" y="77525"/>
                </a:cubicBezTo>
                <a:lnTo>
                  <a:pt x="111830" y="98749"/>
                </a:lnTo>
                <a:lnTo>
                  <a:pt x="133054" y="119973"/>
                </a:lnTo>
                <a:cubicBezTo>
                  <a:pt x="136681" y="123600"/>
                  <a:pt x="136681" y="129465"/>
                  <a:pt x="133054" y="133054"/>
                </a:cubicBezTo>
                <a:cubicBezTo>
                  <a:pt x="129427" y="136643"/>
                  <a:pt x="123561" y="136681"/>
                  <a:pt x="119973" y="133054"/>
                </a:cubicBezTo>
                <a:lnTo>
                  <a:pt x="98749" y="111830"/>
                </a:lnTo>
                <a:lnTo>
                  <a:pt x="77525" y="133054"/>
                </a:lnTo>
                <a:cubicBezTo>
                  <a:pt x="73898" y="136681"/>
                  <a:pt x="68032" y="136681"/>
                  <a:pt x="64443" y="133054"/>
                </a:cubicBezTo>
                <a:cubicBezTo>
                  <a:pt x="60855" y="129427"/>
                  <a:pt x="60816" y="123561"/>
                  <a:pt x="64443" y="119973"/>
                </a:cubicBezTo>
                <a:lnTo>
                  <a:pt x="85667" y="98749"/>
                </a:lnTo>
                <a:lnTo>
                  <a:pt x="64443" y="77525"/>
                </a:lnTo>
                <a:cubicBezTo>
                  <a:pt x="60816" y="73898"/>
                  <a:pt x="60816" y="68032"/>
                  <a:pt x="64443" y="64443"/>
                </a:cubicBezTo>
                <a:close/>
              </a:path>
            </a:pathLst>
          </a:custGeom>
          <a:solidFill>
            <a:srgbClr val="EF4444"/>
          </a:solidFill>
          <a:ln/>
        </p:spPr>
      </p:sp>
      <p:sp>
        <p:nvSpPr>
          <p:cNvPr id="6" name="Text 4"/>
          <p:cNvSpPr/>
          <p:nvPr/>
        </p:nvSpPr>
        <p:spPr>
          <a:xfrm>
            <a:off x="714562" y="1290821"/>
            <a:ext cx="5211030" cy="263433"/>
          </a:xfrm>
          <a:prstGeom prst="rect">
            <a:avLst/>
          </a:prstGeom>
          <a:noFill/>
          <a:ln/>
        </p:spPr>
        <p:txBody>
          <a:bodyPr wrap="square" lIns="0" tIns="0" rIns="0" bIns="0" rtlCol="0" anchor="ctr"/>
          <a:lstStyle/>
          <a:p>
            <a:pPr>
              <a:lnSpc>
                <a:spcPct val="110000"/>
              </a:lnSpc>
            </a:pPr>
            <a:r>
              <a:rPr lang="en-US" sz="1556" b="1" dirty="0">
                <a:solidFill>
                  <a:srgbClr val="EF4444"/>
                </a:solidFill>
                <a:latin typeface="Liter" pitchFamily="34" charset="0"/>
                <a:ea typeface="Liter" pitchFamily="34" charset="-122"/>
                <a:cs typeface="Liter" pitchFamily="34" charset="-120"/>
              </a:rPr>
              <a:t>Wrong Way: Independent Groups</a:t>
            </a:r>
            <a:endParaRPr lang="en-US" sz="1600" dirty="0"/>
          </a:p>
        </p:txBody>
      </p:sp>
      <p:sp>
        <p:nvSpPr>
          <p:cNvPr id="7" name="Shape 5"/>
          <p:cNvSpPr/>
          <p:nvPr/>
        </p:nvSpPr>
        <p:spPr>
          <a:xfrm>
            <a:off x="345756" y="1857100"/>
            <a:ext cx="5614412" cy="4684165"/>
          </a:xfrm>
          <a:custGeom>
            <a:avLst/>
            <a:gdLst/>
            <a:ahLst/>
            <a:cxnLst/>
            <a:rect l="l" t="t" r="r" b="b"/>
            <a:pathLst>
              <a:path w="5614412" h="4684165">
                <a:moveTo>
                  <a:pt x="32929" y="0"/>
                </a:moveTo>
                <a:lnTo>
                  <a:pt x="5548553" y="0"/>
                </a:lnTo>
                <a:cubicBezTo>
                  <a:pt x="5584926" y="0"/>
                  <a:pt x="5614412" y="29486"/>
                  <a:pt x="5614412" y="65859"/>
                </a:cubicBezTo>
                <a:lnTo>
                  <a:pt x="5614412" y="4618305"/>
                </a:lnTo>
                <a:cubicBezTo>
                  <a:pt x="5614412" y="4654679"/>
                  <a:pt x="5584926" y="4684165"/>
                  <a:pt x="5548553" y="4684165"/>
                </a:cubicBezTo>
                <a:lnTo>
                  <a:pt x="32929" y="4684165"/>
                </a:lnTo>
                <a:cubicBezTo>
                  <a:pt x="14743" y="4684165"/>
                  <a:pt x="0" y="4669422"/>
                  <a:pt x="0" y="4651236"/>
                </a:cubicBezTo>
                <a:lnTo>
                  <a:pt x="0" y="32929"/>
                </a:lnTo>
                <a:cubicBezTo>
                  <a:pt x="0" y="14755"/>
                  <a:pt x="14755" y="0"/>
                  <a:pt x="32929" y="0"/>
                </a:cubicBezTo>
                <a:close/>
              </a:path>
            </a:pathLst>
          </a:custGeom>
          <a:solidFill>
            <a:srgbClr val="374151"/>
          </a:solidFill>
          <a:ln/>
        </p:spPr>
      </p:sp>
      <p:sp>
        <p:nvSpPr>
          <p:cNvPr id="8" name="Shape 6"/>
          <p:cNvSpPr/>
          <p:nvPr/>
        </p:nvSpPr>
        <p:spPr>
          <a:xfrm>
            <a:off x="345756" y="1857100"/>
            <a:ext cx="32929" cy="4684165"/>
          </a:xfrm>
          <a:custGeom>
            <a:avLst/>
            <a:gdLst/>
            <a:ahLst/>
            <a:cxnLst/>
            <a:rect l="l" t="t" r="r" b="b"/>
            <a:pathLst>
              <a:path w="32929" h="4684165">
                <a:moveTo>
                  <a:pt x="32929" y="0"/>
                </a:moveTo>
                <a:lnTo>
                  <a:pt x="32929" y="0"/>
                </a:lnTo>
                <a:lnTo>
                  <a:pt x="32929" y="4684165"/>
                </a:lnTo>
                <a:lnTo>
                  <a:pt x="32929" y="4684165"/>
                </a:lnTo>
                <a:cubicBezTo>
                  <a:pt x="14743" y="4684165"/>
                  <a:pt x="0" y="4669422"/>
                  <a:pt x="0" y="4651236"/>
                </a:cubicBezTo>
                <a:lnTo>
                  <a:pt x="0" y="32929"/>
                </a:lnTo>
                <a:cubicBezTo>
                  <a:pt x="0" y="14755"/>
                  <a:pt x="14755" y="0"/>
                  <a:pt x="32929" y="0"/>
                </a:cubicBezTo>
                <a:close/>
              </a:path>
            </a:pathLst>
          </a:custGeom>
          <a:solidFill>
            <a:srgbClr val="EF4444"/>
          </a:solidFill>
          <a:ln/>
        </p:spPr>
      </p:sp>
      <p:sp>
        <p:nvSpPr>
          <p:cNvPr id="9" name="Shape 7"/>
          <p:cNvSpPr/>
          <p:nvPr/>
        </p:nvSpPr>
        <p:spPr>
          <a:xfrm>
            <a:off x="559795" y="2428933"/>
            <a:ext cx="5202798" cy="1020802"/>
          </a:xfrm>
          <a:custGeom>
            <a:avLst/>
            <a:gdLst/>
            <a:ahLst/>
            <a:cxnLst/>
            <a:rect l="l" t="t" r="r" b="b"/>
            <a:pathLst>
              <a:path w="5202798" h="1020802">
                <a:moveTo>
                  <a:pt x="65862" y="0"/>
                </a:moveTo>
                <a:lnTo>
                  <a:pt x="5136936" y="0"/>
                </a:lnTo>
                <a:cubicBezTo>
                  <a:pt x="5173311" y="0"/>
                  <a:pt x="5202798" y="29487"/>
                  <a:pt x="5202798" y="65862"/>
                </a:cubicBezTo>
                <a:lnTo>
                  <a:pt x="5202798" y="954940"/>
                </a:lnTo>
                <a:cubicBezTo>
                  <a:pt x="5202798" y="991315"/>
                  <a:pt x="5173311" y="1020802"/>
                  <a:pt x="5136936" y="1020802"/>
                </a:cubicBezTo>
                <a:lnTo>
                  <a:pt x="65862" y="1020802"/>
                </a:lnTo>
                <a:cubicBezTo>
                  <a:pt x="29487" y="1020802"/>
                  <a:pt x="0" y="991315"/>
                  <a:pt x="0" y="954940"/>
                </a:cubicBezTo>
                <a:lnTo>
                  <a:pt x="0" y="65862"/>
                </a:lnTo>
                <a:cubicBezTo>
                  <a:pt x="0" y="29512"/>
                  <a:pt x="29512" y="0"/>
                  <a:pt x="65862" y="0"/>
                </a:cubicBezTo>
                <a:close/>
              </a:path>
            </a:pathLst>
          </a:custGeom>
          <a:solidFill>
            <a:srgbClr val="111827"/>
          </a:solidFill>
          <a:ln/>
        </p:spPr>
      </p:sp>
      <p:sp>
        <p:nvSpPr>
          <p:cNvPr id="10" name="Shape 8"/>
          <p:cNvSpPr/>
          <p:nvPr/>
        </p:nvSpPr>
        <p:spPr>
          <a:xfrm>
            <a:off x="724440" y="2593579"/>
            <a:ext cx="395149" cy="395149"/>
          </a:xfrm>
          <a:custGeom>
            <a:avLst/>
            <a:gdLst/>
            <a:ahLst/>
            <a:cxnLst/>
            <a:rect l="l" t="t" r="r" b="b"/>
            <a:pathLst>
              <a:path w="395149" h="395149">
                <a:moveTo>
                  <a:pt x="197575" y="0"/>
                </a:moveTo>
                <a:lnTo>
                  <a:pt x="197575" y="0"/>
                </a:lnTo>
                <a:cubicBezTo>
                  <a:pt x="306692" y="0"/>
                  <a:pt x="395149" y="88457"/>
                  <a:pt x="395149" y="197575"/>
                </a:cubicBezTo>
                <a:lnTo>
                  <a:pt x="395149" y="197575"/>
                </a:lnTo>
                <a:cubicBezTo>
                  <a:pt x="395149" y="306692"/>
                  <a:pt x="306692" y="395149"/>
                  <a:pt x="197575" y="395149"/>
                </a:cubicBezTo>
                <a:lnTo>
                  <a:pt x="197575" y="395149"/>
                </a:lnTo>
                <a:cubicBezTo>
                  <a:pt x="88457" y="395149"/>
                  <a:pt x="0" y="306692"/>
                  <a:pt x="0" y="197575"/>
                </a:cubicBezTo>
                <a:lnTo>
                  <a:pt x="0" y="197575"/>
                </a:lnTo>
                <a:cubicBezTo>
                  <a:pt x="0" y="88457"/>
                  <a:pt x="88457" y="0"/>
                  <a:pt x="197575" y="0"/>
                </a:cubicBezTo>
                <a:close/>
              </a:path>
            </a:pathLst>
          </a:custGeom>
          <a:solidFill>
            <a:srgbClr val="EF4444">
              <a:alpha val="20000"/>
            </a:srgbClr>
          </a:solidFill>
          <a:ln/>
        </p:spPr>
      </p:sp>
      <p:sp>
        <p:nvSpPr>
          <p:cNvPr id="11" name="Text 9"/>
          <p:cNvSpPr/>
          <p:nvPr/>
        </p:nvSpPr>
        <p:spPr>
          <a:xfrm>
            <a:off x="869328" y="2675902"/>
            <a:ext cx="189342" cy="230504"/>
          </a:xfrm>
          <a:prstGeom prst="rect">
            <a:avLst/>
          </a:prstGeom>
          <a:noFill/>
          <a:ln/>
        </p:spPr>
        <p:txBody>
          <a:bodyPr wrap="square" lIns="0" tIns="0" rIns="0" bIns="0" rtlCol="0" anchor="ctr"/>
          <a:lstStyle/>
          <a:p>
            <a:pPr>
              <a:lnSpc>
                <a:spcPct val="120000"/>
              </a:lnSpc>
            </a:pPr>
            <a:r>
              <a:rPr lang="en-US" sz="1296" b="1" dirty="0">
                <a:solidFill>
                  <a:srgbClr val="EF4444"/>
                </a:solidFill>
                <a:latin typeface="Quattrocento Sans" pitchFamily="34" charset="0"/>
                <a:ea typeface="Quattrocento Sans" pitchFamily="34" charset="-122"/>
                <a:cs typeface="Quattrocento Sans" pitchFamily="34" charset="-120"/>
              </a:rPr>
              <a:t>A</a:t>
            </a:r>
            <a:endParaRPr lang="en-US" sz="1600" dirty="0"/>
          </a:p>
        </p:txBody>
      </p:sp>
      <p:sp>
        <p:nvSpPr>
          <p:cNvPr id="12" name="Text 10"/>
          <p:cNvSpPr/>
          <p:nvPr/>
        </p:nvSpPr>
        <p:spPr>
          <a:xfrm>
            <a:off x="1251306" y="2593579"/>
            <a:ext cx="1201912" cy="230504"/>
          </a:xfrm>
          <a:prstGeom prst="rect">
            <a:avLst/>
          </a:prstGeom>
          <a:noFill/>
          <a:ln/>
        </p:spPr>
        <p:txBody>
          <a:bodyPr wrap="square" lIns="0" tIns="0" rIns="0" bIns="0" rtlCol="0" anchor="ctr"/>
          <a:lstStyle/>
          <a:p>
            <a:pPr>
              <a:lnSpc>
                <a:spcPct val="130000"/>
              </a:lnSpc>
            </a:pPr>
            <a:r>
              <a:rPr lang="en-US" sz="1167" b="1" dirty="0">
                <a:solidFill>
                  <a:srgbClr val="F9FAFB"/>
                </a:solidFill>
                <a:latin typeface="Quattrocento Sans" pitchFamily="34" charset="0"/>
                <a:ea typeface="Quattrocento Sans" pitchFamily="34" charset="-122"/>
                <a:cs typeface="Quattrocento Sans" pitchFamily="34" charset="-120"/>
              </a:rPr>
              <a:t>Group A</a:t>
            </a:r>
            <a:endParaRPr lang="en-US" sz="1600" dirty="0"/>
          </a:p>
        </p:txBody>
      </p:sp>
      <p:sp>
        <p:nvSpPr>
          <p:cNvPr id="13" name="Text 11"/>
          <p:cNvSpPr/>
          <p:nvPr/>
        </p:nvSpPr>
        <p:spPr>
          <a:xfrm>
            <a:off x="1251306" y="2824083"/>
            <a:ext cx="1185448" cy="164646"/>
          </a:xfrm>
          <a:prstGeom prst="rect">
            <a:avLst/>
          </a:prstGeom>
          <a:noFill/>
          <a:ln/>
        </p:spPr>
        <p:txBody>
          <a:bodyPr wrap="square" lIns="0" tIns="0" rIns="0" bIns="0" rtlCol="0" anchor="ctr"/>
          <a:lstStyle/>
          <a:p>
            <a:pPr>
              <a:lnSpc>
                <a:spcPct val="120000"/>
              </a:lnSpc>
            </a:pPr>
            <a:r>
              <a:rPr lang="en-US" sz="907" dirty="0">
                <a:solidFill>
                  <a:srgbClr val="F9FAFB">
                    <a:alpha val="60000"/>
                  </a:srgbClr>
                </a:solidFill>
                <a:latin typeface="Quattrocento Sans" pitchFamily="34" charset="0"/>
                <a:ea typeface="Quattrocento Sans" pitchFamily="34" charset="-122"/>
                <a:cs typeface="Quattrocento Sans" pitchFamily="34" charset="-120"/>
              </a:rPr>
              <a:t>10,000 different users</a:t>
            </a:r>
            <a:endParaRPr lang="en-US" sz="1600" dirty="0"/>
          </a:p>
        </p:txBody>
      </p:sp>
      <p:sp>
        <p:nvSpPr>
          <p:cNvPr id="14" name="Shape 12"/>
          <p:cNvSpPr/>
          <p:nvPr/>
        </p:nvSpPr>
        <p:spPr>
          <a:xfrm>
            <a:off x="740905" y="3120444"/>
            <a:ext cx="131716" cy="131716"/>
          </a:xfrm>
          <a:custGeom>
            <a:avLst/>
            <a:gdLst/>
            <a:ahLst/>
            <a:cxnLst/>
            <a:rect l="l" t="t" r="r" b="b"/>
            <a:pathLst>
              <a:path w="131716" h="131716">
                <a:moveTo>
                  <a:pt x="129298" y="71672"/>
                </a:moveTo>
                <a:cubicBezTo>
                  <a:pt x="132514" y="68457"/>
                  <a:pt x="132514" y="63234"/>
                  <a:pt x="129298" y="60018"/>
                </a:cubicBezTo>
                <a:lnTo>
                  <a:pt x="88137" y="18857"/>
                </a:lnTo>
                <a:cubicBezTo>
                  <a:pt x="84921" y="15641"/>
                  <a:pt x="79699" y="15641"/>
                  <a:pt x="76483" y="18857"/>
                </a:cubicBezTo>
                <a:cubicBezTo>
                  <a:pt x="73267" y="22073"/>
                  <a:pt x="73267" y="27295"/>
                  <a:pt x="76483" y="30511"/>
                </a:cubicBezTo>
                <a:lnTo>
                  <a:pt x="103598" y="57626"/>
                </a:lnTo>
                <a:lnTo>
                  <a:pt x="8232" y="57626"/>
                </a:lnTo>
                <a:cubicBezTo>
                  <a:pt x="3679" y="57626"/>
                  <a:pt x="0" y="61305"/>
                  <a:pt x="0" y="65858"/>
                </a:cubicBezTo>
                <a:cubicBezTo>
                  <a:pt x="0" y="70412"/>
                  <a:pt x="3679" y="74090"/>
                  <a:pt x="8232" y="74090"/>
                </a:cubicBezTo>
                <a:lnTo>
                  <a:pt x="103598" y="74090"/>
                </a:lnTo>
                <a:lnTo>
                  <a:pt x="76483" y="101206"/>
                </a:lnTo>
                <a:cubicBezTo>
                  <a:pt x="73267" y="104421"/>
                  <a:pt x="73267" y="109644"/>
                  <a:pt x="76483" y="112859"/>
                </a:cubicBezTo>
                <a:cubicBezTo>
                  <a:pt x="79699" y="116075"/>
                  <a:pt x="84921" y="116075"/>
                  <a:pt x="88137" y="112859"/>
                </a:cubicBezTo>
                <a:lnTo>
                  <a:pt x="129298" y="71698"/>
                </a:lnTo>
                <a:close/>
              </a:path>
            </a:pathLst>
          </a:custGeom>
          <a:solidFill>
            <a:srgbClr val="EF4444"/>
          </a:solidFill>
          <a:ln/>
        </p:spPr>
      </p:sp>
      <p:sp>
        <p:nvSpPr>
          <p:cNvPr id="15" name="Text 13"/>
          <p:cNvSpPr/>
          <p:nvPr/>
        </p:nvSpPr>
        <p:spPr>
          <a:xfrm>
            <a:off x="931776" y="3087515"/>
            <a:ext cx="4732030" cy="197575"/>
          </a:xfrm>
          <a:prstGeom prst="rect">
            <a:avLst/>
          </a:prstGeom>
          <a:noFill/>
          <a:ln/>
        </p:spPr>
        <p:txBody>
          <a:bodyPr wrap="square" lIns="0" tIns="0" rIns="0" bIns="0" rtlCol="0" anchor="ctr"/>
          <a:lstStyle/>
          <a:p>
            <a:pPr>
              <a:lnSpc>
                <a:spcPct val="130000"/>
              </a:lnSpc>
            </a:pPr>
            <a:r>
              <a:rPr lang="en-US" sz="1037" dirty="0">
                <a:solidFill>
                  <a:srgbClr val="F9FAFB">
                    <a:alpha val="80000"/>
                  </a:srgbClr>
                </a:solidFill>
                <a:latin typeface="Quattrocento Sans" pitchFamily="34" charset="0"/>
                <a:ea typeface="Quattrocento Sans" pitchFamily="34" charset="-122"/>
                <a:cs typeface="Quattrocento Sans" pitchFamily="34" charset="-120"/>
              </a:rPr>
              <a:t>Gets Algorithm V1</a:t>
            </a:r>
            <a:endParaRPr lang="en-US" sz="1600" dirty="0"/>
          </a:p>
        </p:txBody>
      </p:sp>
      <p:sp>
        <p:nvSpPr>
          <p:cNvPr id="16" name="Shape 14"/>
          <p:cNvSpPr/>
          <p:nvPr/>
        </p:nvSpPr>
        <p:spPr>
          <a:xfrm>
            <a:off x="3033285" y="3647310"/>
            <a:ext cx="259317" cy="296362"/>
          </a:xfrm>
          <a:custGeom>
            <a:avLst/>
            <a:gdLst/>
            <a:ahLst/>
            <a:cxnLst/>
            <a:rect l="l" t="t" r="r" b="b"/>
            <a:pathLst>
              <a:path w="259317" h="296362">
                <a:moveTo>
                  <a:pt x="219146" y="47348"/>
                </a:moveTo>
                <a:cubicBezTo>
                  <a:pt x="224818" y="38840"/>
                  <a:pt x="222503" y="27321"/>
                  <a:pt x="213994" y="21648"/>
                </a:cubicBezTo>
                <a:cubicBezTo>
                  <a:pt x="205485" y="15976"/>
                  <a:pt x="193967" y="18291"/>
                  <a:pt x="188294" y="26800"/>
                </a:cubicBezTo>
                <a:lnTo>
                  <a:pt x="156806" y="74090"/>
                </a:lnTo>
                <a:lnTo>
                  <a:pt x="18523" y="74090"/>
                </a:lnTo>
                <a:cubicBezTo>
                  <a:pt x="8277" y="74090"/>
                  <a:pt x="0" y="82368"/>
                  <a:pt x="0" y="92613"/>
                </a:cubicBezTo>
                <a:cubicBezTo>
                  <a:pt x="0" y="102858"/>
                  <a:pt x="8277" y="111136"/>
                  <a:pt x="18523" y="111136"/>
                </a:cubicBezTo>
                <a:lnTo>
                  <a:pt x="132089" y="111136"/>
                </a:lnTo>
                <a:lnTo>
                  <a:pt x="82715" y="185226"/>
                </a:lnTo>
                <a:lnTo>
                  <a:pt x="18523" y="185226"/>
                </a:lnTo>
                <a:cubicBezTo>
                  <a:pt x="8277" y="185226"/>
                  <a:pt x="0" y="193503"/>
                  <a:pt x="0" y="203749"/>
                </a:cubicBezTo>
                <a:cubicBezTo>
                  <a:pt x="0" y="213994"/>
                  <a:pt x="8277" y="222271"/>
                  <a:pt x="18523" y="222271"/>
                </a:cubicBezTo>
                <a:lnTo>
                  <a:pt x="57999" y="222271"/>
                </a:lnTo>
                <a:lnTo>
                  <a:pt x="40171" y="249013"/>
                </a:lnTo>
                <a:cubicBezTo>
                  <a:pt x="34498" y="257522"/>
                  <a:pt x="36814" y="269041"/>
                  <a:pt x="45323" y="274714"/>
                </a:cubicBezTo>
                <a:cubicBezTo>
                  <a:pt x="53831" y="280386"/>
                  <a:pt x="65350" y="278071"/>
                  <a:pt x="71023" y="269562"/>
                </a:cubicBezTo>
                <a:lnTo>
                  <a:pt x="102511" y="222271"/>
                </a:lnTo>
                <a:lnTo>
                  <a:pt x="240794" y="222271"/>
                </a:lnTo>
                <a:cubicBezTo>
                  <a:pt x="251039" y="222271"/>
                  <a:pt x="259317" y="213994"/>
                  <a:pt x="259317" y="203749"/>
                </a:cubicBezTo>
                <a:cubicBezTo>
                  <a:pt x="259317" y="193503"/>
                  <a:pt x="251039" y="185226"/>
                  <a:pt x="240794" y="185226"/>
                </a:cubicBezTo>
                <a:lnTo>
                  <a:pt x="127227" y="185226"/>
                </a:lnTo>
                <a:lnTo>
                  <a:pt x="176602" y="111136"/>
                </a:lnTo>
                <a:lnTo>
                  <a:pt x="240794" y="111136"/>
                </a:lnTo>
                <a:cubicBezTo>
                  <a:pt x="251039" y="111136"/>
                  <a:pt x="259317" y="102858"/>
                  <a:pt x="259317" y="92613"/>
                </a:cubicBezTo>
                <a:cubicBezTo>
                  <a:pt x="259317" y="82368"/>
                  <a:pt x="251039" y="74090"/>
                  <a:pt x="240794" y="74090"/>
                </a:cubicBezTo>
                <a:lnTo>
                  <a:pt x="201318" y="74090"/>
                </a:lnTo>
                <a:lnTo>
                  <a:pt x="219146" y="47348"/>
                </a:lnTo>
                <a:close/>
              </a:path>
            </a:pathLst>
          </a:custGeom>
          <a:solidFill>
            <a:srgbClr val="EF4444"/>
          </a:solidFill>
          <a:ln/>
        </p:spPr>
      </p:sp>
      <p:sp>
        <p:nvSpPr>
          <p:cNvPr id="17" name="Shape 15"/>
          <p:cNvSpPr/>
          <p:nvPr/>
        </p:nvSpPr>
        <p:spPr>
          <a:xfrm>
            <a:off x="559795" y="4141247"/>
            <a:ext cx="5202798" cy="1020802"/>
          </a:xfrm>
          <a:custGeom>
            <a:avLst/>
            <a:gdLst/>
            <a:ahLst/>
            <a:cxnLst/>
            <a:rect l="l" t="t" r="r" b="b"/>
            <a:pathLst>
              <a:path w="5202798" h="1020802">
                <a:moveTo>
                  <a:pt x="65862" y="0"/>
                </a:moveTo>
                <a:lnTo>
                  <a:pt x="5136936" y="0"/>
                </a:lnTo>
                <a:cubicBezTo>
                  <a:pt x="5173311" y="0"/>
                  <a:pt x="5202798" y="29487"/>
                  <a:pt x="5202798" y="65862"/>
                </a:cubicBezTo>
                <a:lnTo>
                  <a:pt x="5202798" y="954940"/>
                </a:lnTo>
                <a:cubicBezTo>
                  <a:pt x="5202798" y="991315"/>
                  <a:pt x="5173311" y="1020802"/>
                  <a:pt x="5136936" y="1020802"/>
                </a:cubicBezTo>
                <a:lnTo>
                  <a:pt x="65862" y="1020802"/>
                </a:lnTo>
                <a:cubicBezTo>
                  <a:pt x="29487" y="1020802"/>
                  <a:pt x="0" y="991315"/>
                  <a:pt x="0" y="954940"/>
                </a:cubicBezTo>
                <a:lnTo>
                  <a:pt x="0" y="65862"/>
                </a:lnTo>
                <a:cubicBezTo>
                  <a:pt x="0" y="29512"/>
                  <a:pt x="29512" y="0"/>
                  <a:pt x="65862" y="0"/>
                </a:cubicBezTo>
                <a:close/>
              </a:path>
            </a:pathLst>
          </a:custGeom>
          <a:solidFill>
            <a:srgbClr val="111827"/>
          </a:solidFill>
          <a:ln/>
        </p:spPr>
      </p:sp>
      <p:sp>
        <p:nvSpPr>
          <p:cNvPr id="18" name="Shape 16"/>
          <p:cNvSpPr/>
          <p:nvPr/>
        </p:nvSpPr>
        <p:spPr>
          <a:xfrm>
            <a:off x="724440" y="4305892"/>
            <a:ext cx="395149" cy="395149"/>
          </a:xfrm>
          <a:custGeom>
            <a:avLst/>
            <a:gdLst/>
            <a:ahLst/>
            <a:cxnLst/>
            <a:rect l="l" t="t" r="r" b="b"/>
            <a:pathLst>
              <a:path w="395149" h="395149">
                <a:moveTo>
                  <a:pt x="197575" y="0"/>
                </a:moveTo>
                <a:lnTo>
                  <a:pt x="197575" y="0"/>
                </a:lnTo>
                <a:cubicBezTo>
                  <a:pt x="306692" y="0"/>
                  <a:pt x="395149" y="88457"/>
                  <a:pt x="395149" y="197575"/>
                </a:cubicBezTo>
                <a:lnTo>
                  <a:pt x="395149" y="197575"/>
                </a:lnTo>
                <a:cubicBezTo>
                  <a:pt x="395149" y="306692"/>
                  <a:pt x="306692" y="395149"/>
                  <a:pt x="197575" y="395149"/>
                </a:cubicBezTo>
                <a:lnTo>
                  <a:pt x="197575" y="395149"/>
                </a:lnTo>
                <a:cubicBezTo>
                  <a:pt x="88457" y="395149"/>
                  <a:pt x="0" y="306692"/>
                  <a:pt x="0" y="197575"/>
                </a:cubicBezTo>
                <a:lnTo>
                  <a:pt x="0" y="197575"/>
                </a:lnTo>
                <a:cubicBezTo>
                  <a:pt x="0" y="88457"/>
                  <a:pt x="88457" y="0"/>
                  <a:pt x="197575" y="0"/>
                </a:cubicBezTo>
                <a:close/>
              </a:path>
            </a:pathLst>
          </a:custGeom>
          <a:solidFill>
            <a:srgbClr val="EF4444">
              <a:alpha val="20000"/>
            </a:srgbClr>
          </a:solidFill>
          <a:ln/>
        </p:spPr>
      </p:sp>
      <p:sp>
        <p:nvSpPr>
          <p:cNvPr id="19" name="Text 17"/>
          <p:cNvSpPr/>
          <p:nvPr/>
        </p:nvSpPr>
        <p:spPr>
          <a:xfrm>
            <a:off x="875914" y="4388215"/>
            <a:ext cx="172878" cy="230504"/>
          </a:xfrm>
          <a:prstGeom prst="rect">
            <a:avLst/>
          </a:prstGeom>
          <a:noFill/>
          <a:ln/>
        </p:spPr>
        <p:txBody>
          <a:bodyPr wrap="square" lIns="0" tIns="0" rIns="0" bIns="0" rtlCol="0" anchor="ctr"/>
          <a:lstStyle/>
          <a:p>
            <a:pPr>
              <a:lnSpc>
                <a:spcPct val="120000"/>
              </a:lnSpc>
            </a:pPr>
            <a:r>
              <a:rPr lang="en-US" sz="1296" b="1" dirty="0">
                <a:solidFill>
                  <a:srgbClr val="EF4444"/>
                </a:solidFill>
                <a:latin typeface="Quattrocento Sans" pitchFamily="34" charset="0"/>
                <a:ea typeface="Quattrocento Sans" pitchFamily="34" charset="-122"/>
                <a:cs typeface="Quattrocento Sans" pitchFamily="34" charset="-120"/>
              </a:rPr>
              <a:t>B</a:t>
            </a:r>
            <a:endParaRPr lang="en-US" sz="1600" dirty="0"/>
          </a:p>
        </p:txBody>
      </p:sp>
      <p:sp>
        <p:nvSpPr>
          <p:cNvPr id="20" name="Text 18"/>
          <p:cNvSpPr/>
          <p:nvPr/>
        </p:nvSpPr>
        <p:spPr>
          <a:xfrm>
            <a:off x="1251306" y="4305892"/>
            <a:ext cx="1201912" cy="230504"/>
          </a:xfrm>
          <a:prstGeom prst="rect">
            <a:avLst/>
          </a:prstGeom>
          <a:noFill/>
          <a:ln/>
        </p:spPr>
        <p:txBody>
          <a:bodyPr wrap="square" lIns="0" tIns="0" rIns="0" bIns="0" rtlCol="0" anchor="ctr"/>
          <a:lstStyle/>
          <a:p>
            <a:pPr>
              <a:lnSpc>
                <a:spcPct val="130000"/>
              </a:lnSpc>
            </a:pPr>
            <a:r>
              <a:rPr lang="en-US" sz="1167" b="1" dirty="0">
                <a:solidFill>
                  <a:srgbClr val="F9FAFB"/>
                </a:solidFill>
                <a:latin typeface="Quattrocento Sans" pitchFamily="34" charset="0"/>
                <a:ea typeface="Quattrocento Sans" pitchFamily="34" charset="-122"/>
                <a:cs typeface="Quattrocento Sans" pitchFamily="34" charset="-120"/>
              </a:rPr>
              <a:t>Group B</a:t>
            </a:r>
            <a:endParaRPr lang="en-US" sz="1600" dirty="0"/>
          </a:p>
        </p:txBody>
      </p:sp>
      <p:sp>
        <p:nvSpPr>
          <p:cNvPr id="21" name="Text 19"/>
          <p:cNvSpPr/>
          <p:nvPr/>
        </p:nvSpPr>
        <p:spPr>
          <a:xfrm>
            <a:off x="1251306" y="4536396"/>
            <a:ext cx="1185448" cy="164646"/>
          </a:xfrm>
          <a:prstGeom prst="rect">
            <a:avLst/>
          </a:prstGeom>
          <a:noFill/>
          <a:ln/>
        </p:spPr>
        <p:txBody>
          <a:bodyPr wrap="square" lIns="0" tIns="0" rIns="0" bIns="0" rtlCol="0" anchor="ctr"/>
          <a:lstStyle/>
          <a:p>
            <a:pPr>
              <a:lnSpc>
                <a:spcPct val="120000"/>
              </a:lnSpc>
            </a:pPr>
            <a:r>
              <a:rPr lang="en-US" sz="907" dirty="0">
                <a:solidFill>
                  <a:srgbClr val="F9FAFB">
                    <a:alpha val="60000"/>
                  </a:srgbClr>
                </a:solidFill>
                <a:latin typeface="Quattrocento Sans" pitchFamily="34" charset="0"/>
                <a:ea typeface="Quattrocento Sans" pitchFamily="34" charset="-122"/>
                <a:cs typeface="Quattrocento Sans" pitchFamily="34" charset="-120"/>
              </a:rPr>
              <a:t>10,000 different users</a:t>
            </a:r>
            <a:endParaRPr lang="en-US" sz="1600" dirty="0"/>
          </a:p>
        </p:txBody>
      </p:sp>
      <p:sp>
        <p:nvSpPr>
          <p:cNvPr id="22" name="Shape 20"/>
          <p:cNvSpPr/>
          <p:nvPr/>
        </p:nvSpPr>
        <p:spPr>
          <a:xfrm>
            <a:off x="740905" y="4832758"/>
            <a:ext cx="131716" cy="131716"/>
          </a:xfrm>
          <a:custGeom>
            <a:avLst/>
            <a:gdLst/>
            <a:ahLst/>
            <a:cxnLst/>
            <a:rect l="l" t="t" r="r" b="b"/>
            <a:pathLst>
              <a:path w="131716" h="131716">
                <a:moveTo>
                  <a:pt x="129298" y="71672"/>
                </a:moveTo>
                <a:cubicBezTo>
                  <a:pt x="132514" y="68457"/>
                  <a:pt x="132514" y="63234"/>
                  <a:pt x="129298" y="60018"/>
                </a:cubicBezTo>
                <a:lnTo>
                  <a:pt x="88137" y="18857"/>
                </a:lnTo>
                <a:cubicBezTo>
                  <a:pt x="84921" y="15641"/>
                  <a:pt x="79699" y="15641"/>
                  <a:pt x="76483" y="18857"/>
                </a:cubicBezTo>
                <a:cubicBezTo>
                  <a:pt x="73267" y="22073"/>
                  <a:pt x="73267" y="27295"/>
                  <a:pt x="76483" y="30511"/>
                </a:cubicBezTo>
                <a:lnTo>
                  <a:pt x="103598" y="57626"/>
                </a:lnTo>
                <a:lnTo>
                  <a:pt x="8232" y="57626"/>
                </a:lnTo>
                <a:cubicBezTo>
                  <a:pt x="3679" y="57626"/>
                  <a:pt x="0" y="61305"/>
                  <a:pt x="0" y="65858"/>
                </a:cubicBezTo>
                <a:cubicBezTo>
                  <a:pt x="0" y="70412"/>
                  <a:pt x="3679" y="74090"/>
                  <a:pt x="8232" y="74090"/>
                </a:cubicBezTo>
                <a:lnTo>
                  <a:pt x="103598" y="74090"/>
                </a:lnTo>
                <a:lnTo>
                  <a:pt x="76483" y="101206"/>
                </a:lnTo>
                <a:cubicBezTo>
                  <a:pt x="73267" y="104421"/>
                  <a:pt x="73267" y="109644"/>
                  <a:pt x="76483" y="112859"/>
                </a:cubicBezTo>
                <a:cubicBezTo>
                  <a:pt x="79699" y="116075"/>
                  <a:pt x="84921" y="116075"/>
                  <a:pt x="88137" y="112859"/>
                </a:cubicBezTo>
                <a:lnTo>
                  <a:pt x="129298" y="71698"/>
                </a:lnTo>
                <a:close/>
              </a:path>
            </a:pathLst>
          </a:custGeom>
          <a:solidFill>
            <a:srgbClr val="EF4444"/>
          </a:solidFill>
          <a:ln/>
        </p:spPr>
      </p:sp>
      <p:sp>
        <p:nvSpPr>
          <p:cNvPr id="23" name="Text 21"/>
          <p:cNvSpPr/>
          <p:nvPr/>
        </p:nvSpPr>
        <p:spPr>
          <a:xfrm>
            <a:off x="931776" y="4799829"/>
            <a:ext cx="4732030" cy="197575"/>
          </a:xfrm>
          <a:prstGeom prst="rect">
            <a:avLst/>
          </a:prstGeom>
          <a:noFill/>
          <a:ln/>
        </p:spPr>
        <p:txBody>
          <a:bodyPr wrap="square" lIns="0" tIns="0" rIns="0" bIns="0" rtlCol="0" anchor="ctr"/>
          <a:lstStyle/>
          <a:p>
            <a:pPr>
              <a:lnSpc>
                <a:spcPct val="130000"/>
              </a:lnSpc>
            </a:pPr>
            <a:r>
              <a:rPr lang="en-US" sz="1037" dirty="0">
                <a:solidFill>
                  <a:srgbClr val="F9FAFB">
                    <a:alpha val="80000"/>
                  </a:srgbClr>
                </a:solidFill>
                <a:latin typeface="Quattrocento Sans" pitchFamily="34" charset="0"/>
                <a:ea typeface="Quattrocento Sans" pitchFamily="34" charset="-122"/>
                <a:cs typeface="Quattrocento Sans" pitchFamily="34" charset="-120"/>
              </a:rPr>
              <a:t>Gets Algorithm V2</a:t>
            </a:r>
            <a:endParaRPr lang="en-US" sz="1600" dirty="0"/>
          </a:p>
        </p:txBody>
      </p:sp>
      <p:sp>
        <p:nvSpPr>
          <p:cNvPr id="24" name="Shape 22"/>
          <p:cNvSpPr/>
          <p:nvPr/>
        </p:nvSpPr>
        <p:spPr>
          <a:xfrm>
            <a:off x="563088" y="5671422"/>
            <a:ext cx="5201152" cy="665168"/>
          </a:xfrm>
          <a:custGeom>
            <a:avLst/>
            <a:gdLst/>
            <a:ahLst/>
            <a:cxnLst/>
            <a:rect l="l" t="t" r="r" b="b"/>
            <a:pathLst>
              <a:path w="5201152" h="665168">
                <a:moveTo>
                  <a:pt x="65858" y="0"/>
                </a:moveTo>
                <a:lnTo>
                  <a:pt x="5135293" y="0"/>
                </a:lnTo>
                <a:cubicBezTo>
                  <a:pt x="5171666" y="0"/>
                  <a:pt x="5201152" y="29486"/>
                  <a:pt x="5201152" y="65858"/>
                </a:cubicBezTo>
                <a:lnTo>
                  <a:pt x="5201152" y="599310"/>
                </a:lnTo>
                <a:cubicBezTo>
                  <a:pt x="5201152" y="635682"/>
                  <a:pt x="5171666" y="665168"/>
                  <a:pt x="5135293" y="665168"/>
                </a:cubicBezTo>
                <a:lnTo>
                  <a:pt x="65858" y="665168"/>
                </a:lnTo>
                <a:cubicBezTo>
                  <a:pt x="29510" y="665168"/>
                  <a:pt x="0" y="635658"/>
                  <a:pt x="0" y="599310"/>
                </a:cubicBezTo>
                <a:lnTo>
                  <a:pt x="0" y="65858"/>
                </a:lnTo>
                <a:cubicBezTo>
                  <a:pt x="0" y="29510"/>
                  <a:pt x="29510" y="0"/>
                  <a:pt x="65858" y="0"/>
                </a:cubicBezTo>
                <a:close/>
              </a:path>
            </a:pathLst>
          </a:custGeom>
          <a:solidFill>
            <a:srgbClr val="EF4444">
              <a:alpha val="10196"/>
            </a:srgbClr>
          </a:solidFill>
          <a:ln w="10160">
            <a:solidFill>
              <a:srgbClr val="EF4444">
                <a:alpha val="30196"/>
              </a:srgbClr>
            </a:solidFill>
            <a:prstDash val="solid"/>
          </a:ln>
        </p:spPr>
      </p:sp>
      <p:sp>
        <p:nvSpPr>
          <p:cNvPr id="25" name="Text 23"/>
          <p:cNvSpPr/>
          <p:nvPr/>
        </p:nvSpPr>
        <p:spPr>
          <a:xfrm>
            <a:off x="698097" y="5806429"/>
            <a:ext cx="4996991" cy="395149"/>
          </a:xfrm>
          <a:prstGeom prst="rect">
            <a:avLst/>
          </a:prstGeom>
          <a:noFill/>
          <a:ln/>
        </p:spPr>
        <p:txBody>
          <a:bodyPr wrap="square" lIns="0" tIns="0" rIns="0" bIns="0" rtlCol="0" anchor="ctr"/>
          <a:lstStyle/>
          <a:p>
            <a:pPr>
              <a:lnSpc>
                <a:spcPct val="130000"/>
              </a:lnSpc>
            </a:pPr>
            <a:r>
              <a:rPr lang="en-US" sz="1037" b="1" dirty="0">
                <a:solidFill>
                  <a:srgbClr val="EF4444"/>
                </a:solidFill>
                <a:latin typeface="Quattrocento Sans" pitchFamily="34" charset="0"/>
                <a:ea typeface="Quattrocento Sans" pitchFamily="34" charset="-122"/>
                <a:cs typeface="Quattrocento Sans" pitchFamily="34" charset="-120"/>
              </a:rPr>
              <a:t>Problem:</a:t>
            </a:r>
            <a:pPr>
              <a:lnSpc>
                <a:spcPct val="130000"/>
              </a:lnSpc>
            </a:pPr>
            <a:r>
              <a:rPr lang="en-US" sz="1037" dirty="0">
                <a:solidFill>
                  <a:srgbClr val="F9FAFB">
                    <a:alpha val="80000"/>
                  </a:srgbClr>
                </a:solidFill>
                <a:latin typeface="Quattrocento Sans" pitchFamily="34" charset="0"/>
                <a:ea typeface="Quattrocento Sans" pitchFamily="34" charset="-122"/>
                <a:cs typeface="Quattrocento Sans" pitchFamily="34" charset="-120"/>
              </a:rPr>
              <a:t> User differences (preferences, viewing habits, demographics) overwhelm algorithm effect, making it hard to detect true impact</a:t>
            </a:r>
            <a:endParaRPr lang="en-US" sz="1600" dirty="0"/>
          </a:p>
        </p:txBody>
      </p:sp>
      <p:sp>
        <p:nvSpPr>
          <p:cNvPr id="26" name="Shape 24"/>
          <p:cNvSpPr/>
          <p:nvPr/>
        </p:nvSpPr>
        <p:spPr>
          <a:xfrm>
            <a:off x="6230495" y="1155813"/>
            <a:ext cx="5629230" cy="533451"/>
          </a:xfrm>
          <a:custGeom>
            <a:avLst/>
            <a:gdLst/>
            <a:ahLst/>
            <a:cxnLst/>
            <a:rect l="l" t="t" r="r" b="b"/>
            <a:pathLst>
              <a:path w="5629230" h="533451">
                <a:moveTo>
                  <a:pt x="65860" y="0"/>
                </a:moveTo>
                <a:lnTo>
                  <a:pt x="5563370" y="0"/>
                </a:lnTo>
                <a:cubicBezTo>
                  <a:pt x="5599743" y="0"/>
                  <a:pt x="5629230" y="29486"/>
                  <a:pt x="5629230" y="65860"/>
                </a:cubicBezTo>
                <a:lnTo>
                  <a:pt x="5629230" y="467592"/>
                </a:lnTo>
                <a:cubicBezTo>
                  <a:pt x="5629230" y="503965"/>
                  <a:pt x="5599743" y="533451"/>
                  <a:pt x="5563370" y="533451"/>
                </a:cubicBezTo>
                <a:lnTo>
                  <a:pt x="65860" y="533451"/>
                </a:lnTo>
                <a:cubicBezTo>
                  <a:pt x="29486" y="533451"/>
                  <a:pt x="0" y="503965"/>
                  <a:pt x="0" y="467592"/>
                </a:cubicBezTo>
                <a:lnTo>
                  <a:pt x="0" y="65860"/>
                </a:lnTo>
                <a:cubicBezTo>
                  <a:pt x="0" y="29511"/>
                  <a:pt x="29511" y="0"/>
                  <a:pt x="65860" y="0"/>
                </a:cubicBezTo>
                <a:close/>
              </a:path>
            </a:pathLst>
          </a:custGeom>
          <a:solidFill>
            <a:srgbClr val="10B981">
              <a:alpha val="10196"/>
            </a:srgbClr>
          </a:solidFill>
          <a:ln w="10160">
            <a:solidFill>
              <a:srgbClr val="10B981">
                <a:alpha val="30196"/>
              </a:srgbClr>
            </a:solidFill>
            <a:prstDash val="solid"/>
          </a:ln>
        </p:spPr>
      </p:sp>
      <p:sp>
        <p:nvSpPr>
          <p:cNvPr id="27" name="Shape 25"/>
          <p:cNvSpPr/>
          <p:nvPr/>
        </p:nvSpPr>
        <p:spPr>
          <a:xfrm>
            <a:off x="6390201" y="1323650"/>
            <a:ext cx="197575" cy="197575"/>
          </a:xfrm>
          <a:custGeom>
            <a:avLst/>
            <a:gdLst/>
            <a:ahLst/>
            <a:cxnLst/>
            <a:rect l="l" t="t" r="r" b="b"/>
            <a:pathLst>
              <a:path w="197575" h="197575">
                <a:moveTo>
                  <a:pt x="98787" y="197575"/>
                </a:moveTo>
                <a:cubicBezTo>
                  <a:pt x="153310" y="197575"/>
                  <a:pt x="197575" y="153310"/>
                  <a:pt x="197575" y="98787"/>
                </a:cubicBezTo>
                <a:cubicBezTo>
                  <a:pt x="197575" y="44265"/>
                  <a:pt x="153310" y="0"/>
                  <a:pt x="98787" y="0"/>
                </a:cubicBezTo>
                <a:cubicBezTo>
                  <a:pt x="44265" y="0"/>
                  <a:pt x="0" y="44265"/>
                  <a:pt x="0" y="98787"/>
                </a:cubicBezTo>
                <a:cubicBezTo>
                  <a:pt x="0" y="153310"/>
                  <a:pt x="44265" y="197575"/>
                  <a:pt x="98787" y="197575"/>
                </a:cubicBezTo>
                <a:close/>
                <a:moveTo>
                  <a:pt x="131356" y="82078"/>
                </a:moveTo>
                <a:lnTo>
                  <a:pt x="100485" y="131472"/>
                </a:lnTo>
                <a:cubicBezTo>
                  <a:pt x="98864" y="134057"/>
                  <a:pt x="96086" y="135678"/>
                  <a:pt x="93038" y="135833"/>
                </a:cubicBezTo>
                <a:cubicBezTo>
                  <a:pt x="89989" y="135987"/>
                  <a:pt x="87056" y="134598"/>
                  <a:pt x="85243" y="132128"/>
                </a:cubicBezTo>
                <a:lnTo>
                  <a:pt x="66720" y="107431"/>
                </a:lnTo>
                <a:cubicBezTo>
                  <a:pt x="63633" y="103341"/>
                  <a:pt x="64482" y="97552"/>
                  <a:pt x="68572" y="94465"/>
                </a:cubicBezTo>
                <a:cubicBezTo>
                  <a:pt x="72663" y="91378"/>
                  <a:pt x="78451" y="92227"/>
                  <a:pt x="81538" y="96318"/>
                </a:cubicBezTo>
                <a:lnTo>
                  <a:pt x="91957" y="110210"/>
                </a:lnTo>
                <a:lnTo>
                  <a:pt x="115651" y="72277"/>
                </a:lnTo>
                <a:cubicBezTo>
                  <a:pt x="118352" y="67955"/>
                  <a:pt x="124063" y="66604"/>
                  <a:pt x="128423" y="69344"/>
                </a:cubicBezTo>
                <a:cubicBezTo>
                  <a:pt x="132784" y="72084"/>
                  <a:pt x="134096" y="77756"/>
                  <a:pt x="131356" y="82117"/>
                </a:cubicBezTo>
                <a:close/>
              </a:path>
            </a:pathLst>
          </a:custGeom>
          <a:solidFill>
            <a:srgbClr val="10B981"/>
          </a:solidFill>
          <a:ln/>
        </p:spPr>
      </p:sp>
      <p:sp>
        <p:nvSpPr>
          <p:cNvPr id="28" name="Text 26"/>
          <p:cNvSpPr/>
          <p:nvPr/>
        </p:nvSpPr>
        <p:spPr>
          <a:xfrm>
            <a:off x="6612472" y="1290821"/>
            <a:ext cx="5211030" cy="263433"/>
          </a:xfrm>
          <a:prstGeom prst="rect">
            <a:avLst/>
          </a:prstGeom>
          <a:noFill/>
          <a:ln/>
        </p:spPr>
        <p:txBody>
          <a:bodyPr wrap="square" lIns="0" tIns="0" rIns="0" bIns="0" rtlCol="0" anchor="ctr"/>
          <a:lstStyle/>
          <a:p>
            <a:pPr>
              <a:lnSpc>
                <a:spcPct val="110000"/>
              </a:lnSpc>
            </a:pPr>
            <a:r>
              <a:rPr lang="en-US" sz="1556" b="1" dirty="0">
                <a:solidFill>
                  <a:srgbClr val="10B981"/>
                </a:solidFill>
                <a:latin typeface="Liter" pitchFamily="34" charset="0"/>
                <a:ea typeface="Liter" pitchFamily="34" charset="-122"/>
                <a:cs typeface="Liter" pitchFamily="34" charset="-120"/>
              </a:rPr>
              <a:t>Right Way: Paired Design</a:t>
            </a:r>
            <a:endParaRPr lang="en-US" sz="1600" dirty="0"/>
          </a:p>
        </p:txBody>
      </p:sp>
      <p:sp>
        <p:nvSpPr>
          <p:cNvPr id="29" name="Shape 27"/>
          <p:cNvSpPr/>
          <p:nvPr/>
        </p:nvSpPr>
        <p:spPr>
          <a:xfrm>
            <a:off x="6243666" y="1857100"/>
            <a:ext cx="5614412" cy="4684165"/>
          </a:xfrm>
          <a:custGeom>
            <a:avLst/>
            <a:gdLst/>
            <a:ahLst/>
            <a:cxnLst/>
            <a:rect l="l" t="t" r="r" b="b"/>
            <a:pathLst>
              <a:path w="5614412" h="4684165">
                <a:moveTo>
                  <a:pt x="32929" y="0"/>
                </a:moveTo>
                <a:lnTo>
                  <a:pt x="5548553" y="0"/>
                </a:lnTo>
                <a:cubicBezTo>
                  <a:pt x="5584926" y="0"/>
                  <a:pt x="5614412" y="29486"/>
                  <a:pt x="5614412" y="65859"/>
                </a:cubicBezTo>
                <a:lnTo>
                  <a:pt x="5614412" y="4618305"/>
                </a:lnTo>
                <a:cubicBezTo>
                  <a:pt x="5614412" y="4654679"/>
                  <a:pt x="5584926" y="4684165"/>
                  <a:pt x="5548553" y="4684165"/>
                </a:cubicBezTo>
                <a:lnTo>
                  <a:pt x="32929" y="4684165"/>
                </a:lnTo>
                <a:cubicBezTo>
                  <a:pt x="14743" y="4684165"/>
                  <a:pt x="0" y="4669422"/>
                  <a:pt x="0" y="4651236"/>
                </a:cubicBezTo>
                <a:lnTo>
                  <a:pt x="0" y="32929"/>
                </a:lnTo>
                <a:cubicBezTo>
                  <a:pt x="0" y="14755"/>
                  <a:pt x="14755" y="0"/>
                  <a:pt x="32929" y="0"/>
                </a:cubicBezTo>
                <a:close/>
              </a:path>
            </a:pathLst>
          </a:custGeom>
          <a:solidFill>
            <a:srgbClr val="374151"/>
          </a:solidFill>
          <a:ln/>
        </p:spPr>
      </p:sp>
      <p:sp>
        <p:nvSpPr>
          <p:cNvPr id="30" name="Shape 28"/>
          <p:cNvSpPr/>
          <p:nvPr/>
        </p:nvSpPr>
        <p:spPr>
          <a:xfrm>
            <a:off x="6243666" y="1857100"/>
            <a:ext cx="32929" cy="4684165"/>
          </a:xfrm>
          <a:custGeom>
            <a:avLst/>
            <a:gdLst/>
            <a:ahLst/>
            <a:cxnLst/>
            <a:rect l="l" t="t" r="r" b="b"/>
            <a:pathLst>
              <a:path w="32929" h="4684165">
                <a:moveTo>
                  <a:pt x="32929" y="0"/>
                </a:moveTo>
                <a:lnTo>
                  <a:pt x="32929" y="0"/>
                </a:lnTo>
                <a:lnTo>
                  <a:pt x="32929" y="4684165"/>
                </a:lnTo>
                <a:lnTo>
                  <a:pt x="32929" y="4684165"/>
                </a:lnTo>
                <a:cubicBezTo>
                  <a:pt x="14743" y="4684165"/>
                  <a:pt x="0" y="4669422"/>
                  <a:pt x="0" y="4651236"/>
                </a:cubicBezTo>
                <a:lnTo>
                  <a:pt x="0" y="32929"/>
                </a:lnTo>
                <a:cubicBezTo>
                  <a:pt x="0" y="14755"/>
                  <a:pt x="14755" y="0"/>
                  <a:pt x="32929" y="0"/>
                </a:cubicBezTo>
                <a:close/>
              </a:path>
            </a:pathLst>
          </a:custGeom>
          <a:solidFill>
            <a:srgbClr val="10B981"/>
          </a:solidFill>
          <a:ln/>
        </p:spPr>
      </p:sp>
      <p:sp>
        <p:nvSpPr>
          <p:cNvPr id="31" name="Shape 29"/>
          <p:cNvSpPr/>
          <p:nvPr/>
        </p:nvSpPr>
        <p:spPr>
          <a:xfrm>
            <a:off x="6457706" y="2428933"/>
            <a:ext cx="5202798" cy="1020802"/>
          </a:xfrm>
          <a:custGeom>
            <a:avLst/>
            <a:gdLst/>
            <a:ahLst/>
            <a:cxnLst/>
            <a:rect l="l" t="t" r="r" b="b"/>
            <a:pathLst>
              <a:path w="5202798" h="1020802">
                <a:moveTo>
                  <a:pt x="65862" y="0"/>
                </a:moveTo>
                <a:lnTo>
                  <a:pt x="5136936" y="0"/>
                </a:lnTo>
                <a:cubicBezTo>
                  <a:pt x="5173311" y="0"/>
                  <a:pt x="5202798" y="29487"/>
                  <a:pt x="5202798" y="65862"/>
                </a:cubicBezTo>
                <a:lnTo>
                  <a:pt x="5202798" y="954940"/>
                </a:lnTo>
                <a:cubicBezTo>
                  <a:pt x="5202798" y="991315"/>
                  <a:pt x="5173311" y="1020802"/>
                  <a:pt x="5136936" y="1020802"/>
                </a:cubicBezTo>
                <a:lnTo>
                  <a:pt x="65862" y="1020802"/>
                </a:lnTo>
                <a:cubicBezTo>
                  <a:pt x="29487" y="1020802"/>
                  <a:pt x="0" y="991315"/>
                  <a:pt x="0" y="954940"/>
                </a:cubicBezTo>
                <a:lnTo>
                  <a:pt x="0" y="65862"/>
                </a:lnTo>
                <a:cubicBezTo>
                  <a:pt x="0" y="29512"/>
                  <a:pt x="29512" y="0"/>
                  <a:pt x="65862" y="0"/>
                </a:cubicBezTo>
                <a:close/>
              </a:path>
            </a:pathLst>
          </a:custGeom>
          <a:solidFill>
            <a:srgbClr val="111827"/>
          </a:solidFill>
          <a:ln/>
        </p:spPr>
      </p:sp>
      <p:sp>
        <p:nvSpPr>
          <p:cNvPr id="32" name="Shape 30"/>
          <p:cNvSpPr/>
          <p:nvPr/>
        </p:nvSpPr>
        <p:spPr>
          <a:xfrm>
            <a:off x="6622351" y="2593579"/>
            <a:ext cx="395149" cy="395149"/>
          </a:xfrm>
          <a:custGeom>
            <a:avLst/>
            <a:gdLst/>
            <a:ahLst/>
            <a:cxnLst/>
            <a:rect l="l" t="t" r="r" b="b"/>
            <a:pathLst>
              <a:path w="395149" h="395149">
                <a:moveTo>
                  <a:pt x="197575" y="0"/>
                </a:moveTo>
                <a:lnTo>
                  <a:pt x="197575" y="0"/>
                </a:lnTo>
                <a:cubicBezTo>
                  <a:pt x="306692" y="0"/>
                  <a:pt x="395149" y="88457"/>
                  <a:pt x="395149" y="197575"/>
                </a:cubicBezTo>
                <a:lnTo>
                  <a:pt x="395149" y="197575"/>
                </a:lnTo>
                <a:cubicBezTo>
                  <a:pt x="395149" y="306692"/>
                  <a:pt x="306692" y="395149"/>
                  <a:pt x="197575" y="395149"/>
                </a:cubicBezTo>
                <a:lnTo>
                  <a:pt x="197575" y="395149"/>
                </a:lnTo>
                <a:cubicBezTo>
                  <a:pt x="88457" y="395149"/>
                  <a:pt x="0" y="306692"/>
                  <a:pt x="0" y="197575"/>
                </a:cubicBezTo>
                <a:lnTo>
                  <a:pt x="0" y="197575"/>
                </a:lnTo>
                <a:cubicBezTo>
                  <a:pt x="0" y="88457"/>
                  <a:pt x="88457" y="0"/>
                  <a:pt x="197575" y="0"/>
                </a:cubicBezTo>
                <a:close/>
              </a:path>
            </a:pathLst>
          </a:custGeom>
          <a:solidFill>
            <a:srgbClr val="10B981">
              <a:alpha val="20000"/>
            </a:srgbClr>
          </a:solidFill>
          <a:ln/>
        </p:spPr>
      </p:sp>
      <p:sp>
        <p:nvSpPr>
          <p:cNvPr id="33" name="Text 31"/>
          <p:cNvSpPr/>
          <p:nvPr/>
        </p:nvSpPr>
        <p:spPr>
          <a:xfrm>
            <a:off x="6704674" y="2675902"/>
            <a:ext cx="312826" cy="230504"/>
          </a:xfrm>
          <a:prstGeom prst="rect">
            <a:avLst/>
          </a:prstGeom>
          <a:noFill/>
          <a:ln/>
        </p:spPr>
        <p:txBody>
          <a:bodyPr wrap="square" lIns="0" tIns="0" rIns="0" bIns="0" rtlCol="0" anchor="ctr"/>
          <a:lstStyle/>
          <a:p>
            <a:pPr>
              <a:lnSpc>
                <a:spcPct val="120000"/>
              </a:lnSpc>
            </a:pPr>
            <a:r>
              <a:rPr lang="en-US" sz="1296" b="1" dirty="0">
                <a:solidFill>
                  <a:srgbClr val="10B981"/>
                </a:solidFill>
                <a:latin typeface="Quattrocento Sans" pitchFamily="34" charset="0"/>
                <a:ea typeface="Quattrocento Sans" pitchFamily="34" charset="-122"/>
                <a:cs typeface="Quattrocento Sans" pitchFamily="34" charset="-120"/>
              </a:rPr>
              <a:t>W1</a:t>
            </a:r>
            <a:endParaRPr lang="en-US" sz="1600" dirty="0"/>
          </a:p>
        </p:txBody>
      </p:sp>
      <p:sp>
        <p:nvSpPr>
          <p:cNvPr id="34" name="Text 32"/>
          <p:cNvSpPr/>
          <p:nvPr/>
        </p:nvSpPr>
        <p:spPr>
          <a:xfrm>
            <a:off x="7149217" y="2593579"/>
            <a:ext cx="749137" cy="230504"/>
          </a:xfrm>
          <a:prstGeom prst="rect">
            <a:avLst/>
          </a:prstGeom>
          <a:noFill/>
          <a:ln/>
        </p:spPr>
        <p:txBody>
          <a:bodyPr wrap="square" lIns="0" tIns="0" rIns="0" bIns="0" rtlCol="0" anchor="ctr"/>
          <a:lstStyle/>
          <a:p>
            <a:pPr>
              <a:lnSpc>
                <a:spcPct val="130000"/>
              </a:lnSpc>
            </a:pPr>
            <a:r>
              <a:rPr lang="en-US" sz="1167" b="1" dirty="0">
                <a:solidFill>
                  <a:srgbClr val="F9FAFB"/>
                </a:solidFill>
                <a:latin typeface="Quattrocento Sans" pitchFamily="34" charset="0"/>
                <a:ea typeface="Quattrocento Sans" pitchFamily="34" charset="-122"/>
                <a:cs typeface="Quattrocento Sans" pitchFamily="34" charset="-120"/>
              </a:rPr>
              <a:t>Week 1</a:t>
            </a:r>
            <a:endParaRPr lang="en-US" sz="1600" dirty="0"/>
          </a:p>
        </p:txBody>
      </p:sp>
      <p:sp>
        <p:nvSpPr>
          <p:cNvPr id="35" name="Text 33"/>
          <p:cNvSpPr/>
          <p:nvPr/>
        </p:nvSpPr>
        <p:spPr>
          <a:xfrm>
            <a:off x="7149217" y="2824083"/>
            <a:ext cx="732673" cy="164646"/>
          </a:xfrm>
          <a:prstGeom prst="rect">
            <a:avLst/>
          </a:prstGeom>
          <a:noFill/>
          <a:ln/>
        </p:spPr>
        <p:txBody>
          <a:bodyPr wrap="square" lIns="0" tIns="0" rIns="0" bIns="0" rtlCol="0" anchor="ctr"/>
          <a:lstStyle/>
          <a:p>
            <a:pPr>
              <a:lnSpc>
                <a:spcPct val="120000"/>
              </a:lnSpc>
            </a:pPr>
            <a:r>
              <a:rPr lang="en-US" sz="907" dirty="0">
                <a:solidFill>
                  <a:srgbClr val="F9FAFB">
                    <a:alpha val="60000"/>
                  </a:srgbClr>
                </a:solidFill>
                <a:latin typeface="Quattrocento Sans" pitchFamily="34" charset="0"/>
                <a:ea typeface="Quattrocento Sans" pitchFamily="34" charset="-122"/>
                <a:cs typeface="Quattrocento Sans" pitchFamily="34" charset="-120"/>
              </a:rPr>
              <a:t>10,000 users</a:t>
            </a:r>
            <a:endParaRPr lang="en-US" sz="1600" dirty="0"/>
          </a:p>
        </p:txBody>
      </p:sp>
      <p:sp>
        <p:nvSpPr>
          <p:cNvPr id="36" name="Shape 34"/>
          <p:cNvSpPr/>
          <p:nvPr/>
        </p:nvSpPr>
        <p:spPr>
          <a:xfrm>
            <a:off x="6638816" y="3120444"/>
            <a:ext cx="131716" cy="131716"/>
          </a:xfrm>
          <a:custGeom>
            <a:avLst/>
            <a:gdLst/>
            <a:ahLst/>
            <a:cxnLst/>
            <a:rect l="l" t="t" r="r" b="b"/>
            <a:pathLst>
              <a:path w="131716" h="131716">
                <a:moveTo>
                  <a:pt x="129298" y="71672"/>
                </a:moveTo>
                <a:cubicBezTo>
                  <a:pt x="132514" y="68457"/>
                  <a:pt x="132514" y="63234"/>
                  <a:pt x="129298" y="60018"/>
                </a:cubicBezTo>
                <a:lnTo>
                  <a:pt x="88137" y="18857"/>
                </a:lnTo>
                <a:cubicBezTo>
                  <a:pt x="84921" y="15641"/>
                  <a:pt x="79699" y="15641"/>
                  <a:pt x="76483" y="18857"/>
                </a:cubicBezTo>
                <a:cubicBezTo>
                  <a:pt x="73267" y="22073"/>
                  <a:pt x="73267" y="27295"/>
                  <a:pt x="76483" y="30511"/>
                </a:cubicBezTo>
                <a:lnTo>
                  <a:pt x="103598" y="57626"/>
                </a:lnTo>
                <a:lnTo>
                  <a:pt x="8232" y="57626"/>
                </a:lnTo>
                <a:cubicBezTo>
                  <a:pt x="3679" y="57626"/>
                  <a:pt x="0" y="61305"/>
                  <a:pt x="0" y="65858"/>
                </a:cubicBezTo>
                <a:cubicBezTo>
                  <a:pt x="0" y="70412"/>
                  <a:pt x="3679" y="74090"/>
                  <a:pt x="8232" y="74090"/>
                </a:cubicBezTo>
                <a:lnTo>
                  <a:pt x="103598" y="74090"/>
                </a:lnTo>
                <a:lnTo>
                  <a:pt x="76483" y="101206"/>
                </a:lnTo>
                <a:cubicBezTo>
                  <a:pt x="73267" y="104421"/>
                  <a:pt x="73267" y="109644"/>
                  <a:pt x="76483" y="112859"/>
                </a:cubicBezTo>
                <a:cubicBezTo>
                  <a:pt x="79699" y="116075"/>
                  <a:pt x="84921" y="116075"/>
                  <a:pt x="88137" y="112859"/>
                </a:cubicBezTo>
                <a:lnTo>
                  <a:pt x="129298" y="71698"/>
                </a:lnTo>
                <a:close/>
              </a:path>
            </a:pathLst>
          </a:custGeom>
          <a:solidFill>
            <a:srgbClr val="10B981"/>
          </a:solidFill>
          <a:ln/>
        </p:spPr>
      </p:sp>
      <p:sp>
        <p:nvSpPr>
          <p:cNvPr id="37" name="Text 35"/>
          <p:cNvSpPr/>
          <p:nvPr/>
        </p:nvSpPr>
        <p:spPr>
          <a:xfrm>
            <a:off x="6829687" y="3087515"/>
            <a:ext cx="4732030" cy="197575"/>
          </a:xfrm>
          <a:prstGeom prst="rect">
            <a:avLst/>
          </a:prstGeom>
          <a:noFill/>
          <a:ln/>
        </p:spPr>
        <p:txBody>
          <a:bodyPr wrap="square" lIns="0" tIns="0" rIns="0" bIns="0" rtlCol="0" anchor="ctr"/>
          <a:lstStyle/>
          <a:p>
            <a:pPr>
              <a:lnSpc>
                <a:spcPct val="130000"/>
              </a:lnSpc>
            </a:pPr>
            <a:r>
              <a:rPr lang="en-US" sz="1037" dirty="0">
                <a:solidFill>
                  <a:srgbClr val="F9FAFB">
                    <a:alpha val="80000"/>
                  </a:srgbClr>
                </a:solidFill>
                <a:latin typeface="Quattrocento Sans" pitchFamily="34" charset="0"/>
                <a:ea typeface="Quattrocento Sans" pitchFamily="34" charset="-122"/>
                <a:cs typeface="Quattrocento Sans" pitchFamily="34" charset="-120"/>
              </a:rPr>
              <a:t>Gets Algorithm V1</a:t>
            </a:r>
            <a:endParaRPr lang="en-US" sz="1600" dirty="0"/>
          </a:p>
        </p:txBody>
      </p:sp>
      <p:sp>
        <p:nvSpPr>
          <p:cNvPr id="38" name="Shape 36"/>
          <p:cNvSpPr/>
          <p:nvPr/>
        </p:nvSpPr>
        <p:spPr>
          <a:xfrm>
            <a:off x="8931298" y="3647310"/>
            <a:ext cx="259317" cy="296362"/>
          </a:xfrm>
          <a:custGeom>
            <a:avLst/>
            <a:gdLst/>
            <a:ahLst/>
            <a:cxnLst/>
            <a:rect l="l" t="t" r="r" b="b"/>
            <a:pathLst>
              <a:path w="259317" h="296362">
                <a:moveTo>
                  <a:pt x="18523" y="74090"/>
                </a:moveTo>
                <a:cubicBezTo>
                  <a:pt x="8277" y="74090"/>
                  <a:pt x="0" y="82368"/>
                  <a:pt x="0" y="92613"/>
                </a:cubicBezTo>
                <a:cubicBezTo>
                  <a:pt x="0" y="102858"/>
                  <a:pt x="8277" y="111136"/>
                  <a:pt x="18523" y="111136"/>
                </a:cubicBezTo>
                <a:lnTo>
                  <a:pt x="240794" y="111136"/>
                </a:lnTo>
                <a:cubicBezTo>
                  <a:pt x="251039" y="111136"/>
                  <a:pt x="259317" y="102858"/>
                  <a:pt x="259317" y="92613"/>
                </a:cubicBezTo>
                <a:cubicBezTo>
                  <a:pt x="259317" y="82368"/>
                  <a:pt x="251039" y="74090"/>
                  <a:pt x="240794" y="74090"/>
                </a:cubicBezTo>
                <a:lnTo>
                  <a:pt x="18523" y="74090"/>
                </a:lnTo>
                <a:close/>
                <a:moveTo>
                  <a:pt x="18523" y="185226"/>
                </a:moveTo>
                <a:cubicBezTo>
                  <a:pt x="8277" y="185226"/>
                  <a:pt x="0" y="193503"/>
                  <a:pt x="0" y="203749"/>
                </a:cubicBezTo>
                <a:cubicBezTo>
                  <a:pt x="0" y="213994"/>
                  <a:pt x="8277" y="222271"/>
                  <a:pt x="18523" y="222271"/>
                </a:cubicBezTo>
                <a:lnTo>
                  <a:pt x="240794" y="222271"/>
                </a:lnTo>
                <a:cubicBezTo>
                  <a:pt x="251039" y="222271"/>
                  <a:pt x="259317" y="213994"/>
                  <a:pt x="259317" y="203749"/>
                </a:cubicBezTo>
                <a:cubicBezTo>
                  <a:pt x="259317" y="193503"/>
                  <a:pt x="251039" y="185226"/>
                  <a:pt x="240794" y="185226"/>
                </a:cubicBezTo>
                <a:lnTo>
                  <a:pt x="18523" y="185226"/>
                </a:lnTo>
                <a:close/>
              </a:path>
            </a:pathLst>
          </a:custGeom>
          <a:solidFill>
            <a:srgbClr val="10B981"/>
          </a:solidFill>
          <a:ln/>
        </p:spPr>
      </p:sp>
      <p:sp>
        <p:nvSpPr>
          <p:cNvPr id="39" name="Shape 37"/>
          <p:cNvSpPr/>
          <p:nvPr/>
        </p:nvSpPr>
        <p:spPr>
          <a:xfrm>
            <a:off x="6457706" y="4141247"/>
            <a:ext cx="5202798" cy="1020802"/>
          </a:xfrm>
          <a:custGeom>
            <a:avLst/>
            <a:gdLst/>
            <a:ahLst/>
            <a:cxnLst/>
            <a:rect l="l" t="t" r="r" b="b"/>
            <a:pathLst>
              <a:path w="5202798" h="1020802">
                <a:moveTo>
                  <a:pt x="65862" y="0"/>
                </a:moveTo>
                <a:lnTo>
                  <a:pt x="5136936" y="0"/>
                </a:lnTo>
                <a:cubicBezTo>
                  <a:pt x="5173311" y="0"/>
                  <a:pt x="5202798" y="29487"/>
                  <a:pt x="5202798" y="65862"/>
                </a:cubicBezTo>
                <a:lnTo>
                  <a:pt x="5202798" y="954940"/>
                </a:lnTo>
                <a:cubicBezTo>
                  <a:pt x="5202798" y="991315"/>
                  <a:pt x="5173311" y="1020802"/>
                  <a:pt x="5136936" y="1020802"/>
                </a:cubicBezTo>
                <a:lnTo>
                  <a:pt x="65862" y="1020802"/>
                </a:lnTo>
                <a:cubicBezTo>
                  <a:pt x="29487" y="1020802"/>
                  <a:pt x="0" y="991315"/>
                  <a:pt x="0" y="954940"/>
                </a:cubicBezTo>
                <a:lnTo>
                  <a:pt x="0" y="65862"/>
                </a:lnTo>
                <a:cubicBezTo>
                  <a:pt x="0" y="29512"/>
                  <a:pt x="29512" y="0"/>
                  <a:pt x="65862" y="0"/>
                </a:cubicBezTo>
                <a:close/>
              </a:path>
            </a:pathLst>
          </a:custGeom>
          <a:solidFill>
            <a:srgbClr val="111827"/>
          </a:solidFill>
          <a:ln/>
        </p:spPr>
      </p:sp>
      <p:sp>
        <p:nvSpPr>
          <p:cNvPr id="40" name="Shape 38"/>
          <p:cNvSpPr/>
          <p:nvPr/>
        </p:nvSpPr>
        <p:spPr>
          <a:xfrm>
            <a:off x="6622351" y="4305892"/>
            <a:ext cx="395149" cy="395149"/>
          </a:xfrm>
          <a:custGeom>
            <a:avLst/>
            <a:gdLst/>
            <a:ahLst/>
            <a:cxnLst/>
            <a:rect l="l" t="t" r="r" b="b"/>
            <a:pathLst>
              <a:path w="395149" h="395149">
                <a:moveTo>
                  <a:pt x="197575" y="0"/>
                </a:moveTo>
                <a:lnTo>
                  <a:pt x="197575" y="0"/>
                </a:lnTo>
                <a:cubicBezTo>
                  <a:pt x="306692" y="0"/>
                  <a:pt x="395149" y="88457"/>
                  <a:pt x="395149" y="197575"/>
                </a:cubicBezTo>
                <a:lnTo>
                  <a:pt x="395149" y="197575"/>
                </a:lnTo>
                <a:cubicBezTo>
                  <a:pt x="395149" y="306692"/>
                  <a:pt x="306692" y="395149"/>
                  <a:pt x="197575" y="395149"/>
                </a:cubicBezTo>
                <a:lnTo>
                  <a:pt x="197575" y="395149"/>
                </a:lnTo>
                <a:cubicBezTo>
                  <a:pt x="88457" y="395149"/>
                  <a:pt x="0" y="306692"/>
                  <a:pt x="0" y="197575"/>
                </a:cubicBezTo>
                <a:lnTo>
                  <a:pt x="0" y="197575"/>
                </a:lnTo>
                <a:cubicBezTo>
                  <a:pt x="0" y="88457"/>
                  <a:pt x="88457" y="0"/>
                  <a:pt x="197575" y="0"/>
                </a:cubicBezTo>
                <a:close/>
              </a:path>
            </a:pathLst>
          </a:custGeom>
          <a:solidFill>
            <a:srgbClr val="10B981">
              <a:alpha val="20000"/>
            </a:srgbClr>
          </a:solidFill>
          <a:ln/>
        </p:spPr>
      </p:sp>
      <p:sp>
        <p:nvSpPr>
          <p:cNvPr id="41" name="Text 39"/>
          <p:cNvSpPr/>
          <p:nvPr/>
        </p:nvSpPr>
        <p:spPr>
          <a:xfrm>
            <a:off x="6688209" y="4388215"/>
            <a:ext cx="345756" cy="230504"/>
          </a:xfrm>
          <a:prstGeom prst="rect">
            <a:avLst/>
          </a:prstGeom>
          <a:noFill/>
          <a:ln/>
        </p:spPr>
        <p:txBody>
          <a:bodyPr wrap="square" lIns="0" tIns="0" rIns="0" bIns="0" rtlCol="0" anchor="ctr"/>
          <a:lstStyle/>
          <a:p>
            <a:pPr>
              <a:lnSpc>
                <a:spcPct val="120000"/>
              </a:lnSpc>
            </a:pPr>
            <a:r>
              <a:rPr lang="en-US" sz="1296" b="1" dirty="0">
                <a:solidFill>
                  <a:srgbClr val="10B981"/>
                </a:solidFill>
                <a:latin typeface="Quattrocento Sans" pitchFamily="34" charset="0"/>
                <a:ea typeface="Quattrocento Sans" pitchFamily="34" charset="-122"/>
                <a:cs typeface="Quattrocento Sans" pitchFamily="34" charset="-120"/>
              </a:rPr>
              <a:t>W2</a:t>
            </a:r>
            <a:endParaRPr lang="en-US" sz="1600" dirty="0"/>
          </a:p>
        </p:txBody>
      </p:sp>
      <p:sp>
        <p:nvSpPr>
          <p:cNvPr id="42" name="Text 40"/>
          <p:cNvSpPr/>
          <p:nvPr/>
        </p:nvSpPr>
        <p:spPr>
          <a:xfrm>
            <a:off x="7149217" y="4305892"/>
            <a:ext cx="1078428" cy="230504"/>
          </a:xfrm>
          <a:prstGeom prst="rect">
            <a:avLst/>
          </a:prstGeom>
          <a:noFill/>
          <a:ln/>
        </p:spPr>
        <p:txBody>
          <a:bodyPr wrap="square" lIns="0" tIns="0" rIns="0" bIns="0" rtlCol="0" anchor="ctr"/>
          <a:lstStyle/>
          <a:p>
            <a:pPr>
              <a:lnSpc>
                <a:spcPct val="130000"/>
              </a:lnSpc>
            </a:pPr>
            <a:r>
              <a:rPr lang="en-US" sz="1167" b="1" dirty="0">
                <a:solidFill>
                  <a:srgbClr val="F9FAFB"/>
                </a:solidFill>
                <a:latin typeface="Quattrocento Sans" pitchFamily="34" charset="0"/>
                <a:ea typeface="Quattrocento Sans" pitchFamily="34" charset="-122"/>
                <a:cs typeface="Quattrocento Sans" pitchFamily="34" charset="-120"/>
              </a:rPr>
              <a:t>Week 2</a:t>
            </a:r>
            <a:endParaRPr lang="en-US" sz="1600" dirty="0"/>
          </a:p>
        </p:txBody>
      </p:sp>
      <p:sp>
        <p:nvSpPr>
          <p:cNvPr id="43" name="Text 41"/>
          <p:cNvSpPr/>
          <p:nvPr/>
        </p:nvSpPr>
        <p:spPr>
          <a:xfrm>
            <a:off x="7149217" y="4549568"/>
            <a:ext cx="1065256" cy="131716"/>
          </a:xfrm>
          <a:prstGeom prst="rect">
            <a:avLst/>
          </a:prstGeom>
          <a:noFill/>
          <a:ln/>
        </p:spPr>
        <p:txBody>
          <a:bodyPr wrap="square" lIns="0" tIns="0" rIns="0" bIns="0" rtlCol="0" anchor="ctr"/>
          <a:lstStyle/>
          <a:p>
            <a:pPr>
              <a:lnSpc>
                <a:spcPct val="120000"/>
              </a:lnSpc>
            </a:pPr>
            <a:r>
              <a:rPr lang="en-US" sz="907" b="1" dirty="0">
                <a:solidFill>
                  <a:srgbClr val="10B981"/>
                </a:solidFill>
                <a:latin typeface="Quattrocento Sans" pitchFamily="34" charset="0"/>
                <a:ea typeface="Quattrocento Sans" pitchFamily="34" charset="-122"/>
                <a:cs typeface="Quattrocento Sans" pitchFamily="34" charset="-120"/>
              </a:rPr>
              <a:t>SAME 10,000 users</a:t>
            </a:r>
            <a:endParaRPr lang="en-US" sz="1600" dirty="0"/>
          </a:p>
        </p:txBody>
      </p:sp>
      <p:sp>
        <p:nvSpPr>
          <p:cNvPr id="44" name="Shape 42"/>
          <p:cNvSpPr/>
          <p:nvPr/>
        </p:nvSpPr>
        <p:spPr>
          <a:xfrm>
            <a:off x="6638816" y="4832758"/>
            <a:ext cx="131716" cy="131716"/>
          </a:xfrm>
          <a:custGeom>
            <a:avLst/>
            <a:gdLst/>
            <a:ahLst/>
            <a:cxnLst/>
            <a:rect l="l" t="t" r="r" b="b"/>
            <a:pathLst>
              <a:path w="131716" h="131716">
                <a:moveTo>
                  <a:pt x="129298" y="71672"/>
                </a:moveTo>
                <a:cubicBezTo>
                  <a:pt x="132514" y="68457"/>
                  <a:pt x="132514" y="63234"/>
                  <a:pt x="129298" y="60018"/>
                </a:cubicBezTo>
                <a:lnTo>
                  <a:pt x="88137" y="18857"/>
                </a:lnTo>
                <a:cubicBezTo>
                  <a:pt x="84921" y="15641"/>
                  <a:pt x="79699" y="15641"/>
                  <a:pt x="76483" y="18857"/>
                </a:cubicBezTo>
                <a:cubicBezTo>
                  <a:pt x="73267" y="22073"/>
                  <a:pt x="73267" y="27295"/>
                  <a:pt x="76483" y="30511"/>
                </a:cubicBezTo>
                <a:lnTo>
                  <a:pt x="103598" y="57626"/>
                </a:lnTo>
                <a:lnTo>
                  <a:pt x="8232" y="57626"/>
                </a:lnTo>
                <a:cubicBezTo>
                  <a:pt x="3679" y="57626"/>
                  <a:pt x="0" y="61305"/>
                  <a:pt x="0" y="65858"/>
                </a:cubicBezTo>
                <a:cubicBezTo>
                  <a:pt x="0" y="70412"/>
                  <a:pt x="3679" y="74090"/>
                  <a:pt x="8232" y="74090"/>
                </a:cubicBezTo>
                <a:lnTo>
                  <a:pt x="103598" y="74090"/>
                </a:lnTo>
                <a:lnTo>
                  <a:pt x="76483" y="101206"/>
                </a:lnTo>
                <a:cubicBezTo>
                  <a:pt x="73267" y="104421"/>
                  <a:pt x="73267" y="109644"/>
                  <a:pt x="76483" y="112859"/>
                </a:cubicBezTo>
                <a:cubicBezTo>
                  <a:pt x="79699" y="116075"/>
                  <a:pt x="84921" y="116075"/>
                  <a:pt x="88137" y="112859"/>
                </a:cubicBezTo>
                <a:lnTo>
                  <a:pt x="129298" y="71698"/>
                </a:lnTo>
                <a:close/>
              </a:path>
            </a:pathLst>
          </a:custGeom>
          <a:solidFill>
            <a:srgbClr val="10B981"/>
          </a:solidFill>
          <a:ln/>
        </p:spPr>
      </p:sp>
      <p:sp>
        <p:nvSpPr>
          <p:cNvPr id="45" name="Text 43"/>
          <p:cNvSpPr/>
          <p:nvPr/>
        </p:nvSpPr>
        <p:spPr>
          <a:xfrm>
            <a:off x="6829687" y="4799829"/>
            <a:ext cx="4732030" cy="197575"/>
          </a:xfrm>
          <a:prstGeom prst="rect">
            <a:avLst/>
          </a:prstGeom>
          <a:noFill/>
          <a:ln/>
        </p:spPr>
        <p:txBody>
          <a:bodyPr wrap="square" lIns="0" tIns="0" rIns="0" bIns="0" rtlCol="0" anchor="ctr"/>
          <a:lstStyle/>
          <a:p>
            <a:pPr>
              <a:lnSpc>
                <a:spcPct val="130000"/>
              </a:lnSpc>
            </a:pPr>
            <a:r>
              <a:rPr lang="en-US" sz="1037" dirty="0">
                <a:solidFill>
                  <a:srgbClr val="F9FAFB">
                    <a:alpha val="80000"/>
                  </a:srgbClr>
                </a:solidFill>
                <a:latin typeface="Quattrocento Sans" pitchFamily="34" charset="0"/>
                <a:ea typeface="Quattrocento Sans" pitchFamily="34" charset="-122"/>
                <a:cs typeface="Quattrocento Sans" pitchFamily="34" charset="-120"/>
              </a:rPr>
              <a:t>Gets Algorithm V2</a:t>
            </a:r>
            <a:endParaRPr lang="en-US" sz="1600" dirty="0"/>
          </a:p>
        </p:txBody>
      </p:sp>
      <p:sp>
        <p:nvSpPr>
          <p:cNvPr id="46" name="Shape 44"/>
          <p:cNvSpPr/>
          <p:nvPr/>
        </p:nvSpPr>
        <p:spPr>
          <a:xfrm>
            <a:off x="6460999" y="5671422"/>
            <a:ext cx="5201152" cy="665168"/>
          </a:xfrm>
          <a:custGeom>
            <a:avLst/>
            <a:gdLst/>
            <a:ahLst/>
            <a:cxnLst/>
            <a:rect l="l" t="t" r="r" b="b"/>
            <a:pathLst>
              <a:path w="5201152" h="665168">
                <a:moveTo>
                  <a:pt x="65858" y="0"/>
                </a:moveTo>
                <a:lnTo>
                  <a:pt x="5135293" y="0"/>
                </a:lnTo>
                <a:cubicBezTo>
                  <a:pt x="5171666" y="0"/>
                  <a:pt x="5201152" y="29486"/>
                  <a:pt x="5201152" y="65858"/>
                </a:cubicBezTo>
                <a:lnTo>
                  <a:pt x="5201152" y="599310"/>
                </a:lnTo>
                <a:cubicBezTo>
                  <a:pt x="5201152" y="635682"/>
                  <a:pt x="5171666" y="665168"/>
                  <a:pt x="5135293" y="665168"/>
                </a:cubicBezTo>
                <a:lnTo>
                  <a:pt x="65858" y="665168"/>
                </a:lnTo>
                <a:cubicBezTo>
                  <a:pt x="29510" y="665168"/>
                  <a:pt x="0" y="635658"/>
                  <a:pt x="0" y="599310"/>
                </a:cubicBezTo>
                <a:lnTo>
                  <a:pt x="0" y="65858"/>
                </a:lnTo>
                <a:cubicBezTo>
                  <a:pt x="0" y="29510"/>
                  <a:pt x="29510" y="0"/>
                  <a:pt x="65858" y="0"/>
                </a:cubicBezTo>
                <a:close/>
              </a:path>
            </a:pathLst>
          </a:custGeom>
          <a:solidFill>
            <a:srgbClr val="10B981">
              <a:alpha val="10196"/>
            </a:srgbClr>
          </a:solidFill>
          <a:ln w="10160">
            <a:solidFill>
              <a:srgbClr val="10B981">
                <a:alpha val="30196"/>
              </a:srgbClr>
            </a:solidFill>
            <a:prstDash val="solid"/>
          </a:ln>
        </p:spPr>
      </p:sp>
      <p:sp>
        <p:nvSpPr>
          <p:cNvPr id="47" name="Text 45"/>
          <p:cNvSpPr/>
          <p:nvPr/>
        </p:nvSpPr>
        <p:spPr>
          <a:xfrm>
            <a:off x="6596008" y="5806429"/>
            <a:ext cx="4996991" cy="395149"/>
          </a:xfrm>
          <a:prstGeom prst="rect">
            <a:avLst/>
          </a:prstGeom>
          <a:noFill/>
          <a:ln/>
        </p:spPr>
        <p:txBody>
          <a:bodyPr wrap="square" lIns="0" tIns="0" rIns="0" bIns="0" rtlCol="0" anchor="ctr"/>
          <a:lstStyle/>
          <a:p>
            <a:pPr>
              <a:lnSpc>
                <a:spcPct val="130000"/>
              </a:lnSpc>
            </a:pPr>
            <a:r>
              <a:rPr lang="en-US" sz="1037" b="1" dirty="0">
                <a:solidFill>
                  <a:srgbClr val="10B981"/>
                </a:solidFill>
                <a:latin typeface="Quattrocento Sans" pitchFamily="34" charset="0"/>
                <a:ea typeface="Quattrocento Sans" pitchFamily="34" charset="-122"/>
                <a:cs typeface="Quattrocento Sans" pitchFamily="34" charset="-120"/>
              </a:rPr>
              <a:t>Solution:</a:t>
            </a:r>
            <a:pPr>
              <a:lnSpc>
                <a:spcPct val="130000"/>
              </a:lnSpc>
            </a:pPr>
            <a:r>
              <a:rPr lang="en-US" sz="1037" dirty="0">
                <a:solidFill>
                  <a:srgbClr val="F9FAFB">
                    <a:alpha val="80000"/>
                  </a:srgbClr>
                </a:solidFill>
                <a:latin typeface="Quattrocento Sans" pitchFamily="34" charset="0"/>
                <a:ea typeface="Quattrocento Sans" pitchFamily="34" charset="-122"/>
                <a:cs typeface="Quattrocento Sans" pitchFamily="34" charset="-120"/>
              </a:rPr>
              <a:t> Each user is their own control, eliminating individual differences and isolating algorithm effect</a:t>
            </a:r>
            <a:endParaRPr lang="en-US" sz="1600" dirty="0"/>
          </a:p>
        </p:txBody>
      </p:sp>
      <p:sp>
        <p:nvSpPr>
          <p:cNvPr id="48" name="Shape 46"/>
          <p:cNvSpPr/>
          <p:nvPr/>
        </p:nvSpPr>
        <p:spPr>
          <a:xfrm>
            <a:off x="332584" y="6738325"/>
            <a:ext cx="11523539" cy="862742"/>
          </a:xfrm>
          <a:custGeom>
            <a:avLst/>
            <a:gdLst/>
            <a:ahLst/>
            <a:cxnLst/>
            <a:rect l="l" t="t" r="r" b="b"/>
            <a:pathLst>
              <a:path w="11523539" h="862742">
                <a:moveTo>
                  <a:pt x="65862" y="0"/>
                </a:moveTo>
                <a:lnTo>
                  <a:pt x="11457677" y="0"/>
                </a:lnTo>
                <a:cubicBezTo>
                  <a:pt x="11494052" y="0"/>
                  <a:pt x="11523539" y="29487"/>
                  <a:pt x="11523539" y="65862"/>
                </a:cubicBezTo>
                <a:lnTo>
                  <a:pt x="11523539" y="796881"/>
                </a:lnTo>
                <a:cubicBezTo>
                  <a:pt x="11523539" y="833255"/>
                  <a:pt x="11494052" y="862742"/>
                  <a:pt x="11457677" y="862742"/>
                </a:cubicBezTo>
                <a:lnTo>
                  <a:pt x="65862" y="862742"/>
                </a:lnTo>
                <a:cubicBezTo>
                  <a:pt x="29487" y="862742"/>
                  <a:pt x="0" y="833255"/>
                  <a:pt x="0" y="796881"/>
                </a:cubicBezTo>
                <a:lnTo>
                  <a:pt x="0" y="65862"/>
                </a:lnTo>
                <a:cubicBezTo>
                  <a:pt x="0" y="29487"/>
                  <a:pt x="29487" y="0"/>
                  <a:pt x="65862" y="0"/>
                </a:cubicBezTo>
                <a:close/>
              </a:path>
            </a:pathLst>
          </a:custGeom>
          <a:solidFill>
            <a:srgbClr val="F97316">
              <a:alpha val="10196"/>
            </a:srgbClr>
          </a:solidFill>
          <a:ln w="10160">
            <a:solidFill>
              <a:srgbClr val="F97316">
                <a:alpha val="30196"/>
              </a:srgbClr>
            </a:solidFill>
            <a:prstDash val="solid"/>
          </a:ln>
        </p:spPr>
      </p:sp>
      <p:sp>
        <p:nvSpPr>
          <p:cNvPr id="49" name="Text 47"/>
          <p:cNvSpPr/>
          <p:nvPr/>
        </p:nvSpPr>
        <p:spPr>
          <a:xfrm>
            <a:off x="1304507" y="6906262"/>
            <a:ext cx="1210144" cy="164646"/>
          </a:xfrm>
          <a:prstGeom prst="rect">
            <a:avLst/>
          </a:prstGeom>
          <a:noFill/>
          <a:ln/>
        </p:spPr>
        <p:txBody>
          <a:bodyPr wrap="square" lIns="0" tIns="0" rIns="0" bIns="0" rtlCol="0" anchor="ctr"/>
          <a:lstStyle/>
          <a:p>
            <a:pPr algn="ctr">
              <a:lnSpc>
                <a:spcPct val="120000"/>
              </a:lnSpc>
            </a:pPr>
            <a:r>
              <a:rPr lang="en-US" sz="907" dirty="0">
                <a:solidFill>
                  <a:srgbClr val="F9FAFB">
                    <a:alpha val="60000"/>
                  </a:srgbClr>
                </a:solidFill>
                <a:latin typeface="Quattrocento Sans" pitchFamily="34" charset="0"/>
                <a:ea typeface="Quattrocento Sans" pitchFamily="34" charset="-122"/>
                <a:cs typeface="Quattrocento Sans" pitchFamily="34" charset="-120"/>
              </a:rPr>
              <a:t>Sample Size Reduction</a:t>
            </a:r>
            <a:endParaRPr lang="en-US" sz="1600" dirty="0"/>
          </a:p>
        </p:txBody>
      </p:sp>
      <p:sp>
        <p:nvSpPr>
          <p:cNvPr id="50" name="Text 48"/>
          <p:cNvSpPr/>
          <p:nvPr/>
        </p:nvSpPr>
        <p:spPr>
          <a:xfrm>
            <a:off x="1259230" y="7103837"/>
            <a:ext cx="1300700" cy="329291"/>
          </a:xfrm>
          <a:prstGeom prst="rect">
            <a:avLst/>
          </a:prstGeom>
          <a:noFill/>
          <a:ln/>
        </p:spPr>
        <p:txBody>
          <a:bodyPr wrap="square" lIns="0" tIns="0" rIns="0" bIns="0" rtlCol="0" anchor="ctr"/>
          <a:lstStyle/>
          <a:p>
            <a:pPr algn="ctr">
              <a:lnSpc>
                <a:spcPct val="90000"/>
              </a:lnSpc>
            </a:pPr>
            <a:r>
              <a:rPr lang="en-US" sz="2334" b="1" dirty="0">
                <a:solidFill>
                  <a:srgbClr val="F97316"/>
                </a:solidFill>
                <a:latin typeface="Quattrocento Sans" pitchFamily="34" charset="0"/>
                <a:ea typeface="Quattrocento Sans" pitchFamily="34" charset="-122"/>
                <a:cs typeface="Quattrocento Sans" pitchFamily="34" charset="-120"/>
              </a:rPr>
              <a:t>5×</a:t>
            </a:r>
            <a:endParaRPr lang="en-US" sz="1600" dirty="0"/>
          </a:p>
        </p:txBody>
      </p:sp>
      <p:sp>
        <p:nvSpPr>
          <p:cNvPr id="51" name="Shape 49"/>
          <p:cNvSpPr/>
          <p:nvPr/>
        </p:nvSpPr>
        <p:spPr>
          <a:xfrm>
            <a:off x="4151537" y="6972120"/>
            <a:ext cx="8232" cy="395149"/>
          </a:xfrm>
          <a:custGeom>
            <a:avLst/>
            <a:gdLst/>
            <a:ahLst/>
            <a:cxnLst/>
            <a:rect l="l" t="t" r="r" b="b"/>
            <a:pathLst>
              <a:path w="8232" h="395149">
                <a:moveTo>
                  <a:pt x="0" y="0"/>
                </a:moveTo>
                <a:lnTo>
                  <a:pt x="8232" y="0"/>
                </a:lnTo>
                <a:lnTo>
                  <a:pt x="8232" y="395149"/>
                </a:lnTo>
                <a:lnTo>
                  <a:pt x="0" y="395149"/>
                </a:lnTo>
                <a:lnTo>
                  <a:pt x="0" y="0"/>
                </a:lnTo>
                <a:close/>
              </a:path>
            </a:pathLst>
          </a:custGeom>
          <a:solidFill>
            <a:srgbClr val="F9FAFB">
              <a:alpha val="20000"/>
            </a:srgbClr>
          </a:solidFill>
          <a:ln/>
        </p:spPr>
      </p:sp>
      <p:sp>
        <p:nvSpPr>
          <p:cNvPr id="52" name="Text 50"/>
          <p:cNvSpPr/>
          <p:nvPr/>
        </p:nvSpPr>
        <p:spPr>
          <a:xfrm>
            <a:off x="5796654" y="6906262"/>
            <a:ext cx="1094893" cy="164646"/>
          </a:xfrm>
          <a:prstGeom prst="rect">
            <a:avLst/>
          </a:prstGeom>
          <a:noFill/>
          <a:ln/>
        </p:spPr>
        <p:txBody>
          <a:bodyPr wrap="square" lIns="0" tIns="0" rIns="0" bIns="0" rtlCol="0" anchor="ctr"/>
          <a:lstStyle/>
          <a:p>
            <a:pPr algn="ctr">
              <a:lnSpc>
                <a:spcPct val="120000"/>
              </a:lnSpc>
            </a:pPr>
            <a:r>
              <a:rPr lang="en-US" sz="907" dirty="0">
                <a:solidFill>
                  <a:srgbClr val="F9FAFB">
                    <a:alpha val="60000"/>
                  </a:srgbClr>
                </a:solidFill>
                <a:latin typeface="Quattrocento Sans" pitchFamily="34" charset="0"/>
                <a:ea typeface="Quattrocento Sans" pitchFamily="34" charset="-122"/>
                <a:cs typeface="Quattrocento Sans" pitchFamily="34" charset="-120"/>
              </a:rPr>
              <a:t>Time Savings</a:t>
            </a:r>
            <a:endParaRPr lang="en-US" sz="1600" dirty="0"/>
          </a:p>
        </p:txBody>
      </p:sp>
      <p:sp>
        <p:nvSpPr>
          <p:cNvPr id="53" name="Text 51"/>
          <p:cNvSpPr/>
          <p:nvPr/>
        </p:nvSpPr>
        <p:spPr>
          <a:xfrm>
            <a:off x="5751376" y="7103837"/>
            <a:ext cx="1185448" cy="329291"/>
          </a:xfrm>
          <a:prstGeom prst="rect">
            <a:avLst/>
          </a:prstGeom>
          <a:noFill/>
          <a:ln/>
        </p:spPr>
        <p:txBody>
          <a:bodyPr wrap="square" lIns="0" tIns="0" rIns="0" bIns="0" rtlCol="0" anchor="ctr"/>
          <a:lstStyle/>
          <a:p>
            <a:pPr algn="ctr">
              <a:lnSpc>
                <a:spcPct val="90000"/>
              </a:lnSpc>
            </a:pPr>
            <a:r>
              <a:rPr lang="en-US" sz="2334" b="1" dirty="0">
                <a:solidFill>
                  <a:srgbClr val="F97316"/>
                </a:solidFill>
                <a:latin typeface="Quattrocento Sans" pitchFamily="34" charset="0"/>
                <a:ea typeface="Quattrocento Sans" pitchFamily="34" charset="-122"/>
                <a:cs typeface="Quattrocento Sans" pitchFamily="34" charset="-120"/>
              </a:rPr>
              <a:t>4 weeks</a:t>
            </a:r>
            <a:endParaRPr lang="en-US" sz="1600" dirty="0"/>
          </a:p>
        </p:txBody>
      </p:sp>
      <p:sp>
        <p:nvSpPr>
          <p:cNvPr id="54" name="Shape 52"/>
          <p:cNvSpPr/>
          <p:nvPr/>
        </p:nvSpPr>
        <p:spPr>
          <a:xfrm>
            <a:off x="8531725" y="6972120"/>
            <a:ext cx="8232" cy="395149"/>
          </a:xfrm>
          <a:custGeom>
            <a:avLst/>
            <a:gdLst/>
            <a:ahLst/>
            <a:cxnLst/>
            <a:rect l="l" t="t" r="r" b="b"/>
            <a:pathLst>
              <a:path w="8232" h="395149">
                <a:moveTo>
                  <a:pt x="0" y="0"/>
                </a:moveTo>
                <a:lnTo>
                  <a:pt x="8232" y="0"/>
                </a:lnTo>
                <a:lnTo>
                  <a:pt x="8232" y="395149"/>
                </a:lnTo>
                <a:lnTo>
                  <a:pt x="0" y="395149"/>
                </a:lnTo>
                <a:lnTo>
                  <a:pt x="0" y="0"/>
                </a:lnTo>
                <a:close/>
              </a:path>
            </a:pathLst>
          </a:custGeom>
          <a:solidFill>
            <a:srgbClr val="F9FAFB">
              <a:alpha val="20000"/>
            </a:srgbClr>
          </a:solidFill>
          <a:ln/>
        </p:spPr>
      </p:sp>
      <p:sp>
        <p:nvSpPr>
          <p:cNvPr id="55" name="Text 53"/>
          <p:cNvSpPr/>
          <p:nvPr/>
        </p:nvSpPr>
        <p:spPr>
          <a:xfrm>
            <a:off x="10176842" y="6906262"/>
            <a:ext cx="707976" cy="164646"/>
          </a:xfrm>
          <a:prstGeom prst="rect">
            <a:avLst/>
          </a:prstGeom>
          <a:noFill/>
          <a:ln/>
        </p:spPr>
        <p:txBody>
          <a:bodyPr wrap="square" lIns="0" tIns="0" rIns="0" bIns="0" rtlCol="0" anchor="ctr"/>
          <a:lstStyle/>
          <a:p>
            <a:pPr algn="ctr">
              <a:lnSpc>
                <a:spcPct val="120000"/>
              </a:lnSpc>
            </a:pPr>
            <a:r>
              <a:rPr lang="en-US" sz="907" dirty="0">
                <a:solidFill>
                  <a:srgbClr val="F9FAFB">
                    <a:alpha val="60000"/>
                  </a:srgbClr>
                </a:solidFill>
                <a:latin typeface="Quattrocento Sans" pitchFamily="34" charset="0"/>
                <a:ea typeface="Quattrocento Sans" pitchFamily="34" charset="-122"/>
                <a:cs typeface="Quattrocento Sans" pitchFamily="34" charset="-120"/>
              </a:rPr>
              <a:t>Cost Savings</a:t>
            </a:r>
            <a:endParaRPr lang="en-US" sz="1600" dirty="0"/>
          </a:p>
        </p:txBody>
      </p:sp>
      <p:sp>
        <p:nvSpPr>
          <p:cNvPr id="56" name="Text 54"/>
          <p:cNvSpPr/>
          <p:nvPr/>
        </p:nvSpPr>
        <p:spPr>
          <a:xfrm>
            <a:off x="10131565" y="7103837"/>
            <a:ext cx="798531" cy="329291"/>
          </a:xfrm>
          <a:prstGeom prst="rect">
            <a:avLst/>
          </a:prstGeom>
          <a:noFill/>
          <a:ln/>
        </p:spPr>
        <p:txBody>
          <a:bodyPr wrap="square" lIns="0" tIns="0" rIns="0" bIns="0" rtlCol="0" anchor="ctr"/>
          <a:lstStyle/>
          <a:p>
            <a:pPr algn="ctr">
              <a:lnSpc>
                <a:spcPct val="90000"/>
              </a:lnSpc>
            </a:pPr>
            <a:r>
              <a:rPr lang="en-US" sz="2334" b="1" dirty="0">
                <a:solidFill>
                  <a:srgbClr val="F97316"/>
                </a:solidFill>
                <a:latin typeface="Quattrocento Sans" pitchFamily="34" charset="0"/>
                <a:ea typeface="Quattrocento Sans" pitchFamily="34" charset="-122"/>
                <a:cs typeface="Quattrocento Sans" pitchFamily="34" charset="-120"/>
              </a:rPr>
              <a:t>$2M</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53" kern="0" dirty="0">
                <a:solidFill>
                  <a:srgbClr val="F97316"/>
                </a:solidFill>
                <a:latin typeface="Quattrocento Sans" pitchFamily="34" charset="0"/>
                <a:ea typeface="Quattrocento Sans" pitchFamily="34" charset="-122"/>
                <a:cs typeface="Quattrocento Sans" pitchFamily="34" charset="-120"/>
              </a:rPr>
              <a:t>STATISTICAL OUTCOMES</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F9FAFB"/>
                </a:solidFill>
                <a:latin typeface="Liter" pitchFamily="34" charset="0"/>
                <a:ea typeface="Liter" pitchFamily="34" charset="-122"/>
                <a:cs typeface="Liter" pitchFamily="34" charset="-120"/>
              </a:rPr>
              <a:t>The Results</a:t>
            </a:r>
            <a:endParaRPr lang="en-US" sz="1600" dirty="0"/>
          </a:p>
        </p:txBody>
      </p:sp>
      <p:sp>
        <p:nvSpPr>
          <p:cNvPr id="4" name="Shape 2"/>
          <p:cNvSpPr/>
          <p:nvPr/>
        </p:nvSpPr>
        <p:spPr>
          <a:xfrm>
            <a:off x="409575" y="1371479"/>
            <a:ext cx="228600" cy="228600"/>
          </a:xfrm>
          <a:custGeom>
            <a:avLst/>
            <a:gdLst/>
            <a:ahLst/>
            <a:cxnLst/>
            <a:rect l="l" t="t" r="r" b="b"/>
            <a:pathLst>
              <a:path w="228600" h="228600">
                <a:moveTo>
                  <a:pt x="14288" y="14288"/>
                </a:moveTo>
                <a:cubicBezTo>
                  <a:pt x="22190" y="14288"/>
                  <a:pt x="28575" y="20672"/>
                  <a:pt x="28575" y="28575"/>
                </a:cubicBezTo>
                <a:lnTo>
                  <a:pt x="28575" y="178594"/>
                </a:lnTo>
                <a:cubicBezTo>
                  <a:pt x="28575" y="182523"/>
                  <a:pt x="31790" y="185738"/>
                  <a:pt x="35719" y="185738"/>
                </a:cubicBezTo>
                <a:lnTo>
                  <a:pt x="214313" y="185738"/>
                </a:lnTo>
                <a:cubicBezTo>
                  <a:pt x="222215" y="185738"/>
                  <a:pt x="228600" y="192122"/>
                  <a:pt x="228600" y="200025"/>
                </a:cubicBezTo>
                <a:cubicBezTo>
                  <a:pt x="228600" y="207928"/>
                  <a:pt x="222215" y="214313"/>
                  <a:pt x="214313" y="214313"/>
                </a:cubicBezTo>
                <a:lnTo>
                  <a:pt x="35719" y="214313"/>
                </a:lnTo>
                <a:cubicBezTo>
                  <a:pt x="15984" y="214313"/>
                  <a:pt x="0" y="198328"/>
                  <a:pt x="0" y="178594"/>
                </a:cubicBezTo>
                <a:lnTo>
                  <a:pt x="0" y="28575"/>
                </a:lnTo>
                <a:cubicBezTo>
                  <a:pt x="0" y="20672"/>
                  <a:pt x="6385" y="14288"/>
                  <a:pt x="14288" y="14288"/>
                </a:cubicBezTo>
                <a:close/>
                <a:moveTo>
                  <a:pt x="57150" y="42863"/>
                </a:moveTo>
                <a:cubicBezTo>
                  <a:pt x="57150" y="34960"/>
                  <a:pt x="63535" y="28575"/>
                  <a:pt x="71438" y="28575"/>
                </a:cubicBezTo>
                <a:lnTo>
                  <a:pt x="157163" y="28575"/>
                </a:lnTo>
                <a:cubicBezTo>
                  <a:pt x="165065" y="28575"/>
                  <a:pt x="171450" y="34960"/>
                  <a:pt x="171450" y="42863"/>
                </a:cubicBezTo>
                <a:cubicBezTo>
                  <a:pt x="171450" y="50765"/>
                  <a:pt x="165065" y="57150"/>
                  <a:pt x="157163" y="57150"/>
                </a:cubicBezTo>
                <a:lnTo>
                  <a:pt x="71438" y="57150"/>
                </a:lnTo>
                <a:cubicBezTo>
                  <a:pt x="63535" y="57150"/>
                  <a:pt x="57150" y="50765"/>
                  <a:pt x="57150" y="42863"/>
                </a:cubicBezTo>
                <a:close/>
                <a:moveTo>
                  <a:pt x="71438" y="78581"/>
                </a:moveTo>
                <a:lnTo>
                  <a:pt x="128588" y="78581"/>
                </a:lnTo>
                <a:cubicBezTo>
                  <a:pt x="136490" y="78581"/>
                  <a:pt x="142875" y="84966"/>
                  <a:pt x="142875" y="92869"/>
                </a:cubicBezTo>
                <a:cubicBezTo>
                  <a:pt x="142875" y="100772"/>
                  <a:pt x="136490" y="107156"/>
                  <a:pt x="128588" y="107156"/>
                </a:cubicBezTo>
                <a:lnTo>
                  <a:pt x="71438" y="107156"/>
                </a:lnTo>
                <a:cubicBezTo>
                  <a:pt x="63535" y="107156"/>
                  <a:pt x="57150" y="100772"/>
                  <a:pt x="57150" y="92869"/>
                </a:cubicBezTo>
                <a:cubicBezTo>
                  <a:pt x="57150" y="84966"/>
                  <a:pt x="63535" y="78581"/>
                  <a:pt x="71438" y="78581"/>
                </a:cubicBezTo>
                <a:close/>
                <a:moveTo>
                  <a:pt x="71438" y="128588"/>
                </a:moveTo>
                <a:lnTo>
                  <a:pt x="185738" y="128588"/>
                </a:lnTo>
                <a:cubicBezTo>
                  <a:pt x="193640" y="128588"/>
                  <a:pt x="200025" y="134972"/>
                  <a:pt x="200025" y="142875"/>
                </a:cubicBezTo>
                <a:cubicBezTo>
                  <a:pt x="200025" y="150778"/>
                  <a:pt x="193640" y="157163"/>
                  <a:pt x="185738" y="157163"/>
                </a:cubicBezTo>
                <a:lnTo>
                  <a:pt x="71438" y="157163"/>
                </a:lnTo>
                <a:cubicBezTo>
                  <a:pt x="63535" y="157163"/>
                  <a:pt x="57150" y="150778"/>
                  <a:pt x="57150" y="142875"/>
                </a:cubicBezTo>
                <a:cubicBezTo>
                  <a:pt x="57150" y="134972"/>
                  <a:pt x="63535" y="128588"/>
                  <a:pt x="71438" y="128588"/>
                </a:cubicBezTo>
                <a:close/>
              </a:path>
            </a:pathLst>
          </a:custGeom>
          <a:solidFill>
            <a:srgbClr val="F97316"/>
          </a:solidFill>
          <a:ln/>
        </p:spPr>
      </p:sp>
      <p:sp>
        <p:nvSpPr>
          <p:cNvPr id="5" name="Text 3"/>
          <p:cNvSpPr/>
          <p:nvPr/>
        </p:nvSpPr>
        <p:spPr>
          <a:xfrm>
            <a:off x="666750" y="1333500"/>
            <a:ext cx="5391150"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Liter" pitchFamily="34" charset="0"/>
                <a:ea typeface="Liter" pitchFamily="34" charset="-122"/>
                <a:cs typeface="Liter" pitchFamily="34" charset="-120"/>
              </a:rPr>
              <a:t>Key Metrics</a:t>
            </a:r>
            <a:endParaRPr lang="en-US" sz="1600" dirty="0"/>
          </a:p>
        </p:txBody>
      </p:sp>
      <p:sp>
        <p:nvSpPr>
          <p:cNvPr id="6" name="Shape 4"/>
          <p:cNvSpPr/>
          <p:nvPr/>
        </p:nvSpPr>
        <p:spPr>
          <a:xfrm>
            <a:off x="384810" y="1832489"/>
            <a:ext cx="5551170" cy="3836670"/>
          </a:xfrm>
          <a:custGeom>
            <a:avLst/>
            <a:gdLst/>
            <a:ahLst/>
            <a:cxnLst/>
            <a:rect l="l" t="t" r="r" b="b"/>
            <a:pathLst>
              <a:path w="5551170" h="3836670">
                <a:moveTo>
                  <a:pt x="76196" y="0"/>
                </a:moveTo>
                <a:lnTo>
                  <a:pt x="5474974" y="0"/>
                </a:lnTo>
                <a:cubicBezTo>
                  <a:pt x="5517056" y="0"/>
                  <a:pt x="5551170" y="34114"/>
                  <a:pt x="5551170" y="76196"/>
                </a:cubicBezTo>
                <a:lnTo>
                  <a:pt x="5551170" y="3760474"/>
                </a:lnTo>
                <a:cubicBezTo>
                  <a:pt x="5551170" y="3802556"/>
                  <a:pt x="5517056" y="3836670"/>
                  <a:pt x="5474974" y="3836670"/>
                </a:cubicBezTo>
                <a:lnTo>
                  <a:pt x="76196" y="3836670"/>
                </a:lnTo>
                <a:cubicBezTo>
                  <a:pt x="34114" y="3836670"/>
                  <a:pt x="0" y="3802556"/>
                  <a:pt x="0" y="3760474"/>
                </a:cubicBezTo>
                <a:lnTo>
                  <a:pt x="0" y="76196"/>
                </a:lnTo>
                <a:cubicBezTo>
                  <a:pt x="0" y="34142"/>
                  <a:pt x="34142" y="0"/>
                  <a:pt x="76196" y="0"/>
                </a:cubicBezTo>
                <a:close/>
              </a:path>
            </a:pathLst>
          </a:custGeom>
          <a:solidFill>
            <a:srgbClr val="374151"/>
          </a:solidFill>
          <a:ln w="10160">
            <a:solidFill>
              <a:srgbClr val="4B556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17220" y="2064897"/>
          <a:ext cx="5086350" cy="3371850"/>
        </p:xfrm>
        <a:graphic>
          <a:graphicData uri="http://schemas.openxmlformats.org/drawingml/2006/table">
            <a:tbl>
              <a:tblPr/>
              <a:tblGrid>
                <a:gridCol w="2329263"/>
                <a:gridCol w="2757087"/>
              </a:tblGrid>
              <a:tr h="842963">
                <a:tc>
                  <a:txBody>
                    <a:bodyPr/>
                    <a:lstStyle/>
                    <a:p>
                      <a:r>
                        <a:rPr lang="en-US" sz="1200" u="none" dirty="0">
                          <a:solidFill>
                            <a:srgbClr val="F9FAFB"/>
                          </a:solidFill>
                          <a:latin typeface="微软雅黑" pitchFamily="34" charset="0"/>
                          <a:ea typeface="微软雅黑" pitchFamily="34" charset="-122"/>
                          <a:cs typeface="微软雅黑" pitchFamily="34" charset="-120"/>
                        </a:rPr>
                        <a:t>Mean Improvement</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10160" cap="flat" cmpd="sng" algn="ctr">
                      <a:solidFill>
                        <a:srgbClr val="4B5563"/>
                      </a:solidFill>
                      <a:prstDash val="solid"/>
                      <a:round/>
                      <a:headEnd type="none" w="med" len="med"/>
                      <a:tailEnd type="none" w="med" len="med"/>
                    </a:lnB>
                    <a:solidFill>
                      <a:srgbClr val="FFFFFF">
                        <a:alpha val="0"/>
                      </a:srgbClr>
                    </a:solidFill>
                  </a:tcPr>
                </a:tc>
                <a:tc>
                  <a:txBody>
                    <a:bodyPr/>
                    <a:lstStyle/>
                    <a:p>
                      <a:pPr algn="r"/>
                      <a:r>
                        <a:rPr lang="en-US" sz="1200" u="none" dirty="0">
                          <a:solidFill>
                            <a:srgbClr val="F9FAFB"/>
                          </a:solidFill>
                          <a:latin typeface="微软雅黑" pitchFamily="34" charset="0"/>
                          <a:ea typeface="微软雅黑" pitchFamily="34" charset="-122"/>
                          <a:cs typeface="微软雅黑" pitchFamily="34" charset="-120"/>
                        </a:rPr>
                        <a:t>+0.17 hrs/day</a:t>
                      </a:r>
                      <a:endParaRPr lang="en-US" sz="1200" dirty="0">
                        <a:latin typeface="微软雅黑" charset="0"/>
                        <a:ea typeface="微软雅黑" charset="0"/>
                        <a:cs typeface="微软雅黑" charset="0"/>
                      </a:endParaRPr>
                    </a:p>
                    <a:p>
                      <a:pPr algn="r"/>
                      <a:r>
                        <a:rPr lang="en-US" sz="1200" u="none" dirty="0">
                          <a:solidFill>
                            <a:srgbClr val="F9FAFB"/>
                          </a:solidFill>
                          <a:latin typeface="微软雅黑" pitchFamily="34" charset="0"/>
                          <a:ea typeface="微软雅黑" pitchFamily="34" charset="-122"/>
                          <a:cs typeface="微软雅黑" pitchFamily="34" charset="-120"/>
                        </a:rPr>
                        <a:t>+8.2%</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10160" cap="flat" cmpd="sng" algn="ctr">
                      <a:solidFill>
                        <a:srgbClr val="4B5563"/>
                      </a:solidFill>
                      <a:prstDash val="solid"/>
                      <a:round/>
                      <a:headEnd type="none" w="med" len="med"/>
                      <a:tailEnd type="none" w="med" len="med"/>
                    </a:lnB>
                    <a:solidFill>
                      <a:srgbClr val="FFFFFF">
                        <a:alpha val="0"/>
                      </a:srgbClr>
                    </a:solidFill>
                  </a:tcPr>
                </a:tc>
              </a:tr>
              <a:tr h="842963">
                <a:tc>
                  <a:txBody>
                    <a:bodyPr/>
                    <a:lstStyle/>
                    <a:p>
                      <a:r>
                        <a:rPr lang="en-US" sz="1200" u="none" dirty="0">
                          <a:solidFill>
                            <a:srgbClr val="F9FAFB"/>
                          </a:solidFill>
                          <a:latin typeface="微软雅黑" pitchFamily="34" charset="0"/>
                          <a:ea typeface="微软雅黑" pitchFamily="34" charset="-122"/>
                          <a:cs typeface="微软雅黑" pitchFamily="34" charset="-120"/>
                        </a:rPr>
                        <a:t>Statistical Confidence</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10160" cap="flat" cmpd="sng" algn="ctr">
                      <a:solidFill>
                        <a:srgbClr val="4B5563"/>
                      </a:solidFill>
                      <a:prstDash val="solid"/>
                      <a:round/>
                      <a:headEnd type="none" w="med" len="med"/>
                      <a:tailEnd type="none" w="med" len="med"/>
                    </a:lnB>
                    <a:solidFill>
                      <a:srgbClr val="FFFFFF">
                        <a:alpha val="0"/>
                      </a:srgbClr>
                    </a:solidFill>
                  </a:tcPr>
                </a:tc>
                <a:tc>
                  <a:txBody>
                    <a:bodyPr/>
                    <a:lstStyle/>
                    <a:p>
                      <a:pPr algn="r"/>
                      <a:r>
                        <a:rPr lang="en-US" sz="1200" u="none" dirty="0">
                          <a:solidFill>
                            <a:srgbClr val="F9FAFB"/>
                          </a:solidFill>
                          <a:latin typeface="微软雅黑" pitchFamily="34" charset="0"/>
                          <a:ea typeface="微软雅黑" pitchFamily="34" charset="-122"/>
                          <a:cs typeface="微软雅黑" pitchFamily="34" charset="-120"/>
                        </a:rPr>
                        <a:t>99.99%</a:t>
                      </a:r>
                      <a:endParaRPr lang="en-US" sz="1200" dirty="0">
                        <a:latin typeface="微软雅黑" charset="0"/>
                        <a:ea typeface="微软雅黑" charset="0"/>
                        <a:cs typeface="微软雅黑" charset="0"/>
                      </a:endParaRPr>
                    </a:p>
                    <a:p>
                      <a:pPr algn="r"/>
                      <a:r>
                        <a:rPr lang="en-US" sz="1200" u="none" dirty="0">
                          <a:solidFill>
                            <a:srgbClr val="F9FAFB"/>
                          </a:solidFill>
                          <a:latin typeface="微软雅黑" pitchFamily="34" charset="0"/>
                          <a:ea typeface="微软雅黑" pitchFamily="34" charset="-122"/>
                          <a:cs typeface="微软雅黑" pitchFamily="34" charset="-120"/>
                        </a:rPr>
                        <a:t>p &lt; 0.0001</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10160" cap="flat" cmpd="sng" algn="ctr">
                      <a:solidFill>
                        <a:srgbClr val="4B5563"/>
                      </a:solidFill>
                      <a:prstDash val="solid"/>
                      <a:round/>
                      <a:headEnd type="none" w="med" len="med"/>
                      <a:tailEnd type="none" w="med" len="med"/>
                    </a:lnB>
                    <a:solidFill>
                      <a:srgbClr val="FFFFFF">
                        <a:alpha val="0"/>
                      </a:srgbClr>
                    </a:solidFill>
                  </a:tcPr>
                </a:tc>
              </a:tr>
              <a:tr h="842963">
                <a:tc>
                  <a:txBody>
                    <a:bodyPr/>
                    <a:lstStyle/>
                    <a:p>
                      <a:r>
                        <a:rPr lang="en-US" sz="1200" u="none" dirty="0">
                          <a:solidFill>
                            <a:srgbClr val="F9FAFB"/>
                          </a:solidFill>
                          <a:latin typeface="微软雅黑" pitchFamily="34" charset="0"/>
                          <a:ea typeface="微软雅黑" pitchFamily="34" charset="-122"/>
                          <a:cs typeface="微软雅黑" pitchFamily="34" charset="-120"/>
                        </a:rPr>
                        <a:t>Sample Size</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10160" cap="flat" cmpd="sng" algn="ctr">
                      <a:solidFill>
                        <a:srgbClr val="4B5563"/>
                      </a:solidFill>
                      <a:prstDash val="solid"/>
                      <a:round/>
                      <a:headEnd type="none" w="med" len="med"/>
                      <a:tailEnd type="none" w="med" len="med"/>
                    </a:lnB>
                    <a:solidFill>
                      <a:srgbClr val="FFFFFF">
                        <a:alpha val="0"/>
                      </a:srgbClr>
                    </a:solidFill>
                  </a:tcPr>
                </a:tc>
                <a:tc>
                  <a:txBody>
                    <a:bodyPr/>
                    <a:lstStyle/>
                    <a:p>
                      <a:pPr algn="r"/>
                      <a:r>
                        <a:rPr lang="en-US" sz="1200" u="none" dirty="0">
                          <a:solidFill>
                            <a:srgbClr val="F9FAFB"/>
                          </a:solidFill>
                          <a:latin typeface="微软雅黑" pitchFamily="34" charset="0"/>
                          <a:ea typeface="微软雅黑" pitchFamily="34" charset="-122"/>
                          <a:cs typeface="微软雅黑" pitchFamily="34" charset="-120"/>
                        </a:rPr>
                        <a:t>10,000</a:t>
                      </a:r>
                      <a:endParaRPr lang="en-US" sz="1200" dirty="0">
                        <a:latin typeface="微软雅黑" charset="0"/>
                        <a:ea typeface="微软雅黑" charset="0"/>
                        <a:cs typeface="微软雅黑" charset="0"/>
                      </a:endParaRPr>
                    </a:p>
                    <a:p>
                      <a:pPr algn="r"/>
                      <a:r>
                        <a:rPr lang="en-US" sz="1200" u="none" dirty="0">
                          <a:solidFill>
                            <a:srgbClr val="F9FAFB"/>
                          </a:solidFill>
                          <a:latin typeface="微软雅黑" pitchFamily="34" charset="0"/>
                          <a:ea typeface="微软雅黑" pitchFamily="34" charset="-122"/>
                          <a:cs typeface="微软雅黑" pitchFamily="34" charset="-120"/>
                        </a:rPr>
                        <a:t>Only 10K users</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10160" cap="flat" cmpd="sng" algn="ctr">
                      <a:solidFill>
                        <a:srgbClr val="4B5563"/>
                      </a:solidFill>
                      <a:prstDash val="solid"/>
                      <a:round/>
                      <a:headEnd type="none" w="med" len="med"/>
                      <a:tailEnd type="none" w="med" len="med"/>
                    </a:lnB>
                    <a:solidFill>
                      <a:srgbClr val="FFFFFF">
                        <a:alpha val="0"/>
                      </a:srgbClr>
                    </a:solidFill>
                  </a:tcPr>
                </a:tc>
              </a:tr>
              <a:tr h="842963">
                <a:tc>
                  <a:txBody>
                    <a:bodyPr/>
                    <a:lstStyle/>
                    <a:p>
                      <a:r>
                        <a:rPr lang="en-US" sz="1200" u="none" dirty="0">
                          <a:solidFill>
                            <a:srgbClr val="F9FAFB"/>
                          </a:solidFill>
                          <a:latin typeface="微软雅黑" pitchFamily="34" charset="0"/>
                          <a:ea typeface="微软雅黑" pitchFamily="34" charset="-122"/>
                          <a:cs typeface="微软雅黑" pitchFamily="34" charset="-120"/>
                        </a:rPr>
                        <a:t>Effect Size</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r"/>
                      <a:r>
                        <a:rPr lang="en-US" sz="1200" u="none" dirty="0">
                          <a:solidFill>
                            <a:srgbClr val="F9FAFB"/>
                          </a:solidFill>
                          <a:latin typeface="微软雅黑" pitchFamily="34" charset="0"/>
                          <a:ea typeface="微软雅黑" pitchFamily="34" charset="-122"/>
                          <a:cs typeface="微软雅黑" pitchFamily="34" charset="-120"/>
                        </a:rPr>
                        <a:t>d = 0.38</a:t>
                      </a:r>
                      <a:endParaRPr lang="en-US" sz="1200" dirty="0">
                        <a:latin typeface="微软雅黑" charset="0"/>
                        <a:ea typeface="微软雅黑" charset="0"/>
                        <a:cs typeface="微软雅黑" charset="0"/>
                      </a:endParaRPr>
                    </a:p>
                    <a:p>
                      <a:pPr algn="r"/>
                      <a:r>
                        <a:rPr lang="en-US" sz="1200" u="none" dirty="0">
                          <a:solidFill>
                            <a:srgbClr val="F9FAFB"/>
                          </a:solidFill>
                          <a:latin typeface="微软雅黑" pitchFamily="34" charset="0"/>
                          <a:ea typeface="微软雅黑" pitchFamily="34" charset="-122"/>
                          <a:cs typeface="微软雅黑" pitchFamily="34" charset="-120"/>
                        </a:rPr>
                        <a:t>Cohen's d (medium)</a:t>
                      </a:r>
                      <a:endParaRPr lang="en-US" sz="1200" dirty="0">
                        <a:latin typeface="微软雅黑" charset="0"/>
                        <a:ea typeface="微软雅黑" charset="0"/>
                        <a:cs typeface="微软雅黑" charset="0"/>
                      </a:endParaRPr>
                    </a:p>
                  </a:txBody>
                  <a:tcPr marL="0" marR="0" marT="152400" marB="1524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8" name="Shape 5"/>
          <p:cNvSpPr/>
          <p:nvPr/>
        </p:nvSpPr>
        <p:spPr>
          <a:xfrm>
            <a:off x="384810" y="5871089"/>
            <a:ext cx="5551170" cy="807720"/>
          </a:xfrm>
          <a:custGeom>
            <a:avLst/>
            <a:gdLst/>
            <a:ahLst/>
            <a:cxnLst/>
            <a:rect l="l" t="t" r="r" b="b"/>
            <a:pathLst>
              <a:path w="5551170" h="807720">
                <a:moveTo>
                  <a:pt x="76200" y="0"/>
                </a:moveTo>
                <a:lnTo>
                  <a:pt x="5474970" y="0"/>
                </a:lnTo>
                <a:cubicBezTo>
                  <a:pt x="5517054" y="0"/>
                  <a:pt x="5551170" y="34116"/>
                  <a:pt x="5551170" y="76200"/>
                </a:cubicBezTo>
                <a:lnTo>
                  <a:pt x="5551170" y="731520"/>
                </a:lnTo>
                <a:cubicBezTo>
                  <a:pt x="5551170" y="773604"/>
                  <a:pt x="5517054" y="807720"/>
                  <a:pt x="5474970" y="807720"/>
                </a:cubicBezTo>
                <a:lnTo>
                  <a:pt x="76200" y="807720"/>
                </a:lnTo>
                <a:cubicBezTo>
                  <a:pt x="34116" y="807720"/>
                  <a:pt x="0" y="773604"/>
                  <a:pt x="0" y="731520"/>
                </a:cubicBezTo>
                <a:lnTo>
                  <a:pt x="0" y="76200"/>
                </a:lnTo>
                <a:cubicBezTo>
                  <a:pt x="0" y="34116"/>
                  <a:pt x="34116" y="0"/>
                  <a:pt x="76200" y="0"/>
                </a:cubicBezTo>
                <a:close/>
              </a:path>
            </a:pathLst>
          </a:custGeom>
          <a:solidFill>
            <a:srgbClr val="10B981">
              <a:alpha val="10196"/>
            </a:srgbClr>
          </a:solidFill>
          <a:ln w="10160">
            <a:solidFill>
              <a:srgbClr val="10B981">
                <a:alpha val="30196"/>
              </a:srgbClr>
            </a:solidFill>
            <a:prstDash val="solid"/>
          </a:ln>
        </p:spPr>
      </p:sp>
      <p:sp>
        <p:nvSpPr>
          <p:cNvPr id="9" name="Shape 6"/>
          <p:cNvSpPr/>
          <p:nvPr/>
        </p:nvSpPr>
        <p:spPr>
          <a:xfrm>
            <a:off x="579120" y="6132072"/>
            <a:ext cx="285750" cy="285750"/>
          </a:xfrm>
          <a:custGeom>
            <a:avLst/>
            <a:gdLst/>
            <a:ahLst/>
            <a:cxnLst/>
            <a:rect l="l" t="t" r="r" b="b"/>
            <a:pathLst>
              <a:path w="285750" h="285750">
                <a:moveTo>
                  <a:pt x="142875" y="285750"/>
                </a:moveTo>
                <a:cubicBezTo>
                  <a:pt x="221730" y="285750"/>
                  <a:pt x="285750" y="221730"/>
                  <a:pt x="285750" y="142875"/>
                </a:cubicBezTo>
                <a:cubicBezTo>
                  <a:pt x="285750" y="64020"/>
                  <a:pt x="221730" y="0"/>
                  <a:pt x="142875" y="0"/>
                </a:cubicBezTo>
                <a:cubicBezTo>
                  <a:pt x="64020" y="0"/>
                  <a:pt x="0" y="64020"/>
                  <a:pt x="0" y="142875"/>
                </a:cubicBezTo>
                <a:cubicBezTo>
                  <a:pt x="0" y="221730"/>
                  <a:pt x="64020" y="285750"/>
                  <a:pt x="142875" y="285750"/>
                </a:cubicBezTo>
                <a:close/>
                <a:moveTo>
                  <a:pt x="189979" y="118709"/>
                </a:moveTo>
                <a:lnTo>
                  <a:pt x="145331" y="190147"/>
                </a:lnTo>
                <a:cubicBezTo>
                  <a:pt x="142987" y="193886"/>
                  <a:pt x="138968" y="196230"/>
                  <a:pt x="134559" y="196453"/>
                </a:cubicBezTo>
                <a:cubicBezTo>
                  <a:pt x="130150" y="196676"/>
                  <a:pt x="125909" y="194667"/>
                  <a:pt x="123285" y="191095"/>
                </a:cubicBezTo>
                <a:lnTo>
                  <a:pt x="96496" y="155377"/>
                </a:lnTo>
                <a:cubicBezTo>
                  <a:pt x="92032" y="149461"/>
                  <a:pt x="93259" y="141089"/>
                  <a:pt x="99175" y="136624"/>
                </a:cubicBezTo>
                <a:cubicBezTo>
                  <a:pt x="105091" y="132159"/>
                  <a:pt x="113463" y="133387"/>
                  <a:pt x="117928" y="139303"/>
                </a:cubicBezTo>
                <a:lnTo>
                  <a:pt x="132997" y="159395"/>
                </a:lnTo>
                <a:lnTo>
                  <a:pt x="167264" y="104533"/>
                </a:lnTo>
                <a:cubicBezTo>
                  <a:pt x="171171" y="98282"/>
                  <a:pt x="179431" y="96329"/>
                  <a:pt x="185738" y="100292"/>
                </a:cubicBezTo>
                <a:cubicBezTo>
                  <a:pt x="192044" y="104254"/>
                  <a:pt x="193942" y="112458"/>
                  <a:pt x="189979" y="118765"/>
                </a:cubicBezTo>
                <a:close/>
              </a:path>
            </a:pathLst>
          </a:custGeom>
          <a:solidFill>
            <a:srgbClr val="10B981"/>
          </a:solidFill>
          <a:ln/>
        </p:spPr>
      </p:sp>
      <p:sp>
        <p:nvSpPr>
          <p:cNvPr id="10" name="Text 7"/>
          <p:cNvSpPr/>
          <p:nvPr/>
        </p:nvSpPr>
        <p:spPr>
          <a:xfrm>
            <a:off x="1050608" y="6027297"/>
            <a:ext cx="3857625" cy="266700"/>
          </a:xfrm>
          <a:prstGeom prst="rect">
            <a:avLst/>
          </a:prstGeom>
          <a:noFill/>
          <a:ln/>
        </p:spPr>
        <p:txBody>
          <a:bodyPr wrap="square" lIns="0" tIns="0" rIns="0" bIns="0" rtlCol="0" anchor="ctr"/>
          <a:lstStyle/>
          <a:p>
            <a:pPr>
              <a:lnSpc>
                <a:spcPct val="130000"/>
              </a:lnSpc>
            </a:pPr>
            <a:r>
              <a:rPr lang="en-US" sz="1350" b="1" dirty="0">
                <a:solidFill>
                  <a:srgbClr val="F9FAFB"/>
                </a:solidFill>
                <a:latin typeface="Quattrocento Sans" pitchFamily="34" charset="0"/>
                <a:ea typeface="Quattrocento Sans" pitchFamily="34" charset="-122"/>
                <a:cs typeface="Quattrocento Sans" pitchFamily="34" charset="-120"/>
              </a:rPr>
              <a:t>Decision: Deploy Globally</a:t>
            </a:r>
            <a:endParaRPr lang="en-US" sz="1600" dirty="0"/>
          </a:p>
        </p:txBody>
      </p:sp>
      <p:sp>
        <p:nvSpPr>
          <p:cNvPr id="11" name="Text 8"/>
          <p:cNvSpPr/>
          <p:nvPr/>
        </p:nvSpPr>
        <p:spPr>
          <a:xfrm>
            <a:off x="1050608" y="6293997"/>
            <a:ext cx="3848100" cy="228600"/>
          </a:xfrm>
          <a:prstGeom prst="rect">
            <a:avLst/>
          </a:prstGeom>
          <a:noFill/>
          <a:ln/>
        </p:spPr>
        <p:txBody>
          <a:bodyPr wrap="square" lIns="0" tIns="0" rIns="0" bIns="0" rtlCol="0" anchor="ctr"/>
          <a:lstStyle/>
          <a:p>
            <a:pPr>
              <a:lnSpc>
                <a:spcPct val="130000"/>
              </a:lnSpc>
            </a:pPr>
            <a:r>
              <a:rPr lang="en-US" sz="1200" dirty="0">
                <a:solidFill>
                  <a:srgbClr val="F9FAFB">
                    <a:alpha val="70000"/>
                  </a:srgbClr>
                </a:solidFill>
                <a:latin typeface="Quattrocento Sans" pitchFamily="34" charset="0"/>
                <a:ea typeface="Quattrocento Sans" pitchFamily="34" charset="-122"/>
                <a:cs typeface="Quattrocento Sans" pitchFamily="34" charset="-120"/>
              </a:rPr>
              <a:t>Statistical significance confirmed with 99.99% confidence</a:t>
            </a:r>
            <a:endParaRPr lang="en-US" sz="1600" dirty="0"/>
          </a:p>
        </p:txBody>
      </p:sp>
      <p:sp>
        <p:nvSpPr>
          <p:cNvPr id="12" name="Shape 9"/>
          <p:cNvSpPr/>
          <p:nvPr/>
        </p:nvSpPr>
        <p:spPr>
          <a:xfrm>
            <a:off x="6276975" y="1371479"/>
            <a:ext cx="228600" cy="228600"/>
          </a:xfrm>
          <a:custGeom>
            <a:avLst/>
            <a:gdLst/>
            <a:ahLst/>
            <a:cxnLst/>
            <a:rect l="l" t="t" r="r" b="b"/>
            <a:pathLst>
              <a:path w="228600" h="228600">
                <a:moveTo>
                  <a:pt x="89297" y="21431"/>
                </a:moveTo>
                <a:lnTo>
                  <a:pt x="139303" y="21431"/>
                </a:lnTo>
                <a:cubicBezTo>
                  <a:pt x="141268" y="21431"/>
                  <a:pt x="142875" y="23039"/>
                  <a:pt x="142875" y="25003"/>
                </a:cubicBezTo>
                <a:lnTo>
                  <a:pt x="142875" y="42863"/>
                </a:lnTo>
                <a:lnTo>
                  <a:pt x="85725" y="42863"/>
                </a:lnTo>
                <a:lnTo>
                  <a:pt x="85725" y="25003"/>
                </a:lnTo>
                <a:cubicBezTo>
                  <a:pt x="85725" y="23039"/>
                  <a:pt x="87332" y="21431"/>
                  <a:pt x="89297" y="21431"/>
                </a:cubicBezTo>
                <a:close/>
                <a:moveTo>
                  <a:pt x="64294" y="25003"/>
                </a:moveTo>
                <a:lnTo>
                  <a:pt x="64294" y="42863"/>
                </a:lnTo>
                <a:lnTo>
                  <a:pt x="28575" y="42863"/>
                </a:lnTo>
                <a:cubicBezTo>
                  <a:pt x="12814" y="42863"/>
                  <a:pt x="0" y="55677"/>
                  <a:pt x="0" y="71438"/>
                </a:cubicBezTo>
                <a:lnTo>
                  <a:pt x="0" y="114300"/>
                </a:lnTo>
                <a:lnTo>
                  <a:pt x="228600" y="114300"/>
                </a:lnTo>
                <a:lnTo>
                  <a:pt x="228600" y="71438"/>
                </a:lnTo>
                <a:cubicBezTo>
                  <a:pt x="228600" y="55677"/>
                  <a:pt x="215786" y="42863"/>
                  <a:pt x="200025" y="42863"/>
                </a:cubicBezTo>
                <a:lnTo>
                  <a:pt x="164306" y="42863"/>
                </a:lnTo>
                <a:lnTo>
                  <a:pt x="164306" y="25003"/>
                </a:lnTo>
                <a:cubicBezTo>
                  <a:pt x="164306" y="11207"/>
                  <a:pt x="153099" y="0"/>
                  <a:pt x="139303" y="0"/>
                </a:cubicBezTo>
                <a:lnTo>
                  <a:pt x="89297" y="0"/>
                </a:lnTo>
                <a:cubicBezTo>
                  <a:pt x="75501" y="0"/>
                  <a:pt x="64294" y="11207"/>
                  <a:pt x="64294" y="25003"/>
                </a:cubicBezTo>
                <a:close/>
                <a:moveTo>
                  <a:pt x="228600" y="135731"/>
                </a:moveTo>
                <a:lnTo>
                  <a:pt x="142875" y="135731"/>
                </a:lnTo>
                <a:lnTo>
                  <a:pt x="142875" y="142875"/>
                </a:lnTo>
                <a:cubicBezTo>
                  <a:pt x="142875" y="150778"/>
                  <a:pt x="136490" y="157163"/>
                  <a:pt x="128588" y="157163"/>
                </a:cubicBezTo>
                <a:lnTo>
                  <a:pt x="100013" y="157163"/>
                </a:lnTo>
                <a:cubicBezTo>
                  <a:pt x="92110" y="157163"/>
                  <a:pt x="85725" y="150778"/>
                  <a:pt x="85725" y="142875"/>
                </a:cubicBezTo>
                <a:lnTo>
                  <a:pt x="85725" y="135731"/>
                </a:lnTo>
                <a:lnTo>
                  <a:pt x="0" y="135731"/>
                </a:lnTo>
                <a:lnTo>
                  <a:pt x="0" y="185738"/>
                </a:lnTo>
                <a:cubicBezTo>
                  <a:pt x="0" y="201498"/>
                  <a:pt x="12814" y="214313"/>
                  <a:pt x="28575" y="214313"/>
                </a:cubicBezTo>
                <a:lnTo>
                  <a:pt x="200025" y="214313"/>
                </a:lnTo>
                <a:cubicBezTo>
                  <a:pt x="215786" y="214313"/>
                  <a:pt x="228600" y="201498"/>
                  <a:pt x="228600" y="185738"/>
                </a:cubicBezTo>
                <a:lnTo>
                  <a:pt x="228600" y="135731"/>
                </a:lnTo>
                <a:close/>
              </a:path>
            </a:pathLst>
          </a:custGeom>
          <a:solidFill>
            <a:srgbClr val="F97316"/>
          </a:solidFill>
          <a:ln/>
        </p:spPr>
      </p:sp>
      <p:sp>
        <p:nvSpPr>
          <p:cNvPr id="13" name="Text 10"/>
          <p:cNvSpPr/>
          <p:nvPr/>
        </p:nvSpPr>
        <p:spPr>
          <a:xfrm>
            <a:off x="6534150" y="1333500"/>
            <a:ext cx="5391150" cy="304800"/>
          </a:xfrm>
          <a:prstGeom prst="rect">
            <a:avLst/>
          </a:prstGeom>
          <a:noFill/>
          <a:ln/>
        </p:spPr>
        <p:txBody>
          <a:bodyPr wrap="square" lIns="0" tIns="0" rIns="0" bIns="0" rtlCol="0" anchor="ctr"/>
          <a:lstStyle/>
          <a:p>
            <a:pPr>
              <a:lnSpc>
                <a:spcPct val="110000"/>
              </a:lnSpc>
            </a:pPr>
            <a:r>
              <a:rPr lang="en-US" sz="1800" b="1" dirty="0">
                <a:solidFill>
                  <a:srgbClr val="F9FAFB"/>
                </a:solidFill>
                <a:latin typeface="Liter" pitchFamily="34" charset="0"/>
                <a:ea typeface="Liter" pitchFamily="34" charset="-122"/>
                <a:cs typeface="Liter" pitchFamily="34" charset="-120"/>
              </a:rPr>
              <a:t>Business Impact</a:t>
            </a:r>
            <a:endParaRPr lang="en-US" sz="1600" dirty="0"/>
          </a:p>
        </p:txBody>
      </p:sp>
      <p:sp>
        <p:nvSpPr>
          <p:cNvPr id="14" name="Shape 11"/>
          <p:cNvSpPr/>
          <p:nvPr/>
        </p:nvSpPr>
        <p:spPr>
          <a:xfrm>
            <a:off x="6267450" y="1828679"/>
            <a:ext cx="5543550" cy="952500"/>
          </a:xfrm>
          <a:custGeom>
            <a:avLst/>
            <a:gdLst/>
            <a:ahLst/>
            <a:cxnLst/>
            <a:rect l="l" t="t" r="r" b="b"/>
            <a:pathLst>
              <a:path w="5543550" h="952500">
                <a:moveTo>
                  <a:pt x="38100" y="0"/>
                </a:moveTo>
                <a:lnTo>
                  <a:pt x="5467350" y="0"/>
                </a:lnTo>
                <a:cubicBezTo>
                  <a:pt x="5509406" y="0"/>
                  <a:pt x="5543550" y="34144"/>
                  <a:pt x="5543550" y="76200"/>
                </a:cubicBezTo>
                <a:lnTo>
                  <a:pt x="5543550" y="876300"/>
                </a:lnTo>
                <a:cubicBezTo>
                  <a:pt x="5543550" y="918356"/>
                  <a:pt x="5509406" y="952500"/>
                  <a:pt x="5467350" y="952500"/>
                </a:cubicBezTo>
                <a:lnTo>
                  <a:pt x="38100" y="952500"/>
                </a:lnTo>
                <a:cubicBezTo>
                  <a:pt x="17072" y="952500"/>
                  <a:pt x="0" y="935428"/>
                  <a:pt x="0" y="914400"/>
                </a:cubicBezTo>
                <a:lnTo>
                  <a:pt x="0" y="38100"/>
                </a:lnTo>
                <a:cubicBezTo>
                  <a:pt x="0" y="17072"/>
                  <a:pt x="17072" y="0"/>
                  <a:pt x="38100" y="0"/>
                </a:cubicBezTo>
                <a:close/>
              </a:path>
            </a:pathLst>
          </a:custGeom>
          <a:solidFill>
            <a:srgbClr val="374151"/>
          </a:solidFill>
          <a:ln/>
        </p:spPr>
      </p:sp>
      <p:sp>
        <p:nvSpPr>
          <p:cNvPr id="15" name="Shape 12"/>
          <p:cNvSpPr/>
          <p:nvPr/>
        </p:nvSpPr>
        <p:spPr>
          <a:xfrm>
            <a:off x="6267450" y="1828679"/>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F97316"/>
          </a:solidFill>
          <a:ln/>
        </p:spPr>
      </p:sp>
      <p:sp>
        <p:nvSpPr>
          <p:cNvPr id="16" name="Shape 13"/>
          <p:cNvSpPr/>
          <p:nvPr/>
        </p:nvSpPr>
        <p:spPr>
          <a:xfrm>
            <a:off x="6477000" y="2038229"/>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F97316">
              <a:alpha val="20000"/>
            </a:srgbClr>
          </a:solidFill>
          <a:ln/>
        </p:spPr>
      </p:sp>
      <p:sp>
        <p:nvSpPr>
          <p:cNvPr id="17" name="Shape 14"/>
          <p:cNvSpPr/>
          <p:nvPr/>
        </p:nvSpPr>
        <p:spPr>
          <a:xfrm>
            <a:off x="6629400" y="2190629"/>
            <a:ext cx="228600" cy="228600"/>
          </a:xfrm>
          <a:custGeom>
            <a:avLst/>
            <a:gdLst/>
            <a:ahLst/>
            <a:cxnLst/>
            <a:rect l="l" t="t" r="r" b="b"/>
            <a:pathLst>
              <a:path w="228600" h="228600">
                <a:moveTo>
                  <a:pt x="114300" y="0"/>
                </a:moveTo>
                <a:cubicBezTo>
                  <a:pt x="177384" y="0"/>
                  <a:pt x="228600" y="51216"/>
                  <a:pt x="228600" y="114300"/>
                </a:cubicBezTo>
                <a:cubicBezTo>
                  <a:pt x="228600" y="177384"/>
                  <a:pt x="177384" y="228600"/>
                  <a:pt x="114300" y="228600"/>
                </a:cubicBezTo>
                <a:cubicBezTo>
                  <a:pt x="51216" y="228600"/>
                  <a:pt x="0" y="177384"/>
                  <a:pt x="0" y="114300"/>
                </a:cubicBezTo>
                <a:cubicBezTo>
                  <a:pt x="0" y="51216"/>
                  <a:pt x="51216" y="0"/>
                  <a:pt x="114300" y="0"/>
                </a:cubicBezTo>
                <a:close/>
                <a:moveTo>
                  <a:pt x="103584" y="53578"/>
                </a:moveTo>
                <a:lnTo>
                  <a:pt x="103584" y="114300"/>
                </a:lnTo>
                <a:cubicBezTo>
                  <a:pt x="103584" y="117872"/>
                  <a:pt x="105370" y="121221"/>
                  <a:pt x="108362" y="123230"/>
                </a:cubicBezTo>
                <a:lnTo>
                  <a:pt x="151224" y="151805"/>
                </a:lnTo>
                <a:cubicBezTo>
                  <a:pt x="156136" y="155109"/>
                  <a:pt x="162788" y="153769"/>
                  <a:pt x="166092" y="148813"/>
                </a:cubicBezTo>
                <a:cubicBezTo>
                  <a:pt x="169396" y="143857"/>
                  <a:pt x="168057" y="137249"/>
                  <a:pt x="163101" y="133945"/>
                </a:cubicBezTo>
                <a:lnTo>
                  <a:pt x="125016" y="108585"/>
                </a:lnTo>
                <a:lnTo>
                  <a:pt x="125016" y="53578"/>
                </a:lnTo>
                <a:cubicBezTo>
                  <a:pt x="125016" y="47640"/>
                  <a:pt x="120238" y="42863"/>
                  <a:pt x="114300" y="42863"/>
                </a:cubicBezTo>
                <a:cubicBezTo>
                  <a:pt x="108362" y="42863"/>
                  <a:pt x="103584" y="47640"/>
                  <a:pt x="103584" y="53578"/>
                </a:cubicBezTo>
                <a:close/>
              </a:path>
            </a:pathLst>
          </a:custGeom>
          <a:solidFill>
            <a:srgbClr val="F97316"/>
          </a:solidFill>
          <a:ln/>
        </p:spPr>
      </p:sp>
      <p:sp>
        <p:nvSpPr>
          <p:cNvPr id="18" name="Text 15"/>
          <p:cNvSpPr/>
          <p:nvPr/>
        </p:nvSpPr>
        <p:spPr>
          <a:xfrm>
            <a:off x="7162800" y="2019179"/>
            <a:ext cx="1571625" cy="190500"/>
          </a:xfrm>
          <a:prstGeom prst="rect">
            <a:avLst/>
          </a:prstGeom>
          <a:noFill/>
          <a:ln/>
        </p:spPr>
        <p:txBody>
          <a:bodyPr wrap="square" lIns="0" tIns="0" rIns="0" bIns="0" rtlCol="0" anchor="ctr"/>
          <a:lstStyle/>
          <a:p>
            <a:pPr>
              <a:lnSpc>
                <a:spcPct val="120000"/>
              </a:lnSpc>
            </a:pPr>
            <a:r>
              <a:rPr lang="en-US" sz="1050" dirty="0">
                <a:solidFill>
                  <a:srgbClr val="F9FAFB">
                    <a:alpha val="60000"/>
                  </a:srgbClr>
                </a:solidFill>
                <a:latin typeface="Quattrocento Sans" pitchFamily="34" charset="0"/>
                <a:ea typeface="Quattrocento Sans" pitchFamily="34" charset="-122"/>
                <a:cs typeface="Quattrocento Sans" pitchFamily="34" charset="-120"/>
              </a:rPr>
              <a:t>Additional Viewing Hours</a:t>
            </a:r>
            <a:endParaRPr lang="en-US" sz="1600" dirty="0"/>
          </a:p>
        </p:txBody>
      </p:sp>
      <p:sp>
        <p:nvSpPr>
          <p:cNvPr id="19" name="Text 16"/>
          <p:cNvSpPr/>
          <p:nvPr/>
        </p:nvSpPr>
        <p:spPr>
          <a:xfrm>
            <a:off x="7162800" y="2247779"/>
            <a:ext cx="1647825" cy="342900"/>
          </a:xfrm>
          <a:prstGeom prst="rect">
            <a:avLst/>
          </a:prstGeom>
          <a:noFill/>
          <a:ln/>
        </p:spPr>
        <p:txBody>
          <a:bodyPr wrap="square" lIns="0" tIns="0" rIns="0" bIns="0" rtlCol="0" anchor="ctr"/>
          <a:lstStyle/>
          <a:p>
            <a:pPr>
              <a:lnSpc>
                <a:spcPct val="100000"/>
              </a:lnSpc>
            </a:pPr>
            <a:r>
              <a:rPr lang="en-US" sz="2250" b="1" dirty="0">
                <a:solidFill>
                  <a:srgbClr val="F9FAFB"/>
                </a:solidFill>
                <a:latin typeface="Quattrocento Sans" pitchFamily="34" charset="0"/>
                <a:ea typeface="Quattrocento Sans" pitchFamily="34" charset="-122"/>
                <a:cs typeface="Quattrocento Sans" pitchFamily="34" charset="-120"/>
              </a:rPr>
              <a:t>39M </a:t>
            </a:r>
            <a:pPr>
              <a:lnSpc>
                <a:spcPct val="100000"/>
              </a:lnSpc>
            </a:pPr>
            <a:r>
              <a:rPr lang="en-US" sz="1350" b="1" dirty="0">
                <a:solidFill>
                  <a:srgbClr val="F9FAFB">
                    <a:alpha val="60000"/>
                  </a:srgbClr>
                </a:solidFill>
                <a:latin typeface="Quattrocento Sans" pitchFamily="34" charset="0"/>
                <a:ea typeface="Quattrocento Sans" pitchFamily="34" charset="-122"/>
                <a:cs typeface="Quattrocento Sans" pitchFamily="34" charset="-120"/>
              </a:rPr>
              <a:t>daily</a:t>
            </a:r>
            <a:endParaRPr lang="en-US" sz="1600" dirty="0"/>
          </a:p>
        </p:txBody>
      </p:sp>
      <p:sp>
        <p:nvSpPr>
          <p:cNvPr id="20" name="Shape 17"/>
          <p:cNvSpPr/>
          <p:nvPr/>
        </p:nvSpPr>
        <p:spPr>
          <a:xfrm>
            <a:off x="6267450" y="2933579"/>
            <a:ext cx="5543550" cy="952500"/>
          </a:xfrm>
          <a:custGeom>
            <a:avLst/>
            <a:gdLst/>
            <a:ahLst/>
            <a:cxnLst/>
            <a:rect l="l" t="t" r="r" b="b"/>
            <a:pathLst>
              <a:path w="5543550" h="952500">
                <a:moveTo>
                  <a:pt x="38100" y="0"/>
                </a:moveTo>
                <a:lnTo>
                  <a:pt x="5467350" y="0"/>
                </a:lnTo>
                <a:cubicBezTo>
                  <a:pt x="5509406" y="0"/>
                  <a:pt x="5543550" y="34144"/>
                  <a:pt x="5543550" y="76200"/>
                </a:cubicBezTo>
                <a:lnTo>
                  <a:pt x="5543550" y="876300"/>
                </a:lnTo>
                <a:cubicBezTo>
                  <a:pt x="5543550" y="918356"/>
                  <a:pt x="5509406" y="952500"/>
                  <a:pt x="5467350" y="952500"/>
                </a:cubicBezTo>
                <a:lnTo>
                  <a:pt x="38100" y="952500"/>
                </a:lnTo>
                <a:cubicBezTo>
                  <a:pt x="17072" y="952500"/>
                  <a:pt x="0" y="935428"/>
                  <a:pt x="0" y="914400"/>
                </a:cubicBezTo>
                <a:lnTo>
                  <a:pt x="0" y="38100"/>
                </a:lnTo>
                <a:cubicBezTo>
                  <a:pt x="0" y="17072"/>
                  <a:pt x="17072" y="0"/>
                  <a:pt x="38100" y="0"/>
                </a:cubicBezTo>
                <a:close/>
              </a:path>
            </a:pathLst>
          </a:custGeom>
          <a:solidFill>
            <a:srgbClr val="374151"/>
          </a:solidFill>
          <a:ln/>
        </p:spPr>
      </p:sp>
      <p:sp>
        <p:nvSpPr>
          <p:cNvPr id="21" name="Shape 18"/>
          <p:cNvSpPr/>
          <p:nvPr/>
        </p:nvSpPr>
        <p:spPr>
          <a:xfrm>
            <a:off x="6267450" y="2933579"/>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3B82F6"/>
          </a:solidFill>
          <a:ln/>
        </p:spPr>
      </p:sp>
      <p:sp>
        <p:nvSpPr>
          <p:cNvPr id="22" name="Shape 19"/>
          <p:cNvSpPr/>
          <p:nvPr/>
        </p:nvSpPr>
        <p:spPr>
          <a:xfrm>
            <a:off x="6477000" y="3143129"/>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3B82F6">
              <a:alpha val="20000"/>
            </a:srgbClr>
          </a:solidFill>
          <a:ln/>
        </p:spPr>
      </p:sp>
      <p:sp>
        <p:nvSpPr>
          <p:cNvPr id="23" name="Shape 20"/>
          <p:cNvSpPr/>
          <p:nvPr/>
        </p:nvSpPr>
        <p:spPr>
          <a:xfrm>
            <a:off x="6600825" y="3295529"/>
            <a:ext cx="285750" cy="228600"/>
          </a:xfrm>
          <a:custGeom>
            <a:avLst/>
            <a:gdLst/>
            <a:ahLst/>
            <a:cxnLst/>
            <a:rect l="l" t="t" r="r" b="b"/>
            <a:pathLst>
              <a:path w="285750" h="228600">
                <a:moveTo>
                  <a:pt x="142875" y="7144"/>
                </a:moveTo>
                <a:cubicBezTo>
                  <a:pt x="168503" y="7144"/>
                  <a:pt x="189309" y="27950"/>
                  <a:pt x="189309" y="53578"/>
                </a:cubicBezTo>
                <a:cubicBezTo>
                  <a:pt x="189309" y="79206"/>
                  <a:pt x="168503" y="100013"/>
                  <a:pt x="142875" y="100013"/>
                </a:cubicBezTo>
                <a:cubicBezTo>
                  <a:pt x="117247" y="100013"/>
                  <a:pt x="96441" y="79206"/>
                  <a:pt x="96441" y="53578"/>
                </a:cubicBezTo>
                <a:cubicBezTo>
                  <a:pt x="96441" y="27950"/>
                  <a:pt x="117247" y="7144"/>
                  <a:pt x="142875" y="7144"/>
                </a:cubicBezTo>
                <a:close/>
                <a:moveTo>
                  <a:pt x="42863" y="39291"/>
                </a:moveTo>
                <a:cubicBezTo>
                  <a:pt x="60605" y="39291"/>
                  <a:pt x="75009" y="53695"/>
                  <a:pt x="75009" y="71438"/>
                </a:cubicBezTo>
                <a:cubicBezTo>
                  <a:pt x="75009" y="89180"/>
                  <a:pt x="60605" y="103584"/>
                  <a:pt x="42863" y="103584"/>
                </a:cubicBezTo>
                <a:cubicBezTo>
                  <a:pt x="25120" y="103584"/>
                  <a:pt x="10716" y="89180"/>
                  <a:pt x="10716" y="71438"/>
                </a:cubicBezTo>
                <a:cubicBezTo>
                  <a:pt x="10716" y="53695"/>
                  <a:pt x="25120" y="39291"/>
                  <a:pt x="42862" y="39291"/>
                </a:cubicBezTo>
                <a:close/>
                <a:moveTo>
                  <a:pt x="0" y="185738"/>
                </a:moveTo>
                <a:cubicBezTo>
                  <a:pt x="0" y="154171"/>
                  <a:pt x="25584" y="128588"/>
                  <a:pt x="57150" y="128588"/>
                </a:cubicBezTo>
                <a:cubicBezTo>
                  <a:pt x="62865" y="128588"/>
                  <a:pt x="68401" y="129436"/>
                  <a:pt x="73625" y="130999"/>
                </a:cubicBezTo>
                <a:cubicBezTo>
                  <a:pt x="58936" y="147429"/>
                  <a:pt x="50006" y="169128"/>
                  <a:pt x="50006" y="192881"/>
                </a:cubicBezTo>
                <a:lnTo>
                  <a:pt x="50006" y="200025"/>
                </a:lnTo>
                <a:cubicBezTo>
                  <a:pt x="50006" y="205115"/>
                  <a:pt x="51078" y="209937"/>
                  <a:pt x="52998" y="214313"/>
                </a:cubicBezTo>
                <a:lnTo>
                  <a:pt x="14288" y="214313"/>
                </a:lnTo>
                <a:cubicBezTo>
                  <a:pt x="6385" y="214313"/>
                  <a:pt x="0" y="207928"/>
                  <a:pt x="0" y="200025"/>
                </a:cubicBezTo>
                <a:lnTo>
                  <a:pt x="0" y="185738"/>
                </a:lnTo>
                <a:close/>
                <a:moveTo>
                  <a:pt x="232752" y="214313"/>
                </a:moveTo>
                <a:cubicBezTo>
                  <a:pt x="234672" y="209937"/>
                  <a:pt x="235744" y="205115"/>
                  <a:pt x="235744" y="200025"/>
                </a:cubicBezTo>
                <a:lnTo>
                  <a:pt x="235744" y="192881"/>
                </a:lnTo>
                <a:cubicBezTo>
                  <a:pt x="235744" y="169128"/>
                  <a:pt x="226814" y="147429"/>
                  <a:pt x="212125" y="130999"/>
                </a:cubicBezTo>
                <a:cubicBezTo>
                  <a:pt x="217349" y="129436"/>
                  <a:pt x="222885" y="128588"/>
                  <a:pt x="228600" y="128588"/>
                </a:cubicBezTo>
                <a:cubicBezTo>
                  <a:pt x="260166" y="128588"/>
                  <a:pt x="285750" y="154171"/>
                  <a:pt x="285750" y="185738"/>
                </a:cubicBezTo>
                <a:lnTo>
                  <a:pt x="285750" y="200025"/>
                </a:lnTo>
                <a:cubicBezTo>
                  <a:pt x="285750" y="207928"/>
                  <a:pt x="279365" y="214313"/>
                  <a:pt x="271463" y="214313"/>
                </a:cubicBezTo>
                <a:lnTo>
                  <a:pt x="232752" y="214313"/>
                </a:lnTo>
                <a:close/>
                <a:moveTo>
                  <a:pt x="210741" y="71438"/>
                </a:moveTo>
                <a:cubicBezTo>
                  <a:pt x="210741" y="53695"/>
                  <a:pt x="225145" y="39291"/>
                  <a:pt x="242888" y="39291"/>
                </a:cubicBezTo>
                <a:cubicBezTo>
                  <a:pt x="260630" y="39291"/>
                  <a:pt x="275034" y="53695"/>
                  <a:pt x="275034" y="71437"/>
                </a:cubicBezTo>
                <a:cubicBezTo>
                  <a:pt x="275034" y="89180"/>
                  <a:pt x="260630" y="103584"/>
                  <a:pt x="242888" y="103584"/>
                </a:cubicBezTo>
                <a:cubicBezTo>
                  <a:pt x="225145" y="103584"/>
                  <a:pt x="210741" y="89180"/>
                  <a:pt x="210741" y="71438"/>
                </a:cubicBezTo>
                <a:close/>
                <a:moveTo>
                  <a:pt x="71438" y="192881"/>
                </a:moveTo>
                <a:cubicBezTo>
                  <a:pt x="71438" y="153412"/>
                  <a:pt x="103406" y="121444"/>
                  <a:pt x="142875" y="121444"/>
                </a:cubicBezTo>
                <a:cubicBezTo>
                  <a:pt x="182344" y="121444"/>
                  <a:pt x="214313" y="153412"/>
                  <a:pt x="214313" y="192881"/>
                </a:cubicBezTo>
                <a:lnTo>
                  <a:pt x="214313" y="200025"/>
                </a:lnTo>
                <a:cubicBezTo>
                  <a:pt x="214313" y="207928"/>
                  <a:pt x="207928" y="214313"/>
                  <a:pt x="200025" y="214313"/>
                </a:cubicBezTo>
                <a:lnTo>
                  <a:pt x="85725" y="214313"/>
                </a:lnTo>
                <a:cubicBezTo>
                  <a:pt x="77822" y="214313"/>
                  <a:pt x="71438" y="207928"/>
                  <a:pt x="71438" y="200025"/>
                </a:cubicBezTo>
                <a:lnTo>
                  <a:pt x="71438" y="192881"/>
                </a:lnTo>
                <a:close/>
              </a:path>
            </a:pathLst>
          </a:custGeom>
          <a:solidFill>
            <a:srgbClr val="3B82F6"/>
          </a:solidFill>
          <a:ln/>
        </p:spPr>
      </p:sp>
      <p:sp>
        <p:nvSpPr>
          <p:cNvPr id="24" name="Text 21"/>
          <p:cNvSpPr/>
          <p:nvPr/>
        </p:nvSpPr>
        <p:spPr>
          <a:xfrm>
            <a:off x="7162800" y="3124079"/>
            <a:ext cx="1495425" cy="190500"/>
          </a:xfrm>
          <a:prstGeom prst="rect">
            <a:avLst/>
          </a:prstGeom>
          <a:noFill/>
          <a:ln/>
        </p:spPr>
        <p:txBody>
          <a:bodyPr wrap="square" lIns="0" tIns="0" rIns="0" bIns="0" rtlCol="0" anchor="ctr"/>
          <a:lstStyle/>
          <a:p>
            <a:pPr>
              <a:lnSpc>
                <a:spcPct val="120000"/>
              </a:lnSpc>
            </a:pPr>
            <a:r>
              <a:rPr lang="en-US" sz="1050" dirty="0">
                <a:solidFill>
                  <a:srgbClr val="F9FAFB">
                    <a:alpha val="60000"/>
                  </a:srgbClr>
                </a:solidFill>
                <a:latin typeface="Quattrocento Sans" pitchFamily="34" charset="0"/>
                <a:ea typeface="Quattrocento Sans" pitchFamily="34" charset="-122"/>
                <a:cs typeface="Quattrocento Sans" pitchFamily="34" charset="-120"/>
              </a:rPr>
              <a:t>Users Retained Annually</a:t>
            </a:r>
            <a:endParaRPr lang="en-US" sz="1600" dirty="0"/>
          </a:p>
        </p:txBody>
      </p:sp>
      <p:sp>
        <p:nvSpPr>
          <p:cNvPr id="25" name="Text 22"/>
          <p:cNvSpPr/>
          <p:nvPr/>
        </p:nvSpPr>
        <p:spPr>
          <a:xfrm>
            <a:off x="7162800" y="3352679"/>
            <a:ext cx="1571625" cy="342900"/>
          </a:xfrm>
          <a:prstGeom prst="rect">
            <a:avLst/>
          </a:prstGeom>
          <a:noFill/>
          <a:ln/>
        </p:spPr>
        <p:txBody>
          <a:bodyPr wrap="square" lIns="0" tIns="0" rIns="0" bIns="0" rtlCol="0" anchor="ctr"/>
          <a:lstStyle/>
          <a:p>
            <a:pPr>
              <a:lnSpc>
                <a:spcPct val="100000"/>
              </a:lnSpc>
            </a:pPr>
            <a:r>
              <a:rPr lang="en-US" sz="2250" b="1" dirty="0">
                <a:solidFill>
                  <a:srgbClr val="F9FAFB"/>
                </a:solidFill>
                <a:latin typeface="Quattrocento Sans" pitchFamily="34" charset="0"/>
                <a:ea typeface="Quattrocento Sans" pitchFamily="34" charset="-122"/>
                <a:cs typeface="Quattrocento Sans" pitchFamily="34" charset="-120"/>
              </a:rPr>
              <a:t>1.84M</a:t>
            </a:r>
            <a:endParaRPr lang="en-US" sz="1600" dirty="0"/>
          </a:p>
        </p:txBody>
      </p:sp>
      <p:sp>
        <p:nvSpPr>
          <p:cNvPr id="26" name="Shape 23"/>
          <p:cNvSpPr/>
          <p:nvPr/>
        </p:nvSpPr>
        <p:spPr>
          <a:xfrm>
            <a:off x="6267450" y="4038479"/>
            <a:ext cx="5543550" cy="952500"/>
          </a:xfrm>
          <a:custGeom>
            <a:avLst/>
            <a:gdLst/>
            <a:ahLst/>
            <a:cxnLst/>
            <a:rect l="l" t="t" r="r" b="b"/>
            <a:pathLst>
              <a:path w="5543550" h="952500">
                <a:moveTo>
                  <a:pt x="38100" y="0"/>
                </a:moveTo>
                <a:lnTo>
                  <a:pt x="5467350" y="0"/>
                </a:lnTo>
                <a:cubicBezTo>
                  <a:pt x="5509406" y="0"/>
                  <a:pt x="5543550" y="34144"/>
                  <a:pt x="5543550" y="76200"/>
                </a:cubicBezTo>
                <a:lnTo>
                  <a:pt x="5543550" y="876300"/>
                </a:lnTo>
                <a:cubicBezTo>
                  <a:pt x="5543550" y="918356"/>
                  <a:pt x="5509406" y="952500"/>
                  <a:pt x="5467350" y="952500"/>
                </a:cubicBezTo>
                <a:lnTo>
                  <a:pt x="38100" y="952500"/>
                </a:lnTo>
                <a:cubicBezTo>
                  <a:pt x="17072" y="952500"/>
                  <a:pt x="0" y="935428"/>
                  <a:pt x="0" y="914400"/>
                </a:cubicBezTo>
                <a:lnTo>
                  <a:pt x="0" y="38100"/>
                </a:lnTo>
                <a:cubicBezTo>
                  <a:pt x="0" y="17072"/>
                  <a:pt x="17072" y="0"/>
                  <a:pt x="38100" y="0"/>
                </a:cubicBezTo>
                <a:close/>
              </a:path>
            </a:pathLst>
          </a:custGeom>
          <a:solidFill>
            <a:srgbClr val="374151"/>
          </a:solidFill>
          <a:ln/>
        </p:spPr>
      </p:sp>
      <p:sp>
        <p:nvSpPr>
          <p:cNvPr id="27" name="Shape 24"/>
          <p:cNvSpPr/>
          <p:nvPr/>
        </p:nvSpPr>
        <p:spPr>
          <a:xfrm>
            <a:off x="6267450" y="4038479"/>
            <a:ext cx="38100" cy="952500"/>
          </a:xfrm>
          <a:custGeom>
            <a:avLst/>
            <a:gdLst/>
            <a:ahLst/>
            <a:cxnLst/>
            <a:rect l="l" t="t" r="r" b="b"/>
            <a:pathLst>
              <a:path w="38100" h="952500">
                <a:moveTo>
                  <a:pt x="38100" y="0"/>
                </a:moveTo>
                <a:lnTo>
                  <a:pt x="38100" y="0"/>
                </a:lnTo>
                <a:lnTo>
                  <a:pt x="38100" y="952500"/>
                </a:lnTo>
                <a:lnTo>
                  <a:pt x="38100" y="952500"/>
                </a:lnTo>
                <a:cubicBezTo>
                  <a:pt x="17072" y="952500"/>
                  <a:pt x="0" y="935428"/>
                  <a:pt x="0" y="914400"/>
                </a:cubicBezTo>
                <a:lnTo>
                  <a:pt x="0" y="38100"/>
                </a:lnTo>
                <a:cubicBezTo>
                  <a:pt x="0" y="17072"/>
                  <a:pt x="17072" y="0"/>
                  <a:pt x="38100" y="0"/>
                </a:cubicBezTo>
                <a:close/>
              </a:path>
            </a:pathLst>
          </a:custGeom>
          <a:solidFill>
            <a:srgbClr val="10B981"/>
          </a:solidFill>
          <a:ln/>
        </p:spPr>
      </p:sp>
      <p:sp>
        <p:nvSpPr>
          <p:cNvPr id="28" name="Shape 25"/>
          <p:cNvSpPr/>
          <p:nvPr/>
        </p:nvSpPr>
        <p:spPr>
          <a:xfrm>
            <a:off x="6477000" y="4248029"/>
            <a:ext cx="533400" cy="533400"/>
          </a:xfrm>
          <a:custGeom>
            <a:avLst/>
            <a:gdLst/>
            <a:ahLst/>
            <a:cxnLst/>
            <a:rect l="l" t="t" r="r" b="b"/>
            <a:pathLst>
              <a:path w="533400" h="533400">
                <a:moveTo>
                  <a:pt x="76202" y="0"/>
                </a:moveTo>
                <a:lnTo>
                  <a:pt x="457198" y="0"/>
                </a:lnTo>
                <a:cubicBezTo>
                  <a:pt x="499283" y="0"/>
                  <a:pt x="533400" y="34117"/>
                  <a:pt x="533400" y="76202"/>
                </a:cubicBezTo>
                <a:lnTo>
                  <a:pt x="533400" y="457198"/>
                </a:lnTo>
                <a:cubicBezTo>
                  <a:pt x="533400" y="499283"/>
                  <a:pt x="499283" y="533400"/>
                  <a:pt x="457198" y="533400"/>
                </a:cubicBezTo>
                <a:lnTo>
                  <a:pt x="76202" y="533400"/>
                </a:lnTo>
                <a:cubicBezTo>
                  <a:pt x="34117" y="533400"/>
                  <a:pt x="0" y="499283"/>
                  <a:pt x="0" y="457198"/>
                </a:cubicBezTo>
                <a:lnTo>
                  <a:pt x="0" y="76202"/>
                </a:lnTo>
                <a:cubicBezTo>
                  <a:pt x="0" y="34145"/>
                  <a:pt x="34145" y="0"/>
                  <a:pt x="76202" y="0"/>
                </a:cubicBezTo>
                <a:close/>
              </a:path>
            </a:pathLst>
          </a:custGeom>
          <a:solidFill>
            <a:srgbClr val="10B981">
              <a:alpha val="20000"/>
            </a:srgbClr>
          </a:solidFill>
          <a:ln/>
        </p:spPr>
      </p:sp>
      <p:sp>
        <p:nvSpPr>
          <p:cNvPr id="29" name="Shape 26"/>
          <p:cNvSpPr/>
          <p:nvPr/>
        </p:nvSpPr>
        <p:spPr>
          <a:xfrm>
            <a:off x="6672263" y="4400429"/>
            <a:ext cx="142875" cy="228600"/>
          </a:xfrm>
          <a:custGeom>
            <a:avLst/>
            <a:gdLst/>
            <a:ahLst/>
            <a:cxnLst/>
            <a:rect l="l" t="t" r="r" b="b"/>
            <a:pathLst>
              <a:path w="142875" h="228600">
                <a:moveTo>
                  <a:pt x="60722" y="10716"/>
                </a:moveTo>
                <a:cubicBezTo>
                  <a:pt x="60722" y="4777"/>
                  <a:pt x="65499" y="0"/>
                  <a:pt x="71438" y="0"/>
                </a:cubicBezTo>
                <a:cubicBezTo>
                  <a:pt x="77376" y="0"/>
                  <a:pt x="82153" y="4777"/>
                  <a:pt x="82153" y="10716"/>
                </a:cubicBezTo>
                <a:lnTo>
                  <a:pt x="82153" y="28575"/>
                </a:lnTo>
                <a:lnTo>
                  <a:pt x="107156" y="28575"/>
                </a:lnTo>
                <a:cubicBezTo>
                  <a:pt x="115059" y="28575"/>
                  <a:pt x="121444" y="34960"/>
                  <a:pt x="121444" y="42863"/>
                </a:cubicBezTo>
                <a:cubicBezTo>
                  <a:pt x="121444" y="50765"/>
                  <a:pt x="115059" y="57150"/>
                  <a:pt x="107156" y="57150"/>
                </a:cubicBezTo>
                <a:lnTo>
                  <a:pt x="55855" y="57150"/>
                </a:lnTo>
                <a:cubicBezTo>
                  <a:pt x="44738" y="57150"/>
                  <a:pt x="35719" y="66169"/>
                  <a:pt x="35719" y="77286"/>
                </a:cubicBezTo>
                <a:cubicBezTo>
                  <a:pt x="35719" y="87332"/>
                  <a:pt x="43086" y="95816"/>
                  <a:pt x="52998" y="97244"/>
                </a:cubicBezTo>
                <a:lnTo>
                  <a:pt x="93896" y="103093"/>
                </a:lnTo>
                <a:cubicBezTo>
                  <a:pt x="117917" y="106531"/>
                  <a:pt x="135731" y="127069"/>
                  <a:pt x="135731" y="151314"/>
                </a:cubicBezTo>
                <a:cubicBezTo>
                  <a:pt x="135731" y="178237"/>
                  <a:pt x="113898" y="200025"/>
                  <a:pt x="87020" y="200025"/>
                </a:cubicBezTo>
                <a:lnTo>
                  <a:pt x="82153" y="200025"/>
                </a:lnTo>
                <a:lnTo>
                  <a:pt x="82153" y="217884"/>
                </a:lnTo>
                <a:cubicBezTo>
                  <a:pt x="82153" y="223823"/>
                  <a:pt x="77376" y="228600"/>
                  <a:pt x="71438" y="228600"/>
                </a:cubicBezTo>
                <a:cubicBezTo>
                  <a:pt x="65499" y="228600"/>
                  <a:pt x="60722" y="223823"/>
                  <a:pt x="60722" y="217884"/>
                </a:cubicBezTo>
                <a:lnTo>
                  <a:pt x="60722" y="200025"/>
                </a:lnTo>
                <a:lnTo>
                  <a:pt x="28575" y="200025"/>
                </a:lnTo>
                <a:cubicBezTo>
                  <a:pt x="20672" y="200025"/>
                  <a:pt x="14288" y="193640"/>
                  <a:pt x="14288" y="185738"/>
                </a:cubicBezTo>
                <a:cubicBezTo>
                  <a:pt x="14288" y="177835"/>
                  <a:pt x="20672" y="171450"/>
                  <a:pt x="28575" y="171450"/>
                </a:cubicBezTo>
                <a:lnTo>
                  <a:pt x="87020" y="171450"/>
                </a:lnTo>
                <a:cubicBezTo>
                  <a:pt x="98137" y="171450"/>
                  <a:pt x="107156" y="162431"/>
                  <a:pt x="107156" y="151314"/>
                </a:cubicBezTo>
                <a:cubicBezTo>
                  <a:pt x="107156" y="141268"/>
                  <a:pt x="99789" y="132784"/>
                  <a:pt x="89877" y="131356"/>
                </a:cubicBezTo>
                <a:lnTo>
                  <a:pt x="48979" y="125507"/>
                </a:lnTo>
                <a:cubicBezTo>
                  <a:pt x="24958" y="122113"/>
                  <a:pt x="7144" y="101531"/>
                  <a:pt x="7144" y="77286"/>
                </a:cubicBezTo>
                <a:cubicBezTo>
                  <a:pt x="7144" y="50408"/>
                  <a:pt x="28977" y="28575"/>
                  <a:pt x="55855" y="28575"/>
                </a:cubicBezTo>
                <a:lnTo>
                  <a:pt x="60722" y="28575"/>
                </a:lnTo>
                <a:lnTo>
                  <a:pt x="60722" y="10716"/>
                </a:lnTo>
                <a:close/>
              </a:path>
            </a:pathLst>
          </a:custGeom>
          <a:solidFill>
            <a:srgbClr val="10B981"/>
          </a:solidFill>
          <a:ln/>
        </p:spPr>
      </p:sp>
      <p:sp>
        <p:nvSpPr>
          <p:cNvPr id="30" name="Text 27"/>
          <p:cNvSpPr/>
          <p:nvPr/>
        </p:nvSpPr>
        <p:spPr>
          <a:xfrm>
            <a:off x="7162800" y="4228979"/>
            <a:ext cx="1181100" cy="190500"/>
          </a:xfrm>
          <a:prstGeom prst="rect">
            <a:avLst/>
          </a:prstGeom>
          <a:noFill/>
          <a:ln/>
        </p:spPr>
        <p:txBody>
          <a:bodyPr wrap="square" lIns="0" tIns="0" rIns="0" bIns="0" rtlCol="0" anchor="ctr"/>
          <a:lstStyle/>
          <a:p>
            <a:pPr>
              <a:lnSpc>
                <a:spcPct val="120000"/>
              </a:lnSpc>
            </a:pPr>
            <a:r>
              <a:rPr lang="en-US" sz="1050" dirty="0">
                <a:solidFill>
                  <a:srgbClr val="F9FAFB">
                    <a:alpha val="60000"/>
                  </a:srgbClr>
                </a:solidFill>
                <a:latin typeface="Quattrocento Sans" pitchFamily="34" charset="0"/>
                <a:ea typeface="Quattrocento Sans" pitchFamily="34" charset="-122"/>
                <a:cs typeface="Quattrocento Sans" pitchFamily="34" charset="-120"/>
              </a:rPr>
              <a:t>Revenue Protected</a:t>
            </a:r>
            <a:endParaRPr lang="en-US" sz="1600" dirty="0"/>
          </a:p>
        </p:txBody>
      </p:sp>
      <p:sp>
        <p:nvSpPr>
          <p:cNvPr id="31" name="Text 28"/>
          <p:cNvSpPr/>
          <p:nvPr/>
        </p:nvSpPr>
        <p:spPr>
          <a:xfrm>
            <a:off x="7162800" y="4457579"/>
            <a:ext cx="1257300" cy="342900"/>
          </a:xfrm>
          <a:prstGeom prst="rect">
            <a:avLst/>
          </a:prstGeom>
          <a:noFill/>
          <a:ln/>
        </p:spPr>
        <p:txBody>
          <a:bodyPr wrap="square" lIns="0" tIns="0" rIns="0" bIns="0" rtlCol="0" anchor="ctr"/>
          <a:lstStyle/>
          <a:p>
            <a:pPr>
              <a:lnSpc>
                <a:spcPct val="100000"/>
              </a:lnSpc>
            </a:pPr>
            <a:r>
              <a:rPr lang="en-US" sz="2250" b="1" dirty="0">
                <a:solidFill>
                  <a:srgbClr val="10B981"/>
                </a:solidFill>
                <a:latin typeface="Quattrocento Sans" pitchFamily="34" charset="0"/>
                <a:ea typeface="Quattrocento Sans" pitchFamily="34" charset="-122"/>
                <a:cs typeface="Quattrocento Sans" pitchFamily="34" charset="-120"/>
              </a:rPr>
              <a:t>$330M</a:t>
            </a:r>
            <a:endParaRPr lang="en-US" sz="1600" dirty="0"/>
          </a:p>
        </p:txBody>
      </p:sp>
      <p:sp>
        <p:nvSpPr>
          <p:cNvPr id="32" name="Shape 29"/>
          <p:cNvSpPr/>
          <p:nvPr/>
        </p:nvSpPr>
        <p:spPr>
          <a:xfrm>
            <a:off x="6252210" y="5909189"/>
            <a:ext cx="5551170" cy="769620"/>
          </a:xfrm>
          <a:custGeom>
            <a:avLst/>
            <a:gdLst/>
            <a:ahLst/>
            <a:cxnLst/>
            <a:rect l="l" t="t" r="r" b="b"/>
            <a:pathLst>
              <a:path w="5551170" h="769620">
                <a:moveTo>
                  <a:pt x="76200" y="0"/>
                </a:moveTo>
                <a:lnTo>
                  <a:pt x="5474970" y="0"/>
                </a:lnTo>
                <a:cubicBezTo>
                  <a:pt x="5517054" y="0"/>
                  <a:pt x="5551170" y="34116"/>
                  <a:pt x="5551170" y="76200"/>
                </a:cubicBezTo>
                <a:lnTo>
                  <a:pt x="5551170" y="693420"/>
                </a:lnTo>
                <a:cubicBezTo>
                  <a:pt x="5551170" y="735504"/>
                  <a:pt x="5517054" y="769620"/>
                  <a:pt x="5474970" y="769620"/>
                </a:cubicBezTo>
                <a:lnTo>
                  <a:pt x="76200" y="769620"/>
                </a:lnTo>
                <a:cubicBezTo>
                  <a:pt x="34116" y="769620"/>
                  <a:pt x="0" y="735504"/>
                  <a:pt x="0" y="693420"/>
                </a:cubicBezTo>
                <a:lnTo>
                  <a:pt x="0" y="76200"/>
                </a:lnTo>
                <a:cubicBezTo>
                  <a:pt x="0" y="34144"/>
                  <a:pt x="34144" y="0"/>
                  <a:pt x="76200" y="0"/>
                </a:cubicBezTo>
                <a:close/>
              </a:path>
            </a:pathLst>
          </a:custGeom>
          <a:solidFill>
            <a:srgbClr val="111827"/>
          </a:solidFill>
          <a:ln w="10160">
            <a:solidFill>
              <a:srgbClr val="4B5563"/>
            </a:solidFill>
            <a:prstDash val="solid"/>
          </a:ln>
        </p:spPr>
      </p:sp>
      <p:sp>
        <p:nvSpPr>
          <p:cNvPr id="33" name="Shape 30"/>
          <p:cNvSpPr/>
          <p:nvPr/>
        </p:nvSpPr>
        <p:spPr>
          <a:xfrm>
            <a:off x="6675120" y="6103497"/>
            <a:ext cx="114300" cy="152400"/>
          </a:xfrm>
          <a:custGeom>
            <a:avLst/>
            <a:gdLst/>
            <a:ahLst/>
            <a:cxnLst/>
            <a:rect l="l" t="t" r="r" b="b"/>
            <a:pathLst>
              <a:path w="114300" h="152400">
                <a:moveTo>
                  <a:pt x="19050" y="0"/>
                </a:moveTo>
                <a:cubicBezTo>
                  <a:pt x="8543" y="0"/>
                  <a:pt x="0" y="8543"/>
                  <a:pt x="0" y="19050"/>
                </a:cubicBezTo>
                <a:lnTo>
                  <a:pt x="0" y="133350"/>
                </a:lnTo>
                <a:cubicBezTo>
                  <a:pt x="0" y="143857"/>
                  <a:pt x="8543" y="152400"/>
                  <a:pt x="19050" y="152400"/>
                </a:cubicBezTo>
                <a:lnTo>
                  <a:pt x="95250" y="152400"/>
                </a:lnTo>
                <a:cubicBezTo>
                  <a:pt x="105757" y="152400"/>
                  <a:pt x="114300" y="143857"/>
                  <a:pt x="114300" y="133350"/>
                </a:cubicBezTo>
                <a:lnTo>
                  <a:pt x="114300" y="19050"/>
                </a:lnTo>
                <a:cubicBezTo>
                  <a:pt x="114300" y="8543"/>
                  <a:pt x="105757" y="0"/>
                  <a:pt x="95250" y="0"/>
                </a:cubicBezTo>
                <a:lnTo>
                  <a:pt x="19050" y="0"/>
                </a:lnTo>
                <a:close/>
                <a:moveTo>
                  <a:pt x="28575" y="19050"/>
                </a:moveTo>
                <a:lnTo>
                  <a:pt x="85725" y="19050"/>
                </a:lnTo>
                <a:cubicBezTo>
                  <a:pt x="90994" y="19050"/>
                  <a:pt x="95250" y="23306"/>
                  <a:pt x="95250" y="28575"/>
                </a:cubicBezTo>
                <a:lnTo>
                  <a:pt x="95250" y="38100"/>
                </a:lnTo>
                <a:cubicBezTo>
                  <a:pt x="95250" y="43369"/>
                  <a:pt x="90994" y="47625"/>
                  <a:pt x="85725" y="47625"/>
                </a:cubicBezTo>
                <a:lnTo>
                  <a:pt x="28575" y="47625"/>
                </a:lnTo>
                <a:cubicBezTo>
                  <a:pt x="23306" y="47625"/>
                  <a:pt x="19050" y="43369"/>
                  <a:pt x="19050" y="38100"/>
                </a:cubicBezTo>
                <a:lnTo>
                  <a:pt x="19050" y="28575"/>
                </a:lnTo>
                <a:cubicBezTo>
                  <a:pt x="19050" y="23306"/>
                  <a:pt x="23306" y="19050"/>
                  <a:pt x="28575" y="19050"/>
                </a:cubicBezTo>
                <a:close/>
                <a:moveTo>
                  <a:pt x="33338" y="69056"/>
                </a:moveTo>
                <a:cubicBezTo>
                  <a:pt x="33338" y="72999"/>
                  <a:pt x="30136" y="76200"/>
                  <a:pt x="26194" y="76200"/>
                </a:cubicBezTo>
                <a:cubicBezTo>
                  <a:pt x="22251" y="76200"/>
                  <a:pt x="19050" y="72999"/>
                  <a:pt x="19050" y="69056"/>
                </a:cubicBezTo>
                <a:cubicBezTo>
                  <a:pt x="19050" y="65114"/>
                  <a:pt x="22251" y="61912"/>
                  <a:pt x="26194" y="61912"/>
                </a:cubicBezTo>
                <a:cubicBezTo>
                  <a:pt x="30136" y="61912"/>
                  <a:pt x="33338" y="65114"/>
                  <a:pt x="33338" y="69056"/>
                </a:cubicBezTo>
                <a:close/>
                <a:moveTo>
                  <a:pt x="57150" y="76200"/>
                </a:moveTo>
                <a:cubicBezTo>
                  <a:pt x="53207" y="76200"/>
                  <a:pt x="50006" y="72999"/>
                  <a:pt x="50006" y="69056"/>
                </a:cubicBezTo>
                <a:cubicBezTo>
                  <a:pt x="50006" y="65114"/>
                  <a:pt x="53207" y="61912"/>
                  <a:pt x="57150" y="61912"/>
                </a:cubicBezTo>
                <a:cubicBezTo>
                  <a:pt x="61093" y="61912"/>
                  <a:pt x="64294" y="65114"/>
                  <a:pt x="64294" y="69056"/>
                </a:cubicBezTo>
                <a:cubicBezTo>
                  <a:pt x="64294" y="72999"/>
                  <a:pt x="61093" y="76200"/>
                  <a:pt x="57150" y="76200"/>
                </a:cubicBezTo>
                <a:close/>
                <a:moveTo>
                  <a:pt x="95250" y="69056"/>
                </a:moveTo>
                <a:cubicBezTo>
                  <a:pt x="95250" y="72999"/>
                  <a:pt x="92049" y="76200"/>
                  <a:pt x="88106" y="76200"/>
                </a:cubicBezTo>
                <a:cubicBezTo>
                  <a:pt x="84164" y="76200"/>
                  <a:pt x="80962" y="72999"/>
                  <a:pt x="80962" y="69056"/>
                </a:cubicBezTo>
                <a:cubicBezTo>
                  <a:pt x="80962" y="65114"/>
                  <a:pt x="84164" y="61912"/>
                  <a:pt x="88106" y="61912"/>
                </a:cubicBezTo>
                <a:cubicBezTo>
                  <a:pt x="92049" y="61912"/>
                  <a:pt x="95250" y="65114"/>
                  <a:pt x="95250" y="69056"/>
                </a:cubicBezTo>
                <a:close/>
                <a:moveTo>
                  <a:pt x="26194" y="104775"/>
                </a:moveTo>
                <a:cubicBezTo>
                  <a:pt x="22251" y="104775"/>
                  <a:pt x="19050" y="101574"/>
                  <a:pt x="19050" y="97631"/>
                </a:cubicBezTo>
                <a:cubicBezTo>
                  <a:pt x="19050" y="93689"/>
                  <a:pt x="22251" y="90488"/>
                  <a:pt x="26194" y="90488"/>
                </a:cubicBezTo>
                <a:cubicBezTo>
                  <a:pt x="30136" y="90488"/>
                  <a:pt x="33338" y="93689"/>
                  <a:pt x="33338" y="97631"/>
                </a:cubicBezTo>
                <a:cubicBezTo>
                  <a:pt x="33338" y="101574"/>
                  <a:pt x="30136" y="104775"/>
                  <a:pt x="26194" y="104775"/>
                </a:cubicBezTo>
                <a:close/>
                <a:moveTo>
                  <a:pt x="64294" y="97631"/>
                </a:moveTo>
                <a:cubicBezTo>
                  <a:pt x="64294" y="101574"/>
                  <a:pt x="61093" y="104775"/>
                  <a:pt x="57150" y="104775"/>
                </a:cubicBezTo>
                <a:cubicBezTo>
                  <a:pt x="53207" y="104775"/>
                  <a:pt x="50006" y="101574"/>
                  <a:pt x="50006" y="97631"/>
                </a:cubicBezTo>
                <a:cubicBezTo>
                  <a:pt x="50006" y="93689"/>
                  <a:pt x="53207" y="90488"/>
                  <a:pt x="57150" y="90488"/>
                </a:cubicBezTo>
                <a:cubicBezTo>
                  <a:pt x="61093" y="90488"/>
                  <a:pt x="64294" y="93689"/>
                  <a:pt x="64294" y="97631"/>
                </a:cubicBezTo>
                <a:close/>
                <a:moveTo>
                  <a:pt x="88106" y="104775"/>
                </a:moveTo>
                <a:cubicBezTo>
                  <a:pt x="84164" y="104775"/>
                  <a:pt x="80962" y="101574"/>
                  <a:pt x="80962" y="97631"/>
                </a:cubicBezTo>
                <a:cubicBezTo>
                  <a:pt x="80962" y="93689"/>
                  <a:pt x="84164" y="90488"/>
                  <a:pt x="88106" y="90488"/>
                </a:cubicBezTo>
                <a:cubicBezTo>
                  <a:pt x="92049" y="90488"/>
                  <a:pt x="95250" y="93689"/>
                  <a:pt x="95250" y="97631"/>
                </a:cubicBezTo>
                <a:cubicBezTo>
                  <a:pt x="95250" y="101574"/>
                  <a:pt x="92049" y="104775"/>
                  <a:pt x="88106" y="104775"/>
                </a:cubicBezTo>
                <a:close/>
                <a:moveTo>
                  <a:pt x="19050" y="126206"/>
                </a:moveTo>
                <a:cubicBezTo>
                  <a:pt x="19050" y="122247"/>
                  <a:pt x="22235" y="119062"/>
                  <a:pt x="26194" y="119062"/>
                </a:cubicBezTo>
                <a:lnTo>
                  <a:pt x="59531" y="119062"/>
                </a:lnTo>
                <a:cubicBezTo>
                  <a:pt x="63490" y="119062"/>
                  <a:pt x="66675" y="122247"/>
                  <a:pt x="66675" y="126206"/>
                </a:cubicBezTo>
                <a:cubicBezTo>
                  <a:pt x="66675" y="130165"/>
                  <a:pt x="63490" y="133350"/>
                  <a:pt x="59531" y="133350"/>
                </a:cubicBezTo>
                <a:lnTo>
                  <a:pt x="26194" y="133350"/>
                </a:lnTo>
                <a:cubicBezTo>
                  <a:pt x="22235" y="133350"/>
                  <a:pt x="19050" y="130165"/>
                  <a:pt x="19050" y="126206"/>
                </a:cubicBezTo>
                <a:close/>
                <a:moveTo>
                  <a:pt x="88106" y="119062"/>
                </a:moveTo>
                <a:cubicBezTo>
                  <a:pt x="92065" y="119062"/>
                  <a:pt x="95250" y="122247"/>
                  <a:pt x="95250" y="126206"/>
                </a:cubicBezTo>
                <a:cubicBezTo>
                  <a:pt x="95250" y="130165"/>
                  <a:pt x="92065" y="133350"/>
                  <a:pt x="88106" y="133350"/>
                </a:cubicBezTo>
                <a:cubicBezTo>
                  <a:pt x="84147" y="133350"/>
                  <a:pt x="80962" y="130165"/>
                  <a:pt x="80962" y="126206"/>
                </a:cubicBezTo>
                <a:cubicBezTo>
                  <a:pt x="80962" y="122247"/>
                  <a:pt x="84147" y="119062"/>
                  <a:pt x="88106" y="119062"/>
                </a:cubicBezTo>
                <a:close/>
              </a:path>
            </a:pathLst>
          </a:custGeom>
          <a:solidFill>
            <a:srgbClr val="F97316"/>
          </a:solidFill>
          <a:ln/>
        </p:spPr>
      </p:sp>
      <p:sp>
        <p:nvSpPr>
          <p:cNvPr id="34" name="Text 31"/>
          <p:cNvSpPr/>
          <p:nvPr/>
        </p:nvSpPr>
        <p:spPr>
          <a:xfrm>
            <a:off x="6617970" y="6065397"/>
            <a:ext cx="5067300" cy="457200"/>
          </a:xfrm>
          <a:prstGeom prst="rect">
            <a:avLst/>
          </a:prstGeom>
          <a:noFill/>
          <a:ln/>
        </p:spPr>
        <p:txBody>
          <a:bodyPr wrap="square" lIns="0" tIns="0" rIns="0" bIns="0" rtlCol="0" anchor="ctr"/>
          <a:lstStyle/>
          <a:p>
            <a:pPr algn="ctr">
              <a:lnSpc>
                <a:spcPct val="130000"/>
              </a:lnSpc>
            </a:pPr>
            <a:r>
              <a:rPr lang="en-US" sz="1200" b="1" dirty="0">
                <a:solidFill>
                  <a:srgbClr val="F9FAFB">
                    <a:alpha val="80000"/>
                  </a:srgbClr>
                </a:solidFill>
                <a:latin typeface="Quattrocento Sans" pitchFamily="34" charset="0"/>
                <a:ea typeface="Quattrocento Sans" pitchFamily="34" charset="-122"/>
                <a:cs typeface="Quattrocento Sans" pitchFamily="34" charset="-120"/>
              </a:rPr>
              <a:t>Calculation:</a:t>
            </a:r>
            <a:pPr algn="ctr">
              <a:lnSpc>
                <a:spcPct val="130000"/>
              </a:lnSpc>
            </a:pPr>
            <a:r>
              <a:rPr lang="en-US" sz="1200" dirty="0">
                <a:solidFill>
                  <a:srgbClr val="F9FAFB">
                    <a:alpha val="80000"/>
                  </a:srgbClr>
                </a:solidFill>
                <a:latin typeface="Quattrocento Sans" pitchFamily="34" charset="0"/>
                <a:ea typeface="Quattrocento Sans" pitchFamily="34" charset="-122"/>
                <a:cs typeface="Quattrocento Sans" pitchFamily="34" charset="-120"/>
              </a:rPr>
              <a:t> 0.17 hrs/day × 230M users × 365 days × $0.15/hr value = </a:t>
            </a:r>
            <a:pPr algn="ctr">
              <a:lnSpc>
                <a:spcPct val="130000"/>
              </a:lnSpc>
            </a:pPr>
            <a:r>
              <a:rPr lang="en-US" sz="1200" b="1" dirty="0">
                <a:solidFill>
                  <a:srgbClr val="F97316"/>
                </a:solidFill>
                <a:latin typeface="Quattrocento Sans" pitchFamily="34" charset="0"/>
                <a:ea typeface="Quattrocento Sans" pitchFamily="34" charset="-122"/>
                <a:cs typeface="Quattrocento Sans" pitchFamily="34" charset="-120"/>
              </a:rPr>
              <a:t>$330M</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79518" y="379518"/>
            <a:ext cx="11499381" cy="189759"/>
          </a:xfrm>
          <a:prstGeom prst="rect">
            <a:avLst/>
          </a:prstGeom>
          <a:noFill/>
          <a:ln/>
        </p:spPr>
        <p:txBody>
          <a:bodyPr wrap="square" lIns="0" tIns="0" rIns="0" bIns="0" rtlCol="0" anchor="ctr"/>
          <a:lstStyle/>
          <a:p>
            <a:pPr>
              <a:lnSpc>
                <a:spcPct val="120000"/>
              </a:lnSpc>
            </a:pPr>
            <a:r>
              <a:rPr lang="en-US" sz="1046" b="1" spc="52" kern="0" dirty="0">
                <a:solidFill>
                  <a:srgbClr val="F97316"/>
                </a:solidFill>
                <a:latin typeface="Quattrocento Sans" pitchFamily="34" charset="0"/>
                <a:ea typeface="Quattrocento Sans" pitchFamily="34" charset="-122"/>
                <a:cs typeface="Quattrocento Sans" pitchFamily="34" charset="-120"/>
              </a:rPr>
              <a:t>POST-ROLLOUT VALIDATION</a:t>
            </a:r>
            <a:endParaRPr lang="en-US" sz="1600" dirty="0"/>
          </a:p>
        </p:txBody>
      </p:sp>
      <p:sp>
        <p:nvSpPr>
          <p:cNvPr id="3" name="Text 1"/>
          <p:cNvSpPr/>
          <p:nvPr/>
        </p:nvSpPr>
        <p:spPr>
          <a:xfrm>
            <a:off x="379518" y="645180"/>
            <a:ext cx="11660675" cy="455421"/>
          </a:xfrm>
          <a:prstGeom prst="rect">
            <a:avLst/>
          </a:prstGeom>
          <a:noFill/>
          <a:ln/>
        </p:spPr>
        <p:txBody>
          <a:bodyPr wrap="square" lIns="0" tIns="0" rIns="0" bIns="0" rtlCol="0" anchor="ctr"/>
          <a:lstStyle/>
          <a:p>
            <a:pPr>
              <a:lnSpc>
                <a:spcPct val="80000"/>
              </a:lnSpc>
            </a:pPr>
            <a:r>
              <a:rPr lang="en-US" sz="3586" b="1" dirty="0">
                <a:solidFill>
                  <a:srgbClr val="F9FAFB"/>
                </a:solidFill>
                <a:latin typeface="Liter" pitchFamily="34" charset="0"/>
                <a:ea typeface="Liter" pitchFamily="34" charset="-122"/>
                <a:cs typeface="Liter" pitchFamily="34" charset="-120"/>
              </a:rPr>
              <a:t>Outcome &amp; Validation</a:t>
            </a:r>
            <a:endParaRPr lang="en-US" sz="1600" dirty="0"/>
          </a:p>
        </p:txBody>
      </p:sp>
      <p:sp>
        <p:nvSpPr>
          <p:cNvPr id="4" name="Shape 2"/>
          <p:cNvSpPr/>
          <p:nvPr/>
        </p:nvSpPr>
        <p:spPr>
          <a:xfrm>
            <a:off x="422213" y="1366143"/>
            <a:ext cx="199247" cy="227711"/>
          </a:xfrm>
          <a:custGeom>
            <a:avLst/>
            <a:gdLst/>
            <a:ahLst/>
            <a:cxnLst/>
            <a:rect l="l" t="t" r="r" b="b"/>
            <a:pathLst>
              <a:path w="199247" h="227711">
                <a:moveTo>
                  <a:pt x="56928" y="0"/>
                </a:moveTo>
                <a:cubicBezTo>
                  <a:pt x="64800" y="0"/>
                  <a:pt x="71160" y="6360"/>
                  <a:pt x="71160" y="14232"/>
                </a:cubicBezTo>
                <a:lnTo>
                  <a:pt x="71160" y="28464"/>
                </a:lnTo>
                <a:lnTo>
                  <a:pt x="128087" y="28464"/>
                </a:lnTo>
                <a:lnTo>
                  <a:pt x="128087" y="14232"/>
                </a:lnTo>
                <a:cubicBezTo>
                  <a:pt x="128087" y="6360"/>
                  <a:pt x="134447" y="0"/>
                  <a:pt x="142319" y="0"/>
                </a:cubicBezTo>
                <a:cubicBezTo>
                  <a:pt x="150191" y="0"/>
                  <a:pt x="156551" y="6360"/>
                  <a:pt x="156551" y="14232"/>
                </a:cubicBezTo>
                <a:lnTo>
                  <a:pt x="156551" y="28464"/>
                </a:lnTo>
                <a:lnTo>
                  <a:pt x="170783" y="28464"/>
                </a:lnTo>
                <a:cubicBezTo>
                  <a:pt x="186482" y="28464"/>
                  <a:pt x="199247" y="41228"/>
                  <a:pt x="199247" y="56928"/>
                </a:cubicBezTo>
                <a:lnTo>
                  <a:pt x="199247" y="185015"/>
                </a:lnTo>
                <a:cubicBezTo>
                  <a:pt x="199247" y="200714"/>
                  <a:pt x="186482" y="213479"/>
                  <a:pt x="170783" y="213479"/>
                </a:cubicBezTo>
                <a:lnTo>
                  <a:pt x="28464" y="213479"/>
                </a:lnTo>
                <a:cubicBezTo>
                  <a:pt x="12764" y="213479"/>
                  <a:pt x="0" y="200714"/>
                  <a:pt x="0" y="185015"/>
                </a:cubicBezTo>
                <a:lnTo>
                  <a:pt x="0" y="56928"/>
                </a:lnTo>
                <a:cubicBezTo>
                  <a:pt x="0" y="41228"/>
                  <a:pt x="12764" y="28464"/>
                  <a:pt x="28464" y="28464"/>
                </a:cubicBezTo>
                <a:lnTo>
                  <a:pt x="42696" y="28464"/>
                </a:lnTo>
                <a:lnTo>
                  <a:pt x="42696" y="14232"/>
                </a:lnTo>
                <a:cubicBezTo>
                  <a:pt x="42696" y="6360"/>
                  <a:pt x="49056" y="0"/>
                  <a:pt x="56928" y="0"/>
                </a:cubicBezTo>
                <a:close/>
                <a:moveTo>
                  <a:pt x="137160" y="101714"/>
                </a:moveTo>
                <a:cubicBezTo>
                  <a:pt x="140273" y="96732"/>
                  <a:pt x="138761" y="90150"/>
                  <a:pt x="133780" y="86993"/>
                </a:cubicBezTo>
                <a:cubicBezTo>
                  <a:pt x="128799" y="83835"/>
                  <a:pt x="122216" y="85391"/>
                  <a:pt x="119059" y="90373"/>
                </a:cubicBezTo>
                <a:lnTo>
                  <a:pt x="91751" y="134091"/>
                </a:lnTo>
                <a:lnTo>
                  <a:pt x="79743" y="118080"/>
                </a:lnTo>
                <a:cubicBezTo>
                  <a:pt x="76185" y="113366"/>
                  <a:pt x="69514" y="112388"/>
                  <a:pt x="64800" y="115946"/>
                </a:cubicBezTo>
                <a:cubicBezTo>
                  <a:pt x="60085" y="119504"/>
                  <a:pt x="59107" y="126175"/>
                  <a:pt x="62665" y="130889"/>
                </a:cubicBezTo>
                <a:lnTo>
                  <a:pt x="84013" y="159353"/>
                </a:lnTo>
                <a:cubicBezTo>
                  <a:pt x="86103" y="162155"/>
                  <a:pt x="89483" y="163756"/>
                  <a:pt x="92997" y="163622"/>
                </a:cubicBezTo>
                <a:cubicBezTo>
                  <a:pt x="96510" y="163489"/>
                  <a:pt x="99712" y="161621"/>
                  <a:pt x="101580" y="158597"/>
                </a:cubicBezTo>
                <a:lnTo>
                  <a:pt x="137160" y="101669"/>
                </a:lnTo>
                <a:close/>
              </a:path>
            </a:pathLst>
          </a:custGeom>
          <a:solidFill>
            <a:srgbClr val="F97316"/>
          </a:solidFill>
          <a:ln/>
        </p:spPr>
      </p:sp>
      <p:sp>
        <p:nvSpPr>
          <p:cNvPr id="5" name="Text 3"/>
          <p:cNvSpPr/>
          <p:nvPr/>
        </p:nvSpPr>
        <p:spPr>
          <a:xfrm>
            <a:off x="664156" y="1328311"/>
            <a:ext cx="6603605" cy="303614"/>
          </a:xfrm>
          <a:prstGeom prst="rect">
            <a:avLst/>
          </a:prstGeom>
          <a:noFill/>
          <a:ln/>
        </p:spPr>
        <p:txBody>
          <a:bodyPr wrap="square" lIns="0" tIns="0" rIns="0" bIns="0" rtlCol="0" anchor="ctr"/>
          <a:lstStyle/>
          <a:p>
            <a:pPr>
              <a:lnSpc>
                <a:spcPct val="110000"/>
              </a:lnSpc>
            </a:pPr>
            <a:r>
              <a:rPr lang="en-US" sz="1793" b="1" dirty="0">
                <a:solidFill>
                  <a:srgbClr val="F9FAFB"/>
                </a:solidFill>
                <a:latin typeface="Liter" pitchFamily="34" charset="0"/>
                <a:ea typeface="Liter" pitchFamily="34" charset="-122"/>
                <a:cs typeface="Liter" pitchFamily="34" charset="-120"/>
              </a:rPr>
              <a:t>90-Day Post-Rollout Results</a:t>
            </a:r>
            <a:endParaRPr lang="en-US" sz="1600" dirty="0"/>
          </a:p>
        </p:txBody>
      </p:sp>
      <p:sp>
        <p:nvSpPr>
          <p:cNvPr id="6" name="Shape 4"/>
          <p:cNvSpPr/>
          <p:nvPr/>
        </p:nvSpPr>
        <p:spPr>
          <a:xfrm>
            <a:off x="398493" y="1821564"/>
            <a:ext cx="6755412" cy="1176504"/>
          </a:xfrm>
          <a:custGeom>
            <a:avLst/>
            <a:gdLst/>
            <a:ahLst/>
            <a:cxnLst/>
            <a:rect l="l" t="t" r="r" b="b"/>
            <a:pathLst>
              <a:path w="6755412" h="1176504">
                <a:moveTo>
                  <a:pt x="37952" y="0"/>
                </a:moveTo>
                <a:lnTo>
                  <a:pt x="6679504" y="0"/>
                </a:lnTo>
                <a:cubicBezTo>
                  <a:pt x="6721426" y="0"/>
                  <a:pt x="6755412" y="33985"/>
                  <a:pt x="6755412" y="75908"/>
                </a:cubicBezTo>
                <a:lnTo>
                  <a:pt x="6755412" y="1100596"/>
                </a:lnTo>
                <a:cubicBezTo>
                  <a:pt x="6755412" y="1142519"/>
                  <a:pt x="6721426" y="1176504"/>
                  <a:pt x="6679504" y="1176504"/>
                </a:cubicBezTo>
                <a:lnTo>
                  <a:pt x="37952" y="1176504"/>
                </a:lnTo>
                <a:cubicBezTo>
                  <a:pt x="16992" y="1176504"/>
                  <a:pt x="0" y="1159513"/>
                  <a:pt x="0" y="1138553"/>
                </a:cubicBezTo>
                <a:lnTo>
                  <a:pt x="0" y="37952"/>
                </a:lnTo>
                <a:cubicBezTo>
                  <a:pt x="0" y="17006"/>
                  <a:pt x="17006" y="0"/>
                  <a:pt x="37952" y="0"/>
                </a:cubicBezTo>
                <a:close/>
              </a:path>
            </a:pathLst>
          </a:custGeom>
          <a:solidFill>
            <a:srgbClr val="374151"/>
          </a:solidFill>
          <a:ln/>
        </p:spPr>
      </p:sp>
      <p:sp>
        <p:nvSpPr>
          <p:cNvPr id="7" name="Shape 5"/>
          <p:cNvSpPr/>
          <p:nvPr/>
        </p:nvSpPr>
        <p:spPr>
          <a:xfrm>
            <a:off x="398493" y="1821564"/>
            <a:ext cx="37952" cy="1176504"/>
          </a:xfrm>
          <a:custGeom>
            <a:avLst/>
            <a:gdLst/>
            <a:ahLst/>
            <a:cxnLst/>
            <a:rect l="l" t="t" r="r" b="b"/>
            <a:pathLst>
              <a:path w="37952" h="1176504">
                <a:moveTo>
                  <a:pt x="37952" y="0"/>
                </a:moveTo>
                <a:lnTo>
                  <a:pt x="37952" y="0"/>
                </a:lnTo>
                <a:lnTo>
                  <a:pt x="37952" y="1176504"/>
                </a:lnTo>
                <a:lnTo>
                  <a:pt x="37952" y="1176504"/>
                </a:lnTo>
                <a:cubicBezTo>
                  <a:pt x="16992" y="1176504"/>
                  <a:pt x="0" y="1159513"/>
                  <a:pt x="0" y="1138553"/>
                </a:cubicBezTo>
                <a:lnTo>
                  <a:pt x="0" y="37952"/>
                </a:lnTo>
                <a:cubicBezTo>
                  <a:pt x="0" y="17006"/>
                  <a:pt x="17006" y="0"/>
                  <a:pt x="37952" y="0"/>
                </a:cubicBezTo>
                <a:close/>
              </a:path>
            </a:pathLst>
          </a:custGeom>
          <a:solidFill>
            <a:srgbClr val="10B981"/>
          </a:solidFill>
          <a:ln/>
        </p:spPr>
      </p:sp>
      <p:sp>
        <p:nvSpPr>
          <p:cNvPr id="8" name="Shape 6"/>
          <p:cNvSpPr/>
          <p:nvPr/>
        </p:nvSpPr>
        <p:spPr>
          <a:xfrm>
            <a:off x="607228" y="2106202"/>
            <a:ext cx="607228" cy="607228"/>
          </a:xfrm>
          <a:custGeom>
            <a:avLst/>
            <a:gdLst/>
            <a:ahLst/>
            <a:cxnLst/>
            <a:rect l="l" t="t" r="r" b="b"/>
            <a:pathLst>
              <a:path w="607228" h="607228">
                <a:moveTo>
                  <a:pt x="303614" y="0"/>
                </a:moveTo>
                <a:lnTo>
                  <a:pt x="303614" y="0"/>
                </a:lnTo>
                <a:cubicBezTo>
                  <a:pt x="471183" y="0"/>
                  <a:pt x="607228" y="136045"/>
                  <a:pt x="607228" y="303614"/>
                </a:cubicBezTo>
                <a:lnTo>
                  <a:pt x="607228" y="303614"/>
                </a:lnTo>
                <a:cubicBezTo>
                  <a:pt x="607228" y="471183"/>
                  <a:pt x="471183" y="607228"/>
                  <a:pt x="303614" y="607228"/>
                </a:cubicBezTo>
                <a:lnTo>
                  <a:pt x="303614" y="607228"/>
                </a:lnTo>
                <a:cubicBezTo>
                  <a:pt x="136045" y="607228"/>
                  <a:pt x="0" y="471183"/>
                  <a:pt x="0" y="303614"/>
                </a:cubicBezTo>
                <a:lnTo>
                  <a:pt x="0" y="303614"/>
                </a:lnTo>
                <a:cubicBezTo>
                  <a:pt x="0" y="136045"/>
                  <a:pt x="136045" y="0"/>
                  <a:pt x="303614" y="0"/>
                </a:cubicBezTo>
                <a:close/>
              </a:path>
            </a:pathLst>
          </a:custGeom>
          <a:solidFill>
            <a:srgbClr val="10B981">
              <a:alpha val="20000"/>
            </a:srgbClr>
          </a:solidFill>
          <a:ln/>
        </p:spPr>
      </p:sp>
      <p:sp>
        <p:nvSpPr>
          <p:cNvPr id="9" name="Shape 7"/>
          <p:cNvSpPr/>
          <p:nvPr/>
        </p:nvSpPr>
        <p:spPr>
          <a:xfrm>
            <a:off x="796987" y="2295960"/>
            <a:ext cx="227711" cy="227711"/>
          </a:xfrm>
          <a:custGeom>
            <a:avLst/>
            <a:gdLst/>
            <a:ahLst/>
            <a:cxnLst/>
            <a:rect l="l" t="t" r="r" b="b"/>
            <a:pathLst>
              <a:path w="227711" h="227711">
                <a:moveTo>
                  <a:pt x="28464" y="28464"/>
                </a:moveTo>
                <a:cubicBezTo>
                  <a:pt x="28464" y="20592"/>
                  <a:pt x="22104" y="14232"/>
                  <a:pt x="14232" y="14232"/>
                </a:cubicBezTo>
                <a:cubicBezTo>
                  <a:pt x="6360" y="14232"/>
                  <a:pt x="0" y="20592"/>
                  <a:pt x="0" y="28464"/>
                </a:cubicBezTo>
                <a:lnTo>
                  <a:pt x="0" y="177899"/>
                </a:lnTo>
                <a:cubicBezTo>
                  <a:pt x="0" y="197557"/>
                  <a:pt x="15922" y="213479"/>
                  <a:pt x="35580" y="213479"/>
                </a:cubicBezTo>
                <a:lnTo>
                  <a:pt x="213479" y="213479"/>
                </a:lnTo>
                <a:cubicBezTo>
                  <a:pt x="221351" y="213479"/>
                  <a:pt x="227711" y="207119"/>
                  <a:pt x="227711" y="199247"/>
                </a:cubicBezTo>
                <a:cubicBezTo>
                  <a:pt x="227711" y="191375"/>
                  <a:pt x="221351" y="185015"/>
                  <a:pt x="213479" y="185015"/>
                </a:cubicBezTo>
                <a:lnTo>
                  <a:pt x="35580" y="185015"/>
                </a:lnTo>
                <a:cubicBezTo>
                  <a:pt x="31666" y="185015"/>
                  <a:pt x="28464" y="181813"/>
                  <a:pt x="28464" y="177899"/>
                </a:cubicBezTo>
                <a:lnTo>
                  <a:pt x="28464" y="28464"/>
                </a:lnTo>
                <a:close/>
                <a:moveTo>
                  <a:pt x="209298" y="66979"/>
                </a:moveTo>
                <a:cubicBezTo>
                  <a:pt x="214857" y="61420"/>
                  <a:pt x="214857" y="52391"/>
                  <a:pt x="209298" y="46832"/>
                </a:cubicBezTo>
                <a:cubicBezTo>
                  <a:pt x="203739" y="41273"/>
                  <a:pt x="194710" y="41273"/>
                  <a:pt x="189151" y="46832"/>
                </a:cubicBezTo>
                <a:lnTo>
                  <a:pt x="142319" y="93708"/>
                </a:lnTo>
                <a:lnTo>
                  <a:pt x="116791" y="68224"/>
                </a:lnTo>
                <a:cubicBezTo>
                  <a:pt x="111231" y="62665"/>
                  <a:pt x="102203" y="62665"/>
                  <a:pt x="96644" y="68224"/>
                </a:cubicBezTo>
                <a:lnTo>
                  <a:pt x="53948" y="110920"/>
                </a:lnTo>
                <a:cubicBezTo>
                  <a:pt x="48388" y="116479"/>
                  <a:pt x="48388" y="125508"/>
                  <a:pt x="53948" y="131067"/>
                </a:cubicBezTo>
                <a:cubicBezTo>
                  <a:pt x="59507" y="136626"/>
                  <a:pt x="68536" y="136626"/>
                  <a:pt x="74095" y="131067"/>
                </a:cubicBezTo>
                <a:lnTo>
                  <a:pt x="106739" y="98423"/>
                </a:lnTo>
                <a:lnTo>
                  <a:pt x="132268" y="123951"/>
                </a:lnTo>
                <a:cubicBezTo>
                  <a:pt x="137827" y="129510"/>
                  <a:pt x="146855" y="129510"/>
                  <a:pt x="152415" y="123951"/>
                </a:cubicBezTo>
                <a:lnTo>
                  <a:pt x="209342" y="67023"/>
                </a:lnTo>
                <a:close/>
              </a:path>
            </a:pathLst>
          </a:custGeom>
          <a:solidFill>
            <a:srgbClr val="10B981"/>
          </a:solidFill>
          <a:ln/>
        </p:spPr>
      </p:sp>
      <p:sp>
        <p:nvSpPr>
          <p:cNvPr id="10" name="Text 8"/>
          <p:cNvSpPr/>
          <p:nvPr/>
        </p:nvSpPr>
        <p:spPr>
          <a:xfrm>
            <a:off x="1366263" y="2049274"/>
            <a:ext cx="1707829" cy="265662"/>
          </a:xfrm>
          <a:prstGeom prst="rect">
            <a:avLst/>
          </a:prstGeom>
          <a:noFill/>
          <a:ln/>
        </p:spPr>
        <p:txBody>
          <a:bodyPr wrap="square" lIns="0" tIns="0" rIns="0" bIns="0" rtlCol="0" anchor="ctr"/>
          <a:lstStyle/>
          <a:p>
            <a:pPr>
              <a:lnSpc>
                <a:spcPct val="130000"/>
              </a:lnSpc>
            </a:pPr>
            <a:r>
              <a:rPr lang="en-US" sz="1345" b="1" dirty="0">
                <a:solidFill>
                  <a:srgbClr val="F9FAFB"/>
                </a:solidFill>
                <a:latin typeface="Quattrocento Sans" pitchFamily="34" charset="0"/>
                <a:ea typeface="Quattrocento Sans" pitchFamily="34" charset="-122"/>
                <a:cs typeface="Quattrocento Sans" pitchFamily="34" charset="-120"/>
              </a:rPr>
              <a:t>Engagement Increase</a:t>
            </a:r>
            <a:endParaRPr lang="en-US" sz="1600" dirty="0"/>
          </a:p>
        </p:txBody>
      </p:sp>
      <p:sp>
        <p:nvSpPr>
          <p:cNvPr id="11" name="Text 9"/>
          <p:cNvSpPr/>
          <p:nvPr/>
        </p:nvSpPr>
        <p:spPr>
          <a:xfrm>
            <a:off x="6261920" y="2011322"/>
            <a:ext cx="844426" cy="341566"/>
          </a:xfrm>
          <a:prstGeom prst="rect">
            <a:avLst/>
          </a:prstGeom>
          <a:noFill/>
          <a:ln/>
        </p:spPr>
        <p:txBody>
          <a:bodyPr wrap="square" lIns="0" tIns="0" rIns="0" bIns="0" rtlCol="0" anchor="ctr"/>
          <a:lstStyle/>
          <a:p>
            <a:pPr>
              <a:lnSpc>
                <a:spcPct val="100000"/>
              </a:lnSpc>
            </a:pPr>
            <a:r>
              <a:rPr lang="en-US" sz="2241" b="1" dirty="0">
                <a:solidFill>
                  <a:srgbClr val="10B981"/>
                </a:solidFill>
                <a:latin typeface="Quattrocento Sans" pitchFamily="34" charset="0"/>
                <a:ea typeface="Quattrocento Sans" pitchFamily="34" charset="-122"/>
                <a:cs typeface="Quattrocento Sans" pitchFamily="34" charset="-120"/>
              </a:rPr>
              <a:t>+8.1%</a:t>
            </a:r>
            <a:endParaRPr lang="en-US" sz="1600" dirty="0"/>
          </a:p>
        </p:txBody>
      </p:sp>
      <p:sp>
        <p:nvSpPr>
          <p:cNvPr id="12" name="Shape 10"/>
          <p:cNvSpPr/>
          <p:nvPr/>
        </p:nvSpPr>
        <p:spPr>
          <a:xfrm>
            <a:off x="1366263" y="2428792"/>
            <a:ext cx="5597883" cy="113855"/>
          </a:xfrm>
          <a:custGeom>
            <a:avLst/>
            <a:gdLst/>
            <a:ahLst/>
            <a:cxnLst/>
            <a:rect l="l" t="t" r="r" b="b"/>
            <a:pathLst>
              <a:path w="5597883" h="113855">
                <a:moveTo>
                  <a:pt x="56928" y="0"/>
                </a:moveTo>
                <a:lnTo>
                  <a:pt x="5540956" y="0"/>
                </a:lnTo>
                <a:cubicBezTo>
                  <a:pt x="5572396" y="0"/>
                  <a:pt x="5597883" y="25487"/>
                  <a:pt x="5597883" y="56928"/>
                </a:cubicBezTo>
                <a:lnTo>
                  <a:pt x="5597883" y="56928"/>
                </a:lnTo>
                <a:cubicBezTo>
                  <a:pt x="5597883" y="88368"/>
                  <a:pt x="5572396" y="113855"/>
                  <a:pt x="5540956" y="113855"/>
                </a:cubicBezTo>
                <a:lnTo>
                  <a:pt x="56928" y="113855"/>
                </a:lnTo>
                <a:cubicBezTo>
                  <a:pt x="25508" y="113855"/>
                  <a:pt x="0" y="88347"/>
                  <a:pt x="0" y="56928"/>
                </a:cubicBezTo>
                <a:lnTo>
                  <a:pt x="0" y="56928"/>
                </a:lnTo>
                <a:cubicBezTo>
                  <a:pt x="0" y="25508"/>
                  <a:pt x="25508" y="0"/>
                  <a:pt x="56928" y="0"/>
                </a:cubicBezTo>
                <a:close/>
              </a:path>
            </a:pathLst>
          </a:custGeom>
          <a:solidFill>
            <a:srgbClr val="111827"/>
          </a:solidFill>
          <a:ln/>
        </p:spPr>
      </p:sp>
      <p:sp>
        <p:nvSpPr>
          <p:cNvPr id="13" name="Shape 11"/>
          <p:cNvSpPr/>
          <p:nvPr/>
        </p:nvSpPr>
        <p:spPr>
          <a:xfrm>
            <a:off x="1366263" y="2428792"/>
            <a:ext cx="4535234" cy="113855"/>
          </a:xfrm>
          <a:custGeom>
            <a:avLst/>
            <a:gdLst/>
            <a:ahLst/>
            <a:cxnLst/>
            <a:rect l="l" t="t" r="r" b="b"/>
            <a:pathLst>
              <a:path w="4535234" h="113855">
                <a:moveTo>
                  <a:pt x="56928" y="0"/>
                </a:moveTo>
                <a:lnTo>
                  <a:pt x="4478307" y="0"/>
                </a:lnTo>
                <a:cubicBezTo>
                  <a:pt x="4509747" y="0"/>
                  <a:pt x="4535234" y="25487"/>
                  <a:pt x="4535234" y="56928"/>
                </a:cubicBezTo>
                <a:lnTo>
                  <a:pt x="4535234" y="56928"/>
                </a:lnTo>
                <a:cubicBezTo>
                  <a:pt x="4535234" y="88368"/>
                  <a:pt x="4509747" y="113855"/>
                  <a:pt x="4478307" y="113855"/>
                </a:cubicBezTo>
                <a:lnTo>
                  <a:pt x="56928" y="113855"/>
                </a:lnTo>
                <a:cubicBezTo>
                  <a:pt x="25508" y="113855"/>
                  <a:pt x="0" y="88347"/>
                  <a:pt x="0" y="56928"/>
                </a:cubicBezTo>
                <a:lnTo>
                  <a:pt x="0" y="56928"/>
                </a:lnTo>
                <a:cubicBezTo>
                  <a:pt x="0" y="25508"/>
                  <a:pt x="25508" y="0"/>
                  <a:pt x="56928" y="0"/>
                </a:cubicBezTo>
                <a:close/>
              </a:path>
            </a:pathLst>
          </a:custGeom>
          <a:solidFill>
            <a:srgbClr val="10B981"/>
          </a:solidFill>
          <a:ln/>
        </p:spPr>
      </p:sp>
      <p:sp>
        <p:nvSpPr>
          <p:cNvPr id="14" name="Text 12"/>
          <p:cNvSpPr/>
          <p:nvPr/>
        </p:nvSpPr>
        <p:spPr>
          <a:xfrm>
            <a:off x="1366263" y="2618550"/>
            <a:ext cx="5664299" cy="189759"/>
          </a:xfrm>
          <a:prstGeom prst="rect">
            <a:avLst/>
          </a:prstGeom>
          <a:noFill/>
          <a:ln/>
        </p:spPr>
        <p:txBody>
          <a:bodyPr wrap="square" lIns="0" tIns="0" rIns="0" bIns="0" rtlCol="0" anchor="ctr"/>
          <a:lstStyle/>
          <a:p>
            <a:pPr>
              <a:lnSpc>
                <a:spcPct val="120000"/>
              </a:lnSpc>
            </a:pPr>
            <a:r>
              <a:rPr lang="en-US" sz="1046" dirty="0">
                <a:solidFill>
                  <a:srgbClr val="F9FAFB">
                    <a:alpha val="60000"/>
                  </a:srgbClr>
                </a:solidFill>
                <a:latin typeface="Quattrocento Sans" pitchFamily="34" charset="0"/>
                <a:ea typeface="Quattrocento Sans" pitchFamily="34" charset="-122"/>
                <a:cs typeface="Quattrocento Sans" pitchFamily="34" charset="-120"/>
              </a:rPr>
              <a:t>Matched prediction (+8.2%)</a:t>
            </a:r>
            <a:endParaRPr lang="en-US" sz="1600" dirty="0"/>
          </a:p>
        </p:txBody>
      </p:sp>
      <p:sp>
        <p:nvSpPr>
          <p:cNvPr id="15" name="Shape 13"/>
          <p:cNvSpPr/>
          <p:nvPr/>
        </p:nvSpPr>
        <p:spPr>
          <a:xfrm>
            <a:off x="398493" y="3149875"/>
            <a:ext cx="6755412" cy="1176504"/>
          </a:xfrm>
          <a:custGeom>
            <a:avLst/>
            <a:gdLst/>
            <a:ahLst/>
            <a:cxnLst/>
            <a:rect l="l" t="t" r="r" b="b"/>
            <a:pathLst>
              <a:path w="6755412" h="1176504">
                <a:moveTo>
                  <a:pt x="37952" y="0"/>
                </a:moveTo>
                <a:lnTo>
                  <a:pt x="6679504" y="0"/>
                </a:lnTo>
                <a:cubicBezTo>
                  <a:pt x="6721426" y="0"/>
                  <a:pt x="6755412" y="33985"/>
                  <a:pt x="6755412" y="75908"/>
                </a:cubicBezTo>
                <a:lnTo>
                  <a:pt x="6755412" y="1100596"/>
                </a:lnTo>
                <a:cubicBezTo>
                  <a:pt x="6755412" y="1142519"/>
                  <a:pt x="6721426" y="1176504"/>
                  <a:pt x="6679504" y="1176504"/>
                </a:cubicBezTo>
                <a:lnTo>
                  <a:pt x="37952" y="1176504"/>
                </a:lnTo>
                <a:cubicBezTo>
                  <a:pt x="16992" y="1176504"/>
                  <a:pt x="0" y="1159513"/>
                  <a:pt x="0" y="1138553"/>
                </a:cubicBezTo>
                <a:lnTo>
                  <a:pt x="0" y="37952"/>
                </a:lnTo>
                <a:cubicBezTo>
                  <a:pt x="0" y="17006"/>
                  <a:pt x="17006" y="0"/>
                  <a:pt x="37952" y="0"/>
                </a:cubicBezTo>
                <a:close/>
              </a:path>
            </a:pathLst>
          </a:custGeom>
          <a:solidFill>
            <a:srgbClr val="374151"/>
          </a:solidFill>
          <a:ln/>
        </p:spPr>
      </p:sp>
      <p:sp>
        <p:nvSpPr>
          <p:cNvPr id="16" name="Shape 14"/>
          <p:cNvSpPr/>
          <p:nvPr/>
        </p:nvSpPr>
        <p:spPr>
          <a:xfrm>
            <a:off x="398493" y="3149875"/>
            <a:ext cx="37952" cy="1176504"/>
          </a:xfrm>
          <a:custGeom>
            <a:avLst/>
            <a:gdLst/>
            <a:ahLst/>
            <a:cxnLst/>
            <a:rect l="l" t="t" r="r" b="b"/>
            <a:pathLst>
              <a:path w="37952" h="1176504">
                <a:moveTo>
                  <a:pt x="37952" y="0"/>
                </a:moveTo>
                <a:lnTo>
                  <a:pt x="37952" y="0"/>
                </a:lnTo>
                <a:lnTo>
                  <a:pt x="37952" y="1176504"/>
                </a:lnTo>
                <a:lnTo>
                  <a:pt x="37952" y="1176504"/>
                </a:lnTo>
                <a:cubicBezTo>
                  <a:pt x="16992" y="1176504"/>
                  <a:pt x="0" y="1159513"/>
                  <a:pt x="0" y="1138553"/>
                </a:cubicBezTo>
                <a:lnTo>
                  <a:pt x="0" y="37952"/>
                </a:lnTo>
                <a:cubicBezTo>
                  <a:pt x="0" y="17006"/>
                  <a:pt x="17006" y="0"/>
                  <a:pt x="37952" y="0"/>
                </a:cubicBezTo>
                <a:close/>
              </a:path>
            </a:pathLst>
          </a:custGeom>
          <a:solidFill>
            <a:srgbClr val="3B82F6"/>
          </a:solidFill>
          <a:ln/>
        </p:spPr>
      </p:sp>
      <p:sp>
        <p:nvSpPr>
          <p:cNvPr id="17" name="Shape 15"/>
          <p:cNvSpPr/>
          <p:nvPr/>
        </p:nvSpPr>
        <p:spPr>
          <a:xfrm>
            <a:off x="607228" y="3434513"/>
            <a:ext cx="607228" cy="607228"/>
          </a:xfrm>
          <a:custGeom>
            <a:avLst/>
            <a:gdLst/>
            <a:ahLst/>
            <a:cxnLst/>
            <a:rect l="l" t="t" r="r" b="b"/>
            <a:pathLst>
              <a:path w="607228" h="607228">
                <a:moveTo>
                  <a:pt x="303614" y="0"/>
                </a:moveTo>
                <a:lnTo>
                  <a:pt x="303614" y="0"/>
                </a:lnTo>
                <a:cubicBezTo>
                  <a:pt x="471183" y="0"/>
                  <a:pt x="607228" y="136045"/>
                  <a:pt x="607228" y="303614"/>
                </a:cubicBezTo>
                <a:lnTo>
                  <a:pt x="607228" y="303614"/>
                </a:lnTo>
                <a:cubicBezTo>
                  <a:pt x="607228" y="471183"/>
                  <a:pt x="471183" y="607228"/>
                  <a:pt x="303614" y="607228"/>
                </a:cubicBezTo>
                <a:lnTo>
                  <a:pt x="303614" y="607228"/>
                </a:lnTo>
                <a:cubicBezTo>
                  <a:pt x="136045" y="607228"/>
                  <a:pt x="0" y="471183"/>
                  <a:pt x="0" y="303614"/>
                </a:cubicBezTo>
                <a:lnTo>
                  <a:pt x="0" y="303614"/>
                </a:lnTo>
                <a:cubicBezTo>
                  <a:pt x="0" y="136045"/>
                  <a:pt x="136045" y="0"/>
                  <a:pt x="303614" y="0"/>
                </a:cubicBezTo>
                <a:close/>
              </a:path>
            </a:pathLst>
          </a:custGeom>
          <a:solidFill>
            <a:srgbClr val="3B82F6">
              <a:alpha val="20000"/>
            </a:srgbClr>
          </a:solidFill>
          <a:ln/>
        </p:spPr>
      </p:sp>
      <p:sp>
        <p:nvSpPr>
          <p:cNvPr id="18" name="Shape 16"/>
          <p:cNvSpPr/>
          <p:nvPr/>
        </p:nvSpPr>
        <p:spPr>
          <a:xfrm>
            <a:off x="768523" y="3624272"/>
            <a:ext cx="284638" cy="227711"/>
          </a:xfrm>
          <a:custGeom>
            <a:avLst/>
            <a:gdLst/>
            <a:ahLst/>
            <a:cxnLst/>
            <a:rect l="l" t="t" r="r" b="b"/>
            <a:pathLst>
              <a:path w="284638" h="227711">
                <a:moveTo>
                  <a:pt x="60486" y="56928"/>
                </a:moveTo>
                <a:cubicBezTo>
                  <a:pt x="60486" y="27472"/>
                  <a:pt x="84400" y="3558"/>
                  <a:pt x="113855" y="3558"/>
                </a:cubicBezTo>
                <a:cubicBezTo>
                  <a:pt x="143311" y="3558"/>
                  <a:pt x="167225" y="27472"/>
                  <a:pt x="167225" y="56928"/>
                </a:cubicBezTo>
                <a:cubicBezTo>
                  <a:pt x="167225" y="86383"/>
                  <a:pt x="143311" y="110297"/>
                  <a:pt x="113855" y="110297"/>
                </a:cubicBezTo>
                <a:cubicBezTo>
                  <a:pt x="84400" y="110297"/>
                  <a:pt x="60486" y="86383"/>
                  <a:pt x="60486" y="56928"/>
                </a:cubicBezTo>
                <a:close/>
                <a:moveTo>
                  <a:pt x="21348" y="214502"/>
                </a:moveTo>
                <a:cubicBezTo>
                  <a:pt x="21348" y="170694"/>
                  <a:pt x="56839" y="135203"/>
                  <a:pt x="100646" y="135203"/>
                </a:cubicBezTo>
                <a:lnTo>
                  <a:pt x="127064" y="135203"/>
                </a:lnTo>
                <a:cubicBezTo>
                  <a:pt x="170872" y="135203"/>
                  <a:pt x="206363" y="170694"/>
                  <a:pt x="206363" y="214502"/>
                </a:cubicBezTo>
                <a:cubicBezTo>
                  <a:pt x="206363" y="221795"/>
                  <a:pt x="200448" y="227711"/>
                  <a:pt x="193154" y="227711"/>
                </a:cubicBezTo>
                <a:lnTo>
                  <a:pt x="34557" y="227711"/>
                </a:lnTo>
                <a:cubicBezTo>
                  <a:pt x="27263" y="227711"/>
                  <a:pt x="21348" y="221795"/>
                  <a:pt x="21348" y="214502"/>
                </a:cubicBezTo>
                <a:close/>
                <a:moveTo>
                  <a:pt x="209921" y="74718"/>
                </a:moveTo>
                <a:lnTo>
                  <a:pt x="273964" y="74718"/>
                </a:lnTo>
                <a:cubicBezTo>
                  <a:pt x="279879" y="74718"/>
                  <a:pt x="284638" y="79476"/>
                  <a:pt x="284638" y="85391"/>
                </a:cubicBezTo>
                <a:cubicBezTo>
                  <a:pt x="284638" y="91307"/>
                  <a:pt x="279879" y="96065"/>
                  <a:pt x="273964" y="96065"/>
                </a:cubicBezTo>
                <a:lnTo>
                  <a:pt x="209921" y="96065"/>
                </a:lnTo>
                <a:cubicBezTo>
                  <a:pt x="204005" y="96065"/>
                  <a:pt x="199247" y="91307"/>
                  <a:pt x="199247" y="85391"/>
                </a:cubicBezTo>
                <a:cubicBezTo>
                  <a:pt x="199247" y="79476"/>
                  <a:pt x="204005" y="74718"/>
                  <a:pt x="209921" y="74718"/>
                </a:cubicBezTo>
                <a:close/>
              </a:path>
            </a:pathLst>
          </a:custGeom>
          <a:solidFill>
            <a:srgbClr val="3B82F6"/>
          </a:solidFill>
          <a:ln/>
        </p:spPr>
      </p:sp>
      <p:sp>
        <p:nvSpPr>
          <p:cNvPr id="19" name="Text 17"/>
          <p:cNvSpPr/>
          <p:nvPr/>
        </p:nvSpPr>
        <p:spPr>
          <a:xfrm>
            <a:off x="1366263" y="3377585"/>
            <a:ext cx="1375751" cy="265662"/>
          </a:xfrm>
          <a:prstGeom prst="rect">
            <a:avLst/>
          </a:prstGeom>
          <a:noFill/>
          <a:ln/>
        </p:spPr>
        <p:txBody>
          <a:bodyPr wrap="square" lIns="0" tIns="0" rIns="0" bIns="0" rtlCol="0" anchor="ctr"/>
          <a:lstStyle/>
          <a:p>
            <a:pPr>
              <a:lnSpc>
                <a:spcPct val="130000"/>
              </a:lnSpc>
            </a:pPr>
            <a:r>
              <a:rPr lang="en-US" sz="1345" b="1" dirty="0">
                <a:solidFill>
                  <a:srgbClr val="F9FAFB"/>
                </a:solidFill>
                <a:latin typeface="Quattrocento Sans" pitchFamily="34" charset="0"/>
                <a:ea typeface="Quattrocento Sans" pitchFamily="34" charset="-122"/>
                <a:cs typeface="Quattrocento Sans" pitchFamily="34" charset="-120"/>
              </a:rPr>
              <a:t>Churn Reduction</a:t>
            </a:r>
            <a:endParaRPr lang="en-US" sz="1600" dirty="0"/>
          </a:p>
        </p:txBody>
      </p:sp>
      <p:sp>
        <p:nvSpPr>
          <p:cNvPr id="20" name="Text 18"/>
          <p:cNvSpPr/>
          <p:nvPr/>
        </p:nvSpPr>
        <p:spPr>
          <a:xfrm>
            <a:off x="5943126" y="3339634"/>
            <a:ext cx="1157528" cy="341566"/>
          </a:xfrm>
          <a:prstGeom prst="rect">
            <a:avLst/>
          </a:prstGeom>
          <a:noFill/>
          <a:ln/>
        </p:spPr>
        <p:txBody>
          <a:bodyPr wrap="square" lIns="0" tIns="0" rIns="0" bIns="0" rtlCol="0" anchor="ctr"/>
          <a:lstStyle/>
          <a:p>
            <a:pPr>
              <a:lnSpc>
                <a:spcPct val="100000"/>
              </a:lnSpc>
            </a:pPr>
            <a:r>
              <a:rPr lang="en-US" sz="2241" b="1" dirty="0">
                <a:solidFill>
                  <a:srgbClr val="3B82F6"/>
                </a:solidFill>
                <a:latin typeface="Quattrocento Sans" pitchFamily="34" charset="0"/>
                <a:ea typeface="Quattrocento Sans" pitchFamily="34" charset="-122"/>
                <a:cs typeface="Quattrocento Sans" pitchFamily="34" charset="-120"/>
              </a:rPr>
              <a:t>-0.76pp</a:t>
            </a:r>
            <a:endParaRPr lang="en-US" sz="1600" dirty="0"/>
          </a:p>
        </p:txBody>
      </p:sp>
      <p:sp>
        <p:nvSpPr>
          <p:cNvPr id="21" name="Shape 19"/>
          <p:cNvSpPr/>
          <p:nvPr/>
        </p:nvSpPr>
        <p:spPr>
          <a:xfrm>
            <a:off x="1366263" y="3757103"/>
            <a:ext cx="5597883" cy="113855"/>
          </a:xfrm>
          <a:custGeom>
            <a:avLst/>
            <a:gdLst/>
            <a:ahLst/>
            <a:cxnLst/>
            <a:rect l="l" t="t" r="r" b="b"/>
            <a:pathLst>
              <a:path w="5597883" h="113855">
                <a:moveTo>
                  <a:pt x="56928" y="0"/>
                </a:moveTo>
                <a:lnTo>
                  <a:pt x="5540956" y="0"/>
                </a:lnTo>
                <a:cubicBezTo>
                  <a:pt x="5572396" y="0"/>
                  <a:pt x="5597883" y="25487"/>
                  <a:pt x="5597883" y="56928"/>
                </a:cubicBezTo>
                <a:lnTo>
                  <a:pt x="5597883" y="56928"/>
                </a:lnTo>
                <a:cubicBezTo>
                  <a:pt x="5597883" y="88368"/>
                  <a:pt x="5572396" y="113855"/>
                  <a:pt x="5540956" y="113855"/>
                </a:cubicBezTo>
                <a:lnTo>
                  <a:pt x="56928" y="113855"/>
                </a:lnTo>
                <a:cubicBezTo>
                  <a:pt x="25508" y="113855"/>
                  <a:pt x="0" y="88347"/>
                  <a:pt x="0" y="56928"/>
                </a:cubicBezTo>
                <a:lnTo>
                  <a:pt x="0" y="56928"/>
                </a:lnTo>
                <a:cubicBezTo>
                  <a:pt x="0" y="25508"/>
                  <a:pt x="25508" y="0"/>
                  <a:pt x="56928" y="0"/>
                </a:cubicBezTo>
                <a:close/>
              </a:path>
            </a:pathLst>
          </a:custGeom>
          <a:solidFill>
            <a:srgbClr val="111827"/>
          </a:solidFill>
          <a:ln/>
        </p:spPr>
      </p:sp>
      <p:sp>
        <p:nvSpPr>
          <p:cNvPr id="22" name="Shape 20"/>
          <p:cNvSpPr/>
          <p:nvPr/>
        </p:nvSpPr>
        <p:spPr>
          <a:xfrm>
            <a:off x="1366263" y="3757103"/>
            <a:ext cx="4250596" cy="113855"/>
          </a:xfrm>
          <a:custGeom>
            <a:avLst/>
            <a:gdLst/>
            <a:ahLst/>
            <a:cxnLst/>
            <a:rect l="l" t="t" r="r" b="b"/>
            <a:pathLst>
              <a:path w="4250596" h="113855">
                <a:moveTo>
                  <a:pt x="56928" y="0"/>
                </a:moveTo>
                <a:lnTo>
                  <a:pt x="4193668" y="0"/>
                </a:lnTo>
                <a:cubicBezTo>
                  <a:pt x="4225109" y="0"/>
                  <a:pt x="4250596" y="25487"/>
                  <a:pt x="4250596" y="56928"/>
                </a:cubicBezTo>
                <a:lnTo>
                  <a:pt x="4250596" y="56928"/>
                </a:lnTo>
                <a:cubicBezTo>
                  <a:pt x="4250596" y="88368"/>
                  <a:pt x="4225109" y="113855"/>
                  <a:pt x="4193668" y="113855"/>
                </a:cubicBezTo>
                <a:lnTo>
                  <a:pt x="56928" y="113855"/>
                </a:lnTo>
                <a:cubicBezTo>
                  <a:pt x="25508" y="113855"/>
                  <a:pt x="0" y="88347"/>
                  <a:pt x="0" y="56928"/>
                </a:cubicBezTo>
                <a:lnTo>
                  <a:pt x="0" y="56928"/>
                </a:lnTo>
                <a:cubicBezTo>
                  <a:pt x="0" y="25508"/>
                  <a:pt x="25508" y="0"/>
                  <a:pt x="56928" y="0"/>
                </a:cubicBezTo>
                <a:close/>
              </a:path>
            </a:pathLst>
          </a:custGeom>
          <a:solidFill>
            <a:srgbClr val="3B82F6"/>
          </a:solidFill>
          <a:ln/>
        </p:spPr>
      </p:sp>
      <p:sp>
        <p:nvSpPr>
          <p:cNvPr id="23" name="Text 21"/>
          <p:cNvSpPr/>
          <p:nvPr/>
        </p:nvSpPr>
        <p:spPr>
          <a:xfrm>
            <a:off x="1366263" y="3946862"/>
            <a:ext cx="5664299" cy="189759"/>
          </a:xfrm>
          <a:prstGeom prst="rect">
            <a:avLst/>
          </a:prstGeom>
          <a:noFill/>
          <a:ln/>
        </p:spPr>
        <p:txBody>
          <a:bodyPr wrap="square" lIns="0" tIns="0" rIns="0" bIns="0" rtlCol="0" anchor="ctr"/>
          <a:lstStyle/>
          <a:p>
            <a:pPr>
              <a:lnSpc>
                <a:spcPct val="120000"/>
              </a:lnSpc>
            </a:pPr>
            <a:r>
              <a:rPr lang="en-US" sz="1046" dirty="0">
                <a:solidFill>
                  <a:srgbClr val="F9FAFB">
                    <a:alpha val="60000"/>
                  </a:srgbClr>
                </a:solidFill>
                <a:latin typeface="Quattrocento Sans" pitchFamily="34" charset="0"/>
                <a:ea typeface="Quattrocento Sans" pitchFamily="34" charset="-122"/>
                <a:cs typeface="Quattrocento Sans" pitchFamily="34" charset="-120"/>
              </a:rPr>
              <a:t>Percentage points decrease</a:t>
            </a:r>
            <a:endParaRPr lang="en-US" sz="1600" dirty="0"/>
          </a:p>
        </p:txBody>
      </p:sp>
      <p:sp>
        <p:nvSpPr>
          <p:cNvPr id="24" name="Shape 22"/>
          <p:cNvSpPr/>
          <p:nvPr/>
        </p:nvSpPr>
        <p:spPr>
          <a:xfrm>
            <a:off x="398493" y="4478186"/>
            <a:ext cx="3292314" cy="948794"/>
          </a:xfrm>
          <a:custGeom>
            <a:avLst/>
            <a:gdLst/>
            <a:ahLst/>
            <a:cxnLst/>
            <a:rect l="l" t="t" r="r" b="b"/>
            <a:pathLst>
              <a:path w="3292314" h="948794">
                <a:moveTo>
                  <a:pt x="37952" y="0"/>
                </a:moveTo>
                <a:lnTo>
                  <a:pt x="3216411" y="0"/>
                </a:lnTo>
                <a:cubicBezTo>
                  <a:pt x="3258331" y="0"/>
                  <a:pt x="3292314" y="33983"/>
                  <a:pt x="3292314" y="75904"/>
                </a:cubicBezTo>
                <a:lnTo>
                  <a:pt x="3292314" y="872890"/>
                </a:lnTo>
                <a:cubicBezTo>
                  <a:pt x="3292314" y="914783"/>
                  <a:pt x="3258303" y="948794"/>
                  <a:pt x="3216411" y="948794"/>
                </a:cubicBezTo>
                <a:lnTo>
                  <a:pt x="37952" y="948794"/>
                </a:lnTo>
                <a:cubicBezTo>
                  <a:pt x="16992" y="948794"/>
                  <a:pt x="0" y="931802"/>
                  <a:pt x="0" y="910842"/>
                </a:cubicBezTo>
                <a:lnTo>
                  <a:pt x="0" y="37952"/>
                </a:lnTo>
                <a:cubicBezTo>
                  <a:pt x="0" y="17006"/>
                  <a:pt x="17006" y="0"/>
                  <a:pt x="37952" y="0"/>
                </a:cubicBezTo>
                <a:close/>
              </a:path>
            </a:pathLst>
          </a:custGeom>
          <a:solidFill>
            <a:srgbClr val="374151"/>
          </a:solidFill>
          <a:ln/>
        </p:spPr>
      </p:sp>
      <p:sp>
        <p:nvSpPr>
          <p:cNvPr id="25" name="Shape 23"/>
          <p:cNvSpPr/>
          <p:nvPr/>
        </p:nvSpPr>
        <p:spPr>
          <a:xfrm>
            <a:off x="398493" y="4478186"/>
            <a:ext cx="37952" cy="948794"/>
          </a:xfrm>
          <a:custGeom>
            <a:avLst/>
            <a:gdLst/>
            <a:ahLst/>
            <a:cxnLst/>
            <a:rect l="l" t="t" r="r" b="b"/>
            <a:pathLst>
              <a:path w="37952" h="948794">
                <a:moveTo>
                  <a:pt x="37952" y="0"/>
                </a:moveTo>
                <a:lnTo>
                  <a:pt x="37952" y="0"/>
                </a:lnTo>
                <a:lnTo>
                  <a:pt x="37952" y="948794"/>
                </a:lnTo>
                <a:lnTo>
                  <a:pt x="37952" y="948794"/>
                </a:lnTo>
                <a:cubicBezTo>
                  <a:pt x="16992" y="948794"/>
                  <a:pt x="0" y="931802"/>
                  <a:pt x="0" y="910842"/>
                </a:cubicBezTo>
                <a:lnTo>
                  <a:pt x="0" y="37952"/>
                </a:lnTo>
                <a:cubicBezTo>
                  <a:pt x="0" y="17006"/>
                  <a:pt x="17006" y="0"/>
                  <a:pt x="37952" y="0"/>
                </a:cubicBezTo>
                <a:close/>
              </a:path>
            </a:pathLst>
          </a:custGeom>
          <a:solidFill>
            <a:srgbClr val="F97316"/>
          </a:solidFill>
          <a:ln/>
        </p:spPr>
      </p:sp>
      <p:sp>
        <p:nvSpPr>
          <p:cNvPr id="26" name="Shape 24"/>
          <p:cNvSpPr/>
          <p:nvPr/>
        </p:nvSpPr>
        <p:spPr>
          <a:xfrm>
            <a:off x="607228" y="4686800"/>
            <a:ext cx="531325" cy="531325"/>
          </a:xfrm>
          <a:custGeom>
            <a:avLst/>
            <a:gdLst/>
            <a:ahLst/>
            <a:cxnLst/>
            <a:rect l="l" t="t" r="r" b="b"/>
            <a:pathLst>
              <a:path w="531325" h="531325">
                <a:moveTo>
                  <a:pt x="265662" y="0"/>
                </a:moveTo>
                <a:lnTo>
                  <a:pt x="265662" y="0"/>
                </a:lnTo>
                <a:cubicBezTo>
                  <a:pt x="412285" y="0"/>
                  <a:pt x="531325" y="119039"/>
                  <a:pt x="531325" y="265662"/>
                </a:cubicBezTo>
                <a:lnTo>
                  <a:pt x="531325" y="265662"/>
                </a:lnTo>
                <a:cubicBezTo>
                  <a:pt x="531325" y="412285"/>
                  <a:pt x="412285" y="531325"/>
                  <a:pt x="265662" y="531325"/>
                </a:cubicBezTo>
                <a:lnTo>
                  <a:pt x="265662" y="531325"/>
                </a:lnTo>
                <a:cubicBezTo>
                  <a:pt x="119039" y="531325"/>
                  <a:pt x="0" y="412285"/>
                  <a:pt x="0" y="265662"/>
                </a:cubicBezTo>
                <a:lnTo>
                  <a:pt x="0" y="265662"/>
                </a:lnTo>
                <a:cubicBezTo>
                  <a:pt x="0" y="119039"/>
                  <a:pt x="119039" y="0"/>
                  <a:pt x="265662" y="0"/>
                </a:cubicBezTo>
                <a:close/>
              </a:path>
            </a:pathLst>
          </a:custGeom>
          <a:solidFill>
            <a:srgbClr val="F97316">
              <a:alpha val="20000"/>
            </a:srgbClr>
          </a:solidFill>
          <a:ln/>
        </p:spPr>
      </p:sp>
      <p:sp>
        <p:nvSpPr>
          <p:cNvPr id="27" name="Shape 25"/>
          <p:cNvSpPr/>
          <p:nvPr/>
        </p:nvSpPr>
        <p:spPr>
          <a:xfrm>
            <a:off x="759035" y="4838607"/>
            <a:ext cx="227711" cy="227711"/>
          </a:xfrm>
          <a:custGeom>
            <a:avLst/>
            <a:gdLst/>
            <a:ahLst/>
            <a:cxnLst/>
            <a:rect l="l" t="t" r="r" b="b"/>
            <a:pathLst>
              <a:path w="227711" h="227711">
                <a:moveTo>
                  <a:pt x="113855" y="227711"/>
                </a:moveTo>
                <a:cubicBezTo>
                  <a:pt x="176694" y="227711"/>
                  <a:pt x="227711" y="176694"/>
                  <a:pt x="227711" y="113855"/>
                </a:cubicBezTo>
                <a:cubicBezTo>
                  <a:pt x="227711" y="51017"/>
                  <a:pt x="176694" y="0"/>
                  <a:pt x="113855" y="0"/>
                </a:cubicBezTo>
                <a:cubicBezTo>
                  <a:pt x="51017" y="0"/>
                  <a:pt x="0" y="51017"/>
                  <a:pt x="0" y="113855"/>
                </a:cubicBezTo>
                <a:cubicBezTo>
                  <a:pt x="0" y="176694"/>
                  <a:pt x="51017" y="227711"/>
                  <a:pt x="113855" y="227711"/>
                </a:cubicBezTo>
                <a:close/>
                <a:moveTo>
                  <a:pt x="73561" y="143164"/>
                </a:moveTo>
                <a:cubicBezTo>
                  <a:pt x="82634" y="155617"/>
                  <a:pt x="97311" y="163667"/>
                  <a:pt x="113855" y="163667"/>
                </a:cubicBezTo>
                <a:cubicBezTo>
                  <a:pt x="130400" y="163667"/>
                  <a:pt x="145076" y="155617"/>
                  <a:pt x="154149" y="143164"/>
                </a:cubicBezTo>
                <a:cubicBezTo>
                  <a:pt x="157618" y="138405"/>
                  <a:pt x="164290" y="137338"/>
                  <a:pt x="169048" y="140807"/>
                </a:cubicBezTo>
                <a:cubicBezTo>
                  <a:pt x="173807" y="144276"/>
                  <a:pt x="174875" y="150947"/>
                  <a:pt x="171406" y="155706"/>
                </a:cubicBezTo>
                <a:cubicBezTo>
                  <a:pt x="158463" y="173451"/>
                  <a:pt x="137516" y="185015"/>
                  <a:pt x="113855" y="185015"/>
                </a:cubicBezTo>
                <a:cubicBezTo>
                  <a:pt x="90195" y="185015"/>
                  <a:pt x="69247" y="173451"/>
                  <a:pt x="56305" y="155706"/>
                </a:cubicBezTo>
                <a:cubicBezTo>
                  <a:pt x="52836" y="150947"/>
                  <a:pt x="53903" y="144276"/>
                  <a:pt x="58662" y="140807"/>
                </a:cubicBezTo>
                <a:cubicBezTo>
                  <a:pt x="63421" y="137338"/>
                  <a:pt x="70092" y="138405"/>
                  <a:pt x="73561" y="143164"/>
                </a:cubicBezTo>
                <a:close/>
                <a:moveTo>
                  <a:pt x="64044" y="92507"/>
                </a:moveTo>
                <a:cubicBezTo>
                  <a:pt x="64044" y="84653"/>
                  <a:pt x="70421" y="78275"/>
                  <a:pt x="78275" y="78275"/>
                </a:cubicBezTo>
                <a:cubicBezTo>
                  <a:pt x="86130" y="78275"/>
                  <a:pt x="92507" y="84653"/>
                  <a:pt x="92507" y="92507"/>
                </a:cubicBezTo>
                <a:cubicBezTo>
                  <a:pt x="92507" y="100362"/>
                  <a:pt x="86130" y="106739"/>
                  <a:pt x="78275" y="106739"/>
                </a:cubicBezTo>
                <a:cubicBezTo>
                  <a:pt x="70421" y="106739"/>
                  <a:pt x="64044" y="100362"/>
                  <a:pt x="64044" y="92507"/>
                </a:cubicBezTo>
                <a:close/>
                <a:moveTo>
                  <a:pt x="149435" y="78275"/>
                </a:moveTo>
                <a:cubicBezTo>
                  <a:pt x="157290" y="78275"/>
                  <a:pt x="163667" y="84653"/>
                  <a:pt x="163667" y="92507"/>
                </a:cubicBezTo>
                <a:cubicBezTo>
                  <a:pt x="163667" y="100362"/>
                  <a:pt x="157290" y="106739"/>
                  <a:pt x="149435" y="106739"/>
                </a:cubicBezTo>
                <a:cubicBezTo>
                  <a:pt x="141580" y="106739"/>
                  <a:pt x="135203" y="100362"/>
                  <a:pt x="135203" y="92507"/>
                </a:cubicBezTo>
                <a:cubicBezTo>
                  <a:pt x="135203" y="84653"/>
                  <a:pt x="141580" y="78275"/>
                  <a:pt x="149435" y="78275"/>
                </a:cubicBezTo>
                <a:close/>
              </a:path>
            </a:pathLst>
          </a:custGeom>
          <a:solidFill>
            <a:srgbClr val="F97316"/>
          </a:solidFill>
          <a:ln/>
        </p:spPr>
      </p:sp>
      <p:sp>
        <p:nvSpPr>
          <p:cNvPr id="28" name="Text 26"/>
          <p:cNvSpPr/>
          <p:nvPr/>
        </p:nvSpPr>
        <p:spPr>
          <a:xfrm>
            <a:off x="1290360" y="4667945"/>
            <a:ext cx="1537046" cy="265662"/>
          </a:xfrm>
          <a:prstGeom prst="rect">
            <a:avLst/>
          </a:prstGeom>
          <a:noFill/>
          <a:ln/>
        </p:spPr>
        <p:txBody>
          <a:bodyPr wrap="square" lIns="0" tIns="0" rIns="0" bIns="0" rtlCol="0" anchor="ctr"/>
          <a:lstStyle/>
          <a:p>
            <a:pPr>
              <a:lnSpc>
                <a:spcPct val="130000"/>
              </a:lnSpc>
            </a:pPr>
            <a:r>
              <a:rPr lang="en-US" sz="1345" b="1" dirty="0">
                <a:solidFill>
                  <a:srgbClr val="F9FAFB"/>
                </a:solidFill>
                <a:latin typeface="Quattrocento Sans" pitchFamily="34" charset="0"/>
                <a:ea typeface="Quattrocento Sans" pitchFamily="34" charset="-122"/>
                <a:cs typeface="Quattrocento Sans" pitchFamily="34" charset="-120"/>
              </a:rPr>
              <a:t>User Feedback</a:t>
            </a:r>
            <a:endParaRPr lang="en-US" sz="1600" dirty="0"/>
          </a:p>
        </p:txBody>
      </p:sp>
      <p:sp>
        <p:nvSpPr>
          <p:cNvPr id="29" name="Text 27"/>
          <p:cNvSpPr/>
          <p:nvPr/>
        </p:nvSpPr>
        <p:spPr>
          <a:xfrm>
            <a:off x="1290360" y="4933607"/>
            <a:ext cx="1565510" cy="303614"/>
          </a:xfrm>
          <a:prstGeom prst="rect">
            <a:avLst/>
          </a:prstGeom>
          <a:noFill/>
          <a:ln/>
        </p:spPr>
        <p:txBody>
          <a:bodyPr wrap="square" lIns="0" tIns="0" rIns="0" bIns="0" rtlCol="0" anchor="ctr"/>
          <a:lstStyle/>
          <a:p>
            <a:pPr>
              <a:lnSpc>
                <a:spcPct val="110000"/>
              </a:lnSpc>
            </a:pPr>
            <a:r>
              <a:rPr lang="en-US" sz="1793" b="1" dirty="0">
                <a:solidFill>
                  <a:srgbClr val="10B981"/>
                </a:solidFill>
                <a:latin typeface="Quattrocento Sans" pitchFamily="34" charset="0"/>
                <a:ea typeface="Quattrocento Sans" pitchFamily="34" charset="-122"/>
                <a:cs typeface="Quattrocento Sans" pitchFamily="34" charset="-120"/>
              </a:rPr>
              <a:t>No Complaints</a:t>
            </a:r>
            <a:endParaRPr lang="en-US" sz="1600" dirty="0"/>
          </a:p>
        </p:txBody>
      </p:sp>
      <p:sp>
        <p:nvSpPr>
          <p:cNvPr id="30" name="Shape 28"/>
          <p:cNvSpPr/>
          <p:nvPr/>
        </p:nvSpPr>
        <p:spPr>
          <a:xfrm>
            <a:off x="3859575" y="4478186"/>
            <a:ext cx="3292314" cy="948794"/>
          </a:xfrm>
          <a:custGeom>
            <a:avLst/>
            <a:gdLst/>
            <a:ahLst/>
            <a:cxnLst/>
            <a:rect l="l" t="t" r="r" b="b"/>
            <a:pathLst>
              <a:path w="3292314" h="948794">
                <a:moveTo>
                  <a:pt x="37952" y="0"/>
                </a:moveTo>
                <a:lnTo>
                  <a:pt x="3216411" y="0"/>
                </a:lnTo>
                <a:cubicBezTo>
                  <a:pt x="3258331" y="0"/>
                  <a:pt x="3292314" y="33983"/>
                  <a:pt x="3292314" y="75904"/>
                </a:cubicBezTo>
                <a:lnTo>
                  <a:pt x="3292314" y="872890"/>
                </a:lnTo>
                <a:cubicBezTo>
                  <a:pt x="3292314" y="914783"/>
                  <a:pt x="3258303" y="948794"/>
                  <a:pt x="3216411" y="948794"/>
                </a:cubicBezTo>
                <a:lnTo>
                  <a:pt x="37952" y="948794"/>
                </a:lnTo>
                <a:cubicBezTo>
                  <a:pt x="16992" y="948794"/>
                  <a:pt x="0" y="931802"/>
                  <a:pt x="0" y="910842"/>
                </a:cubicBezTo>
                <a:lnTo>
                  <a:pt x="0" y="37952"/>
                </a:lnTo>
                <a:cubicBezTo>
                  <a:pt x="0" y="17006"/>
                  <a:pt x="17006" y="0"/>
                  <a:pt x="37952" y="0"/>
                </a:cubicBezTo>
                <a:close/>
              </a:path>
            </a:pathLst>
          </a:custGeom>
          <a:solidFill>
            <a:srgbClr val="374151"/>
          </a:solidFill>
          <a:ln/>
        </p:spPr>
      </p:sp>
      <p:sp>
        <p:nvSpPr>
          <p:cNvPr id="31" name="Shape 29"/>
          <p:cNvSpPr/>
          <p:nvPr/>
        </p:nvSpPr>
        <p:spPr>
          <a:xfrm>
            <a:off x="3859575" y="4478186"/>
            <a:ext cx="37952" cy="948794"/>
          </a:xfrm>
          <a:custGeom>
            <a:avLst/>
            <a:gdLst/>
            <a:ahLst/>
            <a:cxnLst/>
            <a:rect l="l" t="t" r="r" b="b"/>
            <a:pathLst>
              <a:path w="37952" h="948794">
                <a:moveTo>
                  <a:pt x="37952" y="0"/>
                </a:moveTo>
                <a:lnTo>
                  <a:pt x="37952" y="0"/>
                </a:lnTo>
                <a:lnTo>
                  <a:pt x="37952" y="948794"/>
                </a:lnTo>
                <a:lnTo>
                  <a:pt x="37952" y="948794"/>
                </a:lnTo>
                <a:cubicBezTo>
                  <a:pt x="16992" y="948794"/>
                  <a:pt x="0" y="931802"/>
                  <a:pt x="0" y="910842"/>
                </a:cubicBezTo>
                <a:lnTo>
                  <a:pt x="0" y="37952"/>
                </a:lnTo>
                <a:cubicBezTo>
                  <a:pt x="0" y="17006"/>
                  <a:pt x="17006" y="0"/>
                  <a:pt x="37952" y="0"/>
                </a:cubicBezTo>
                <a:close/>
              </a:path>
            </a:pathLst>
          </a:custGeom>
          <a:solidFill>
            <a:srgbClr val="8B5CF6"/>
          </a:solidFill>
          <a:ln/>
        </p:spPr>
      </p:sp>
      <p:sp>
        <p:nvSpPr>
          <p:cNvPr id="32" name="Shape 30"/>
          <p:cNvSpPr/>
          <p:nvPr/>
        </p:nvSpPr>
        <p:spPr>
          <a:xfrm>
            <a:off x="4068309" y="4686800"/>
            <a:ext cx="531325" cy="531325"/>
          </a:xfrm>
          <a:custGeom>
            <a:avLst/>
            <a:gdLst/>
            <a:ahLst/>
            <a:cxnLst/>
            <a:rect l="l" t="t" r="r" b="b"/>
            <a:pathLst>
              <a:path w="531325" h="531325">
                <a:moveTo>
                  <a:pt x="265662" y="0"/>
                </a:moveTo>
                <a:lnTo>
                  <a:pt x="265662" y="0"/>
                </a:lnTo>
                <a:cubicBezTo>
                  <a:pt x="412285" y="0"/>
                  <a:pt x="531325" y="119039"/>
                  <a:pt x="531325" y="265662"/>
                </a:cubicBezTo>
                <a:lnTo>
                  <a:pt x="531325" y="265662"/>
                </a:lnTo>
                <a:cubicBezTo>
                  <a:pt x="531325" y="412285"/>
                  <a:pt x="412285" y="531325"/>
                  <a:pt x="265662" y="531325"/>
                </a:cubicBezTo>
                <a:lnTo>
                  <a:pt x="265662" y="531325"/>
                </a:lnTo>
                <a:cubicBezTo>
                  <a:pt x="119039" y="531325"/>
                  <a:pt x="0" y="412285"/>
                  <a:pt x="0" y="265662"/>
                </a:cubicBezTo>
                <a:lnTo>
                  <a:pt x="0" y="265662"/>
                </a:lnTo>
                <a:cubicBezTo>
                  <a:pt x="0" y="119039"/>
                  <a:pt x="119039" y="0"/>
                  <a:pt x="265662" y="0"/>
                </a:cubicBezTo>
                <a:close/>
              </a:path>
            </a:pathLst>
          </a:custGeom>
          <a:solidFill>
            <a:srgbClr val="8B5CF6">
              <a:alpha val="20000"/>
            </a:srgbClr>
          </a:solidFill>
          <a:ln/>
        </p:spPr>
      </p:sp>
      <p:sp>
        <p:nvSpPr>
          <p:cNvPr id="33" name="Shape 31"/>
          <p:cNvSpPr/>
          <p:nvPr/>
        </p:nvSpPr>
        <p:spPr>
          <a:xfrm>
            <a:off x="4220116" y="4838607"/>
            <a:ext cx="227711" cy="227711"/>
          </a:xfrm>
          <a:custGeom>
            <a:avLst/>
            <a:gdLst/>
            <a:ahLst/>
            <a:cxnLst/>
            <a:rect l="l" t="t" r="r" b="b"/>
            <a:pathLst>
              <a:path w="227711" h="227711">
                <a:moveTo>
                  <a:pt x="56928" y="42696"/>
                </a:moveTo>
                <a:lnTo>
                  <a:pt x="56928" y="35580"/>
                </a:lnTo>
                <a:cubicBezTo>
                  <a:pt x="56928" y="15922"/>
                  <a:pt x="95176" y="0"/>
                  <a:pt x="142319" y="0"/>
                </a:cubicBezTo>
                <a:cubicBezTo>
                  <a:pt x="189462" y="0"/>
                  <a:pt x="227711" y="15922"/>
                  <a:pt x="227711" y="35580"/>
                </a:cubicBezTo>
                <a:lnTo>
                  <a:pt x="227711" y="42696"/>
                </a:lnTo>
                <a:cubicBezTo>
                  <a:pt x="227711" y="56305"/>
                  <a:pt x="209342" y="68135"/>
                  <a:pt x="182346" y="74139"/>
                </a:cubicBezTo>
                <a:cubicBezTo>
                  <a:pt x="181279" y="72894"/>
                  <a:pt x="180167" y="71693"/>
                  <a:pt x="179055" y="70581"/>
                </a:cubicBezTo>
                <a:cubicBezTo>
                  <a:pt x="172162" y="63777"/>
                  <a:pt x="163267" y="58618"/>
                  <a:pt x="153971" y="54793"/>
                </a:cubicBezTo>
                <a:cubicBezTo>
                  <a:pt x="135337" y="47010"/>
                  <a:pt x="111053" y="42740"/>
                  <a:pt x="85391" y="42740"/>
                </a:cubicBezTo>
                <a:cubicBezTo>
                  <a:pt x="75651" y="42740"/>
                  <a:pt x="66134" y="43363"/>
                  <a:pt x="57017" y="44564"/>
                </a:cubicBezTo>
                <a:cubicBezTo>
                  <a:pt x="56928" y="43985"/>
                  <a:pt x="56928" y="43363"/>
                  <a:pt x="56928" y="42740"/>
                </a:cubicBezTo>
                <a:close/>
                <a:moveTo>
                  <a:pt x="192131" y="156996"/>
                </a:moveTo>
                <a:lnTo>
                  <a:pt x="192131" y="136448"/>
                </a:lnTo>
                <a:cubicBezTo>
                  <a:pt x="198846" y="134714"/>
                  <a:pt x="205162" y="132668"/>
                  <a:pt x="210899" y="130266"/>
                </a:cubicBezTo>
                <a:cubicBezTo>
                  <a:pt x="216770" y="127820"/>
                  <a:pt x="222507" y="124841"/>
                  <a:pt x="227711" y="121238"/>
                </a:cubicBezTo>
                <a:lnTo>
                  <a:pt x="227711" y="128087"/>
                </a:lnTo>
                <a:cubicBezTo>
                  <a:pt x="227711" y="140006"/>
                  <a:pt x="213701" y="150547"/>
                  <a:pt x="192131" y="156996"/>
                </a:cubicBezTo>
                <a:close/>
                <a:moveTo>
                  <a:pt x="192131" y="114300"/>
                </a:moveTo>
                <a:lnTo>
                  <a:pt x="192131" y="99623"/>
                </a:lnTo>
                <a:cubicBezTo>
                  <a:pt x="192131" y="97622"/>
                  <a:pt x="191953" y="95710"/>
                  <a:pt x="191686" y="93842"/>
                </a:cubicBezTo>
                <a:cubicBezTo>
                  <a:pt x="198580" y="92107"/>
                  <a:pt x="205028" y="90017"/>
                  <a:pt x="210899" y="87526"/>
                </a:cubicBezTo>
                <a:cubicBezTo>
                  <a:pt x="216770" y="85036"/>
                  <a:pt x="222507" y="82100"/>
                  <a:pt x="227711" y="78498"/>
                </a:cubicBezTo>
                <a:lnTo>
                  <a:pt x="227711" y="85347"/>
                </a:lnTo>
                <a:cubicBezTo>
                  <a:pt x="227711" y="97266"/>
                  <a:pt x="213701" y="107807"/>
                  <a:pt x="192131" y="114256"/>
                </a:cubicBezTo>
                <a:close/>
                <a:moveTo>
                  <a:pt x="0" y="106739"/>
                </a:moveTo>
                <a:lnTo>
                  <a:pt x="0" y="99623"/>
                </a:lnTo>
                <a:cubicBezTo>
                  <a:pt x="0" y="79966"/>
                  <a:pt x="38248" y="64044"/>
                  <a:pt x="85391" y="64044"/>
                </a:cubicBezTo>
                <a:cubicBezTo>
                  <a:pt x="132535" y="64044"/>
                  <a:pt x="170783" y="79966"/>
                  <a:pt x="170783" y="99623"/>
                </a:cubicBezTo>
                <a:lnTo>
                  <a:pt x="170783" y="106739"/>
                </a:lnTo>
                <a:cubicBezTo>
                  <a:pt x="170783" y="126397"/>
                  <a:pt x="132535" y="142319"/>
                  <a:pt x="85391" y="142319"/>
                </a:cubicBezTo>
                <a:cubicBezTo>
                  <a:pt x="38248" y="142319"/>
                  <a:pt x="0" y="126397"/>
                  <a:pt x="0" y="106739"/>
                </a:cubicBezTo>
                <a:close/>
                <a:moveTo>
                  <a:pt x="170783" y="149435"/>
                </a:moveTo>
                <a:cubicBezTo>
                  <a:pt x="170783" y="169093"/>
                  <a:pt x="132535" y="185015"/>
                  <a:pt x="85391" y="185015"/>
                </a:cubicBezTo>
                <a:cubicBezTo>
                  <a:pt x="38248" y="185015"/>
                  <a:pt x="0" y="169093"/>
                  <a:pt x="0" y="149435"/>
                </a:cubicBezTo>
                <a:lnTo>
                  <a:pt x="0" y="142586"/>
                </a:lnTo>
                <a:cubicBezTo>
                  <a:pt x="5159" y="146188"/>
                  <a:pt x="10896" y="149124"/>
                  <a:pt x="16811" y="151614"/>
                </a:cubicBezTo>
                <a:cubicBezTo>
                  <a:pt x="35446" y="159397"/>
                  <a:pt x="59730" y="163667"/>
                  <a:pt x="85391" y="163667"/>
                </a:cubicBezTo>
                <a:cubicBezTo>
                  <a:pt x="111053" y="163667"/>
                  <a:pt x="135337" y="159353"/>
                  <a:pt x="153971" y="151614"/>
                </a:cubicBezTo>
                <a:cubicBezTo>
                  <a:pt x="159842" y="149168"/>
                  <a:pt x="165579" y="146188"/>
                  <a:pt x="170783" y="142586"/>
                </a:cubicBezTo>
                <a:lnTo>
                  <a:pt x="170783" y="149435"/>
                </a:lnTo>
                <a:close/>
                <a:moveTo>
                  <a:pt x="170783" y="185282"/>
                </a:moveTo>
                <a:lnTo>
                  <a:pt x="170783" y="192131"/>
                </a:lnTo>
                <a:cubicBezTo>
                  <a:pt x="170783" y="211789"/>
                  <a:pt x="132535" y="227711"/>
                  <a:pt x="85391" y="227711"/>
                </a:cubicBezTo>
                <a:cubicBezTo>
                  <a:pt x="38248" y="227711"/>
                  <a:pt x="0" y="211789"/>
                  <a:pt x="0" y="192131"/>
                </a:cubicBezTo>
                <a:lnTo>
                  <a:pt x="0" y="185282"/>
                </a:lnTo>
                <a:cubicBezTo>
                  <a:pt x="5159" y="188884"/>
                  <a:pt x="10896" y="191819"/>
                  <a:pt x="16811" y="194310"/>
                </a:cubicBezTo>
                <a:cubicBezTo>
                  <a:pt x="35446" y="202093"/>
                  <a:pt x="59730" y="206363"/>
                  <a:pt x="85391" y="206363"/>
                </a:cubicBezTo>
                <a:cubicBezTo>
                  <a:pt x="111053" y="206363"/>
                  <a:pt x="135337" y="202049"/>
                  <a:pt x="153971" y="194310"/>
                </a:cubicBezTo>
                <a:cubicBezTo>
                  <a:pt x="159842" y="191864"/>
                  <a:pt x="165579" y="188884"/>
                  <a:pt x="170783" y="185282"/>
                </a:cubicBezTo>
                <a:close/>
              </a:path>
            </a:pathLst>
          </a:custGeom>
          <a:solidFill>
            <a:srgbClr val="8B5CF6"/>
          </a:solidFill>
          <a:ln/>
        </p:spPr>
      </p:sp>
      <p:sp>
        <p:nvSpPr>
          <p:cNvPr id="34" name="Text 32"/>
          <p:cNvSpPr/>
          <p:nvPr/>
        </p:nvSpPr>
        <p:spPr>
          <a:xfrm>
            <a:off x="4751441" y="4667945"/>
            <a:ext cx="1318823" cy="265662"/>
          </a:xfrm>
          <a:prstGeom prst="rect">
            <a:avLst/>
          </a:prstGeom>
          <a:noFill/>
          <a:ln/>
        </p:spPr>
        <p:txBody>
          <a:bodyPr wrap="square" lIns="0" tIns="0" rIns="0" bIns="0" rtlCol="0" anchor="ctr"/>
          <a:lstStyle/>
          <a:p>
            <a:pPr>
              <a:lnSpc>
                <a:spcPct val="130000"/>
              </a:lnSpc>
            </a:pPr>
            <a:r>
              <a:rPr lang="en-US" sz="1345" b="1" dirty="0">
                <a:solidFill>
                  <a:srgbClr val="F9FAFB"/>
                </a:solidFill>
                <a:latin typeface="Quattrocento Sans" pitchFamily="34" charset="0"/>
                <a:ea typeface="Quattrocento Sans" pitchFamily="34" charset="-122"/>
                <a:cs typeface="Quattrocento Sans" pitchFamily="34" charset="-120"/>
              </a:rPr>
              <a:t>Revenue Impact</a:t>
            </a:r>
            <a:endParaRPr lang="en-US" sz="1600" dirty="0"/>
          </a:p>
        </p:txBody>
      </p:sp>
      <p:sp>
        <p:nvSpPr>
          <p:cNvPr id="35" name="Text 33"/>
          <p:cNvSpPr/>
          <p:nvPr/>
        </p:nvSpPr>
        <p:spPr>
          <a:xfrm>
            <a:off x="4751441" y="4933607"/>
            <a:ext cx="1347287" cy="303614"/>
          </a:xfrm>
          <a:prstGeom prst="rect">
            <a:avLst/>
          </a:prstGeom>
          <a:noFill/>
          <a:ln/>
        </p:spPr>
        <p:txBody>
          <a:bodyPr wrap="square" lIns="0" tIns="0" rIns="0" bIns="0" rtlCol="0" anchor="ctr"/>
          <a:lstStyle/>
          <a:p>
            <a:pPr>
              <a:lnSpc>
                <a:spcPct val="110000"/>
              </a:lnSpc>
            </a:pPr>
            <a:r>
              <a:rPr lang="en-US" sz="1793" b="1" dirty="0">
                <a:solidFill>
                  <a:srgbClr val="10B981"/>
                </a:solidFill>
                <a:latin typeface="Quattrocento Sans" pitchFamily="34" charset="0"/>
                <a:ea typeface="Quattrocento Sans" pitchFamily="34" charset="-122"/>
                <a:cs typeface="Quattrocento Sans" pitchFamily="34" charset="-120"/>
              </a:rPr>
              <a:t>$330M ✓</a:t>
            </a:r>
            <a:endParaRPr lang="en-US" sz="1600" dirty="0"/>
          </a:p>
        </p:txBody>
      </p:sp>
      <p:sp>
        <p:nvSpPr>
          <p:cNvPr id="36" name="Shape 34"/>
          <p:cNvSpPr/>
          <p:nvPr/>
        </p:nvSpPr>
        <p:spPr>
          <a:xfrm>
            <a:off x="7381497" y="1332106"/>
            <a:ext cx="4428969" cy="2740116"/>
          </a:xfrm>
          <a:custGeom>
            <a:avLst/>
            <a:gdLst/>
            <a:ahLst/>
            <a:cxnLst/>
            <a:rect l="l" t="t" r="r" b="b"/>
            <a:pathLst>
              <a:path w="4428969" h="2740116">
                <a:moveTo>
                  <a:pt x="75901" y="0"/>
                </a:moveTo>
                <a:lnTo>
                  <a:pt x="4353068" y="0"/>
                </a:lnTo>
                <a:cubicBezTo>
                  <a:pt x="4394987" y="0"/>
                  <a:pt x="4428969" y="33982"/>
                  <a:pt x="4428969" y="75901"/>
                </a:cubicBezTo>
                <a:lnTo>
                  <a:pt x="4428969" y="2664215"/>
                </a:lnTo>
                <a:cubicBezTo>
                  <a:pt x="4428969" y="2706134"/>
                  <a:pt x="4394987" y="2740116"/>
                  <a:pt x="4353068" y="2740116"/>
                </a:cubicBezTo>
                <a:lnTo>
                  <a:pt x="75901" y="2740116"/>
                </a:lnTo>
                <a:cubicBezTo>
                  <a:pt x="33982" y="2740116"/>
                  <a:pt x="0" y="2706134"/>
                  <a:pt x="0" y="2664215"/>
                </a:cubicBezTo>
                <a:lnTo>
                  <a:pt x="0" y="75901"/>
                </a:lnTo>
                <a:cubicBezTo>
                  <a:pt x="0" y="34010"/>
                  <a:pt x="34010" y="0"/>
                  <a:pt x="75901" y="0"/>
                </a:cubicBezTo>
                <a:close/>
              </a:path>
            </a:pathLst>
          </a:custGeom>
          <a:solidFill>
            <a:srgbClr val="F97316">
              <a:alpha val="10196"/>
            </a:srgbClr>
          </a:solidFill>
          <a:ln w="10160">
            <a:solidFill>
              <a:srgbClr val="F97316">
                <a:alpha val="30196"/>
              </a:srgbClr>
            </a:solidFill>
            <a:prstDash val="solid"/>
          </a:ln>
        </p:spPr>
      </p:sp>
      <p:sp>
        <p:nvSpPr>
          <p:cNvPr id="37" name="Shape 35"/>
          <p:cNvSpPr/>
          <p:nvPr/>
        </p:nvSpPr>
        <p:spPr>
          <a:xfrm>
            <a:off x="7624863" y="1601562"/>
            <a:ext cx="213479" cy="189759"/>
          </a:xfrm>
          <a:custGeom>
            <a:avLst/>
            <a:gdLst/>
            <a:ahLst/>
            <a:cxnLst/>
            <a:rect l="l" t="t" r="r" b="b"/>
            <a:pathLst>
              <a:path w="213479" h="189759">
                <a:moveTo>
                  <a:pt x="114708" y="-7005"/>
                </a:moveTo>
                <a:cubicBezTo>
                  <a:pt x="113188" y="-9970"/>
                  <a:pt x="110112" y="-11860"/>
                  <a:pt x="106776" y="-11860"/>
                </a:cubicBezTo>
                <a:cubicBezTo>
                  <a:pt x="103441" y="-11860"/>
                  <a:pt x="100365" y="-9970"/>
                  <a:pt x="98845" y="-7005"/>
                </a:cubicBezTo>
                <a:lnTo>
                  <a:pt x="71567" y="46439"/>
                </a:lnTo>
                <a:lnTo>
                  <a:pt x="12305" y="55853"/>
                </a:lnTo>
                <a:cubicBezTo>
                  <a:pt x="9006" y="56372"/>
                  <a:pt x="6264" y="58707"/>
                  <a:pt x="5226" y="61894"/>
                </a:cubicBezTo>
                <a:cubicBezTo>
                  <a:pt x="4188" y="65081"/>
                  <a:pt x="5040" y="68565"/>
                  <a:pt x="7375" y="70937"/>
                </a:cubicBezTo>
                <a:lnTo>
                  <a:pt x="49775" y="113373"/>
                </a:lnTo>
                <a:lnTo>
                  <a:pt x="40435" y="172636"/>
                </a:lnTo>
                <a:cubicBezTo>
                  <a:pt x="39916" y="175935"/>
                  <a:pt x="41287" y="179270"/>
                  <a:pt x="43993" y="181234"/>
                </a:cubicBezTo>
                <a:cubicBezTo>
                  <a:pt x="46698" y="183199"/>
                  <a:pt x="50256" y="183495"/>
                  <a:pt x="53258" y="181976"/>
                </a:cubicBezTo>
                <a:lnTo>
                  <a:pt x="106776" y="154772"/>
                </a:lnTo>
                <a:lnTo>
                  <a:pt x="160257" y="181976"/>
                </a:lnTo>
                <a:cubicBezTo>
                  <a:pt x="163222" y="183495"/>
                  <a:pt x="166817" y="183199"/>
                  <a:pt x="169523" y="181234"/>
                </a:cubicBezTo>
                <a:cubicBezTo>
                  <a:pt x="172228" y="179270"/>
                  <a:pt x="173600" y="175972"/>
                  <a:pt x="173081" y="172636"/>
                </a:cubicBezTo>
                <a:lnTo>
                  <a:pt x="163704" y="113373"/>
                </a:lnTo>
                <a:lnTo>
                  <a:pt x="206103" y="70937"/>
                </a:lnTo>
                <a:cubicBezTo>
                  <a:pt x="208475" y="68565"/>
                  <a:pt x="209291" y="65081"/>
                  <a:pt x="208253" y="61894"/>
                </a:cubicBezTo>
                <a:cubicBezTo>
                  <a:pt x="207215" y="58707"/>
                  <a:pt x="204510" y="56372"/>
                  <a:pt x="201174" y="55853"/>
                </a:cubicBezTo>
                <a:lnTo>
                  <a:pt x="141948" y="46439"/>
                </a:lnTo>
                <a:lnTo>
                  <a:pt x="114708" y="-7005"/>
                </a:lnTo>
                <a:close/>
              </a:path>
            </a:pathLst>
          </a:custGeom>
          <a:solidFill>
            <a:srgbClr val="F97316"/>
          </a:solidFill>
          <a:ln/>
        </p:spPr>
      </p:sp>
      <p:sp>
        <p:nvSpPr>
          <p:cNvPr id="38" name="Text 36"/>
          <p:cNvSpPr/>
          <p:nvPr/>
        </p:nvSpPr>
        <p:spPr>
          <a:xfrm>
            <a:off x="7850201" y="1563610"/>
            <a:ext cx="3823639" cy="265662"/>
          </a:xfrm>
          <a:prstGeom prst="rect">
            <a:avLst/>
          </a:prstGeom>
          <a:noFill/>
          <a:ln/>
        </p:spPr>
        <p:txBody>
          <a:bodyPr wrap="square" lIns="0" tIns="0" rIns="0" bIns="0" rtlCol="0" anchor="ctr"/>
          <a:lstStyle/>
          <a:p>
            <a:pPr>
              <a:lnSpc>
                <a:spcPct val="120000"/>
              </a:lnSpc>
            </a:pPr>
            <a:r>
              <a:rPr lang="en-US" sz="1494" b="1" dirty="0">
                <a:solidFill>
                  <a:srgbClr val="F97316"/>
                </a:solidFill>
                <a:latin typeface="Liter" pitchFamily="34" charset="0"/>
                <a:ea typeface="Liter" pitchFamily="34" charset="-122"/>
                <a:cs typeface="Liter" pitchFamily="34" charset="-120"/>
              </a:rPr>
              <a:t>Why Paired t-Test Was Critical</a:t>
            </a:r>
            <a:endParaRPr lang="en-US" sz="1600" dirty="0"/>
          </a:p>
        </p:txBody>
      </p:sp>
      <p:sp>
        <p:nvSpPr>
          <p:cNvPr id="39" name="Shape 37"/>
          <p:cNvSpPr/>
          <p:nvPr/>
        </p:nvSpPr>
        <p:spPr>
          <a:xfrm>
            <a:off x="7613003" y="2019031"/>
            <a:ext cx="303614" cy="303614"/>
          </a:xfrm>
          <a:custGeom>
            <a:avLst/>
            <a:gdLst/>
            <a:ahLst/>
            <a:cxnLst/>
            <a:rect l="l" t="t" r="r" b="b"/>
            <a:pathLst>
              <a:path w="303614" h="303614">
                <a:moveTo>
                  <a:pt x="151807" y="0"/>
                </a:moveTo>
                <a:lnTo>
                  <a:pt x="151807" y="0"/>
                </a:lnTo>
                <a:cubicBezTo>
                  <a:pt x="235592" y="0"/>
                  <a:pt x="303614" y="68022"/>
                  <a:pt x="303614" y="151807"/>
                </a:cubicBezTo>
                <a:lnTo>
                  <a:pt x="303614" y="151807"/>
                </a:lnTo>
                <a:cubicBezTo>
                  <a:pt x="303614" y="235592"/>
                  <a:pt x="235592" y="303614"/>
                  <a:pt x="151807" y="303614"/>
                </a:cubicBezTo>
                <a:lnTo>
                  <a:pt x="151807" y="303614"/>
                </a:lnTo>
                <a:cubicBezTo>
                  <a:pt x="68022" y="303614"/>
                  <a:pt x="0" y="235592"/>
                  <a:pt x="0" y="151807"/>
                </a:cubicBezTo>
                <a:lnTo>
                  <a:pt x="0" y="151807"/>
                </a:lnTo>
                <a:cubicBezTo>
                  <a:pt x="0" y="68022"/>
                  <a:pt x="68022" y="0"/>
                  <a:pt x="151807" y="0"/>
                </a:cubicBezTo>
                <a:close/>
              </a:path>
            </a:pathLst>
          </a:custGeom>
          <a:solidFill>
            <a:srgbClr val="F97316">
              <a:alpha val="20000"/>
            </a:srgbClr>
          </a:solidFill>
          <a:ln/>
        </p:spPr>
      </p:sp>
      <p:sp>
        <p:nvSpPr>
          <p:cNvPr id="40" name="Text 38"/>
          <p:cNvSpPr/>
          <p:nvPr/>
        </p:nvSpPr>
        <p:spPr>
          <a:xfrm>
            <a:off x="7742038" y="2075959"/>
            <a:ext cx="113855" cy="189759"/>
          </a:xfrm>
          <a:prstGeom prst="rect">
            <a:avLst/>
          </a:prstGeom>
          <a:noFill/>
          <a:ln/>
        </p:spPr>
        <p:txBody>
          <a:bodyPr wrap="square" lIns="0" tIns="0" rIns="0" bIns="0" rtlCol="0" anchor="ctr"/>
          <a:lstStyle/>
          <a:p>
            <a:pPr>
              <a:lnSpc>
                <a:spcPct val="120000"/>
              </a:lnSpc>
            </a:pPr>
            <a:r>
              <a:rPr lang="en-US" sz="1046" b="1" dirty="0">
                <a:solidFill>
                  <a:srgbClr val="F97316"/>
                </a:solidFill>
                <a:latin typeface="Quattrocento Sans" pitchFamily="34" charset="0"/>
                <a:ea typeface="Quattrocento Sans" pitchFamily="34" charset="-122"/>
                <a:cs typeface="Quattrocento Sans" pitchFamily="34" charset="-120"/>
              </a:rPr>
              <a:t>1</a:t>
            </a:r>
            <a:endParaRPr lang="en-US" sz="1600" dirty="0"/>
          </a:p>
        </p:txBody>
      </p:sp>
      <p:sp>
        <p:nvSpPr>
          <p:cNvPr id="41" name="Text 39"/>
          <p:cNvSpPr/>
          <p:nvPr/>
        </p:nvSpPr>
        <p:spPr>
          <a:xfrm>
            <a:off x="8030472" y="1981080"/>
            <a:ext cx="3624392" cy="227711"/>
          </a:xfrm>
          <a:prstGeom prst="rect">
            <a:avLst/>
          </a:prstGeom>
          <a:noFill/>
          <a:ln/>
        </p:spPr>
        <p:txBody>
          <a:bodyPr wrap="square" lIns="0" tIns="0" rIns="0" bIns="0" rtlCol="0" anchor="ctr"/>
          <a:lstStyle/>
          <a:p>
            <a:pPr>
              <a:lnSpc>
                <a:spcPct val="130000"/>
              </a:lnSpc>
            </a:pPr>
            <a:r>
              <a:rPr lang="en-US" sz="1195" b="1" dirty="0">
                <a:solidFill>
                  <a:srgbClr val="F9FAFB"/>
                </a:solidFill>
                <a:latin typeface="Quattrocento Sans" pitchFamily="34" charset="0"/>
                <a:ea typeface="Quattrocento Sans" pitchFamily="34" charset="-122"/>
                <a:cs typeface="Quattrocento Sans" pitchFamily="34" charset="-120"/>
              </a:rPr>
              <a:t>Detected Effect with Small Sample</a:t>
            </a:r>
            <a:endParaRPr lang="en-US" sz="1600" dirty="0"/>
          </a:p>
        </p:txBody>
      </p:sp>
      <p:sp>
        <p:nvSpPr>
          <p:cNvPr id="42" name="Text 40"/>
          <p:cNvSpPr/>
          <p:nvPr/>
        </p:nvSpPr>
        <p:spPr>
          <a:xfrm>
            <a:off x="8030472" y="2246742"/>
            <a:ext cx="3614904" cy="379518"/>
          </a:xfrm>
          <a:prstGeom prst="rect">
            <a:avLst/>
          </a:prstGeom>
          <a:noFill/>
          <a:ln/>
        </p:spPr>
        <p:txBody>
          <a:bodyPr wrap="square" lIns="0" tIns="0" rIns="0" bIns="0" rtlCol="0" anchor="ctr"/>
          <a:lstStyle/>
          <a:p>
            <a:pPr>
              <a:lnSpc>
                <a:spcPct val="120000"/>
              </a:lnSpc>
            </a:pPr>
            <a:r>
              <a:rPr lang="en-US" sz="1046" dirty="0">
                <a:solidFill>
                  <a:srgbClr val="F9FAFB">
                    <a:alpha val="70000"/>
                  </a:srgbClr>
                </a:solidFill>
                <a:latin typeface="Quattrocento Sans" pitchFamily="34" charset="0"/>
                <a:ea typeface="Quattrocento Sans" pitchFamily="34" charset="-122"/>
                <a:cs typeface="Quattrocento Sans" pitchFamily="34" charset="-120"/>
              </a:rPr>
              <a:t>Used only 10,000 users instead of 50,000+ required for independent test</a:t>
            </a:r>
            <a:endParaRPr lang="en-US" sz="1600" dirty="0"/>
          </a:p>
        </p:txBody>
      </p:sp>
      <p:sp>
        <p:nvSpPr>
          <p:cNvPr id="43" name="Shape 41"/>
          <p:cNvSpPr/>
          <p:nvPr/>
        </p:nvSpPr>
        <p:spPr>
          <a:xfrm>
            <a:off x="7613003" y="2816018"/>
            <a:ext cx="303614" cy="303614"/>
          </a:xfrm>
          <a:custGeom>
            <a:avLst/>
            <a:gdLst/>
            <a:ahLst/>
            <a:cxnLst/>
            <a:rect l="l" t="t" r="r" b="b"/>
            <a:pathLst>
              <a:path w="303614" h="303614">
                <a:moveTo>
                  <a:pt x="151807" y="0"/>
                </a:moveTo>
                <a:lnTo>
                  <a:pt x="151807" y="0"/>
                </a:lnTo>
                <a:cubicBezTo>
                  <a:pt x="235592" y="0"/>
                  <a:pt x="303614" y="68022"/>
                  <a:pt x="303614" y="151807"/>
                </a:cubicBezTo>
                <a:lnTo>
                  <a:pt x="303614" y="151807"/>
                </a:lnTo>
                <a:cubicBezTo>
                  <a:pt x="303614" y="235592"/>
                  <a:pt x="235592" y="303614"/>
                  <a:pt x="151807" y="303614"/>
                </a:cubicBezTo>
                <a:lnTo>
                  <a:pt x="151807" y="303614"/>
                </a:lnTo>
                <a:cubicBezTo>
                  <a:pt x="68022" y="303614"/>
                  <a:pt x="0" y="235592"/>
                  <a:pt x="0" y="151807"/>
                </a:cubicBezTo>
                <a:lnTo>
                  <a:pt x="0" y="151807"/>
                </a:lnTo>
                <a:cubicBezTo>
                  <a:pt x="0" y="68022"/>
                  <a:pt x="68022" y="0"/>
                  <a:pt x="151807" y="0"/>
                </a:cubicBezTo>
                <a:close/>
              </a:path>
            </a:pathLst>
          </a:custGeom>
          <a:solidFill>
            <a:srgbClr val="F97316">
              <a:alpha val="20000"/>
            </a:srgbClr>
          </a:solidFill>
          <a:ln/>
        </p:spPr>
      </p:sp>
      <p:sp>
        <p:nvSpPr>
          <p:cNvPr id="44" name="Text 42"/>
          <p:cNvSpPr/>
          <p:nvPr/>
        </p:nvSpPr>
        <p:spPr>
          <a:xfrm>
            <a:off x="7730653" y="2872946"/>
            <a:ext cx="132831" cy="189759"/>
          </a:xfrm>
          <a:prstGeom prst="rect">
            <a:avLst/>
          </a:prstGeom>
          <a:noFill/>
          <a:ln/>
        </p:spPr>
        <p:txBody>
          <a:bodyPr wrap="square" lIns="0" tIns="0" rIns="0" bIns="0" rtlCol="0" anchor="ctr"/>
          <a:lstStyle/>
          <a:p>
            <a:pPr>
              <a:lnSpc>
                <a:spcPct val="120000"/>
              </a:lnSpc>
            </a:pPr>
            <a:r>
              <a:rPr lang="en-US" sz="1046" b="1" dirty="0">
                <a:solidFill>
                  <a:srgbClr val="F97316"/>
                </a:solidFill>
                <a:latin typeface="Quattrocento Sans" pitchFamily="34" charset="0"/>
                <a:ea typeface="Quattrocento Sans" pitchFamily="34" charset="-122"/>
                <a:cs typeface="Quattrocento Sans" pitchFamily="34" charset="-120"/>
              </a:rPr>
              <a:t>2</a:t>
            </a:r>
            <a:endParaRPr lang="en-US" sz="1600" dirty="0"/>
          </a:p>
        </p:txBody>
      </p:sp>
      <p:sp>
        <p:nvSpPr>
          <p:cNvPr id="45" name="Text 43"/>
          <p:cNvSpPr/>
          <p:nvPr/>
        </p:nvSpPr>
        <p:spPr>
          <a:xfrm>
            <a:off x="8030472" y="2778066"/>
            <a:ext cx="3434633" cy="227711"/>
          </a:xfrm>
          <a:prstGeom prst="rect">
            <a:avLst/>
          </a:prstGeom>
          <a:noFill/>
          <a:ln/>
        </p:spPr>
        <p:txBody>
          <a:bodyPr wrap="square" lIns="0" tIns="0" rIns="0" bIns="0" rtlCol="0" anchor="ctr"/>
          <a:lstStyle/>
          <a:p>
            <a:pPr>
              <a:lnSpc>
                <a:spcPct val="130000"/>
              </a:lnSpc>
            </a:pPr>
            <a:r>
              <a:rPr lang="en-US" sz="1195" b="1" dirty="0">
                <a:solidFill>
                  <a:srgbClr val="F9FAFB"/>
                </a:solidFill>
                <a:latin typeface="Quattrocento Sans" pitchFamily="34" charset="0"/>
                <a:ea typeface="Quattrocento Sans" pitchFamily="34" charset="-122"/>
                <a:cs typeface="Quattrocento Sans" pitchFamily="34" charset="-120"/>
              </a:rPr>
              <a:t>Removed User Variation Noise</a:t>
            </a:r>
            <a:endParaRPr lang="en-US" sz="1600" dirty="0"/>
          </a:p>
        </p:txBody>
      </p:sp>
      <p:sp>
        <p:nvSpPr>
          <p:cNvPr id="46" name="Text 44"/>
          <p:cNvSpPr/>
          <p:nvPr/>
        </p:nvSpPr>
        <p:spPr>
          <a:xfrm>
            <a:off x="8030472" y="3043729"/>
            <a:ext cx="3425146" cy="189759"/>
          </a:xfrm>
          <a:prstGeom prst="rect">
            <a:avLst/>
          </a:prstGeom>
          <a:noFill/>
          <a:ln/>
        </p:spPr>
        <p:txBody>
          <a:bodyPr wrap="square" lIns="0" tIns="0" rIns="0" bIns="0" rtlCol="0" anchor="ctr"/>
          <a:lstStyle/>
          <a:p>
            <a:pPr>
              <a:lnSpc>
                <a:spcPct val="120000"/>
              </a:lnSpc>
            </a:pPr>
            <a:r>
              <a:rPr lang="en-US" sz="1046" dirty="0">
                <a:solidFill>
                  <a:srgbClr val="F9FAFB">
                    <a:alpha val="70000"/>
                  </a:srgbClr>
                </a:solidFill>
                <a:latin typeface="Quattrocento Sans" pitchFamily="34" charset="0"/>
                <a:ea typeface="Quattrocento Sans" pitchFamily="34" charset="-122"/>
                <a:cs typeface="Quattrocento Sans" pitchFamily="34" charset="-120"/>
              </a:rPr>
              <a:t>Each user as own control eliminated individual differences</a:t>
            </a:r>
            <a:endParaRPr lang="en-US" sz="1600" dirty="0"/>
          </a:p>
        </p:txBody>
      </p:sp>
      <p:sp>
        <p:nvSpPr>
          <p:cNvPr id="47" name="Shape 45"/>
          <p:cNvSpPr/>
          <p:nvPr/>
        </p:nvSpPr>
        <p:spPr>
          <a:xfrm>
            <a:off x="7613003" y="3423246"/>
            <a:ext cx="303614" cy="303614"/>
          </a:xfrm>
          <a:custGeom>
            <a:avLst/>
            <a:gdLst/>
            <a:ahLst/>
            <a:cxnLst/>
            <a:rect l="l" t="t" r="r" b="b"/>
            <a:pathLst>
              <a:path w="303614" h="303614">
                <a:moveTo>
                  <a:pt x="151807" y="0"/>
                </a:moveTo>
                <a:lnTo>
                  <a:pt x="151807" y="0"/>
                </a:lnTo>
                <a:cubicBezTo>
                  <a:pt x="235592" y="0"/>
                  <a:pt x="303614" y="68022"/>
                  <a:pt x="303614" y="151807"/>
                </a:cubicBezTo>
                <a:lnTo>
                  <a:pt x="303614" y="151807"/>
                </a:lnTo>
                <a:cubicBezTo>
                  <a:pt x="303614" y="235592"/>
                  <a:pt x="235592" y="303614"/>
                  <a:pt x="151807" y="303614"/>
                </a:cubicBezTo>
                <a:lnTo>
                  <a:pt x="151807" y="303614"/>
                </a:lnTo>
                <a:cubicBezTo>
                  <a:pt x="68022" y="303614"/>
                  <a:pt x="0" y="235592"/>
                  <a:pt x="0" y="151807"/>
                </a:cubicBezTo>
                <a:lnTo>
                  <a:pt x="0" y="151807"/>
                </a:lnTo>
                <a:cubicBezTo>
                  <a:pt x="0" y="68022"/>
                  <a:pt x="68022" y="0"/>
                  <a:pt x="151807" y="0"/>
                </a:cubicBezTo>
                <a:close/>
              </a:path>
            </a:pathLst>
          </a:custGeom>
          <a:solidFill>
            <a:srgbClr val="F97316">
              <a:alpha val="20000"/>
            </a:srgbClr>
          </a:solidFill>
          <a:ln/>
        </p:spPr>
      </p:sp>
      <p:sp>
        <p:nvSpPr>
          <p:cNvPr id="48" name="Text 46"/>
          <p:cNvSpPr/>
          <p:nvPr/>
        </p:nvSpPr>
        <p:spPr>
          <a:xfrm>
            <a:off x="7726858" y="3480174"/>
            <a:ext cx="142319" cy="189759"/>
          </a:xfrm>
          <a:prstGeom prst="rect">
            <a:avLst/>
          </a:prstGeom>
          <a:noFill/>
          <a:ln/>
        </p:spPr>
        <p:txBody>
          <a:bodyPr wrap="square" lIns="0" tIns="0" rIns="0" bIns="0" rtlCol="0" anchor="ctr"/>
          <a:lstStyle/>
          <a:p>
            <a:pPr>
              <a:lnSpc>
                <a:spcPct val="120000"/>
              </a:lnSpc>
            </a:pPr>
            <a:r>
              <a:rPr lang="en-US" sz="1046" b="1" dirty="0">
                <a:solidFill>
                  <a:srgbClr val="F97316"/>
                </a:solidFill>
                <a:latin typeface="Quattrocento Sans" pitchFamily="34" charset="0"/>
                <a:ea typeface="Quattrocento Sans" pitchFamily="34" charset="-122"/>
                <a:cs typeface="Quattrocento Sans" pitchFamily="34" charset="-120"/>
              </a:rPr>
              <a:t>3</a:t>
            </a:r>
            <a:endParaRPr lang="en-US" sz="1600" dirty="0"/>
          </a:p>
        </p:txBody>
      </p:sp>
      <p:sp>
        <p:nvSpPr>
          <p:cNvPr id="49" name="Text 47"/>
          <p:cNvSpPr/>
          <p:nvPr/>
        </p:nvSpPr>
        <p:spPr>
          <a:xfrm>
            <a:off x="8030472" y="3385294"/>
            <a:ext cx="2941261" cy="227711"/>
          </a:xfrm>
          <a:prstGeom prst="rect">
            <a:avLst/>
          </a:prstGeom>
          <a:noFill/>
          <a:ln/>
        </p:spPr>
        <p:txBody>
          <a:bodyPr wrap="square" lIns="0" tIns="0" rIns="0" bIns="0" rtlCol="0" anchor="ctr"/>
          <a:lstStyle/>
          <a:p>
            <a:pPr>
              <a:lnSpc>
                <a:spcPct val="130000"/>
              </a:lnSpc>
            </a:pPr>
            <a:r>
              <a:rPr lang="en-US" sz="1195" b="1" dirty="0">
                <a:solidFill>
                  <a:srgbClr val="F9FAFB"/>
                </a:solidFill>
                <a:latin typeface="Quattrocento Sans" pitchFamily="34" charset="0"/>
                <a:ea typeface="Quattrocento Sans" pitchFamily="34" charset="-122"/>
                <a:cs typeface="Quattrocento Sans" pitchFamily="34" charset="-120"/>
              </a:rPr>
              <a:t>Enabled Confident Decision</a:t>
            </a:r>
            <a:endParaRPr lang="en-US" sz="1600" dirty="0"/>
          </a:p>
        </p:txBody>
      </p:sp>
      <p:sp>
        <p:nvSpPr>
          <p:cNvPr id="50" name="Text 48"/>
          <p:cNvSpPr/>
          <p:nvPr/>
        </p:nvSpPr>
        <p:spPr>
          <a:xfrm>
            <a:off x="8030472" y="3650957"/>
            <a:ext cx="2931773" cy="189759"/>
          </a:xfrm>
          <a:prstGeom prst="rect">
            <a:avLst/>
          </a:prstGeom>
          <a:noFill/>
          <a:ln/>
        </p:spPr>
        <p:txBody>
          <a:bodyPr wrap="square" lIns="0" tIns="0" rIns="0" bIns="0" rtlCol="0" anchor="ctr"/>
          <a:lstStyle/>
          <a:p>
            <a:pPr>
              <a:lnSpc>
                <a:spcPct val="120000"/>
              </a:lnSpc>
            </a:pPr>
            <a:r>
              <a:rPr lang="en-US" sz="1046" dirty="0">
                <a:solidFill>
                  <a:srgbClr val="F9FAFB">
                    <a:alpha val="70000"/>
                  </a:srgbClr>
                </a:solidFill>
                <a:latin typeface="Quattrocento Sans" pitchFamily="34" charset="0"/>
                <a:ea typeface="Quattrocento Sans" pitchFamily="34" charset="-122"/>
                <a:cs typeface="Quattrocento Sans" pitchFamily="34" charset="-120"/>
              </a:rPr>
              <a:t>99.99% confidence justified $330M global rollout</a:t>
            </a:r>
            <a:endParaRPr lang="en-US" sz="1600" dirty="0"/>
          </a:p>
        </p:txBody>
      </p:sp>
      <p:sp>
        <p:nvSpPr>
          <p:cNvPr id="51" name="Shape 49"/>
          <p:cNvSpPr/>
          <p:nvPr/>
        </p:nvSpPr>
        <p:spPr>
          <a:xfrm>
            <a:off x="7377702" y="4265773"/>
            <a:ext cx="4440355" cy="2599695"/>
          </a:xfrm>
          <a:custGeom>
            <a:avLst/>
            <a:gdLst/>
            <a:ahLst/>
            <a:cxnLst/>
            <a:rect l="l" t="t" r="r" b="b"/>
            <a:pathLst>
              <a:path w="4440355" h="2599695">
                <a:moveTo>
                  <a:pt x="75911" y="0"/>
                </a:moveTo>
                <a:lnTo>
                  <a:pt x="4364444" y="0"/>
                </a:lnTo>
                <a:cubicBezTo>
                  <a:pt x="4406368" y="0"/>
                  <a:pt x="4440355" y="33987"/>
                  <a:pt x="4440355" y="75911"/>
                </a:cubicBezTo>
                <a:lnTo>
                  <a:pt x="4440355" y="2523784"/>
                </a:lnTo>
                <a:cubicBezTo>
                  <a:pt x="4440355" y="2565708"/>
                  <a:pt x="4406368" y="2599695"/>
                  <a:pt x="4364444" y="2599695"/>
                </a:cubicBezTo>
                <a:lnTo>
                  <a:pt x="75911" y="2599695"/>
                </a:lnTo>
                <a:cubicBezTo>
                  <a:pt x="33987" y="2599695"/>
                  <a:pt x="0" y="2565708"/>
                  <a:pt x="0" y="2523784"/>
                </a:cubicBezTo>
                <a:lnTo>
                  <a:pt x="0" y="75911"/>
                </a:lnTo>
                <a:cubicBezTo>
                  <a:pt x="0" y="33987"/>
                  <a:pt x="33987" y="0"/>
                  <a:pt x="75911" y="0"/>
                </a:cubicBezTo>
                <a:close/>
              </a:path>
            </a:pathLst>
          </a:custGeom>
          <a:solidFill>
            <a:srgbClr val="374151"/>
          </a:solidFill>
          <a:ln/>
        </p:spPr>
      </p:sp>
      <p:sp>
        <p:nvSpPr>
          <p:cNvPr id="52" name="Text 50"/>
          <p:cNvSpPr/>
          <p:nvPr/>
        </p:nvSpPr>
        <p:spPr>
          <a:xfrm>
            <a:off x="7557973" y="4493484"/>
            <a:ext cx="4079813" cy="265662"/>
          </a:xfrm>
          <a:prstGeom prst="rect">
            <a:avLst/>
          </a:prstGeom>
          <a:noFill/>
          <a:ln/>
        </p:spPr>
        <p:txBody>
          <a:bodyPr wrap="square" lIns="0" tIns="0" rIns="0" bIns="0" rtlCol="0" anchor="ctr"/>
          <a:lstStyle/>
          <a:p>
            <a:pPr algn="ctr">
              <a:lnSpc>
                <a:spcPct val="120000"/>
              </a:lnSpc>
            </a:pPr>
            <a:r>
              <a:rPr lang="en-US" sz="1494" b="1" dirty="0">
                <a:solidFill>
                  <a:srgbClr val="F9FAFB"/>
                </a:solidFill>
                <a:latin typeface="Liter" pitchFamily="34" charset="0"/>
                <a:ea typeface="Liter" pitchFamily="34" charset="-122"/>
                <a:cs typeface="Liter" pitchFamily="34" charset="-120"/>
              </a:rPr>
              <a:t>Validation Summary</a:t>
            </a:r>
            <a:endParaRPr lang="en-US" sz="1600" dirty="0"/>
          </a:p>
        </p:txBody>
      </p:sp>
      <p:sp>
        <p:nvSpPr>
          <p:cNvPr id="53" name="Shape 51"/>
          <p:cNvSpPr/>
          <p:nvPr/>
        </p:nvSpPr>
        <p:spPr>
          <a:xfrm>
            <a:off x="7605413" y="4910953"/>
            <a:ext cx="3984934" cy="493373"/>
          </a:xfrm>
          <a:custGeom>
            <a:avLst/>
            <a:gdLst/>
            <a:ahLst/>
            <a:cxnLst/>
            <a:rect l="l" t="t" r="r" b="b"/>
            <a:pathLst>
              <a:path w="3984934" h="493373">
                <a:moveTo>
                  <a:pt x="75905" y="0"/>
                </a:moveTo>
                <a:lnTo>
                  <a:pt x="3909028" y="0"/>
                </a:lnTo>
                <a:cubicBezTo>
                  <a:pt x="3950950" y="0"/>
                  <a:pt x="3984934" y="33984"/>
                  <a:pt x="3984934" y="75905"/>
                </a:cubicBezTo>
                <a:lnTo>
                  <a:pt x="3984934" y="417467"/>
                </a:lnTo>
                <a:cubicBezTo>
                  <a:pt x="3984934" y="459389"/>
                  <a:pt x="3950950" y="493373"/>
                  <a:pt x="3909028" y="493373"/>
                </a:cubicBezTo>
                <a:lnTo>
                  <a:pt x="75905" y="493373"/>
                </a:lnTo>
                <a:cubicBezTo>
                  <a:pt x="34012" y="493373"/>
                  <a:pt x="0" y="459361"/>
                  <a:pt x="0" y="417467"/>
                </a:cubicBezTo>
                <a:lnTo>
                  <a:pt x="0" y="75905"/>
                </a:lnTo>
                <a:cubicBezTo>
                  <a:pt x="0" y="34012"/>
                  <a:pt x="34012" y="0"/>
                  <a:pt x="75905" y="0"/>
                </a:cubicBezTo>
                <a:close/>
              </a:path>
            </a:pathLst>
          </a:custGeom>
          <a:solidFill>
            <a:srgbClr val="111827"/>
          </a:solidFill>
          <a:ln/>
        </p:spPr>
      </p:sp>
      <p:sp>
        <p:nvSpPr>
          <p:cNvPr id="54" name="Text 52"/>
          <p:cNvSpPr/>
          <p:nvPr/>
        </p:nvSpPr>
        <p:spPr>
          <a:xfrm>
            <a:off x="7719268" y="5043784"/>
            <a:ext cx="1195480" cy="227711"/>
          </a:xfrm>
          <a:prstGeom prst="rect">
            <a:avLst/>
          </a:prstGeom>
          <a:noFill/>
          <a:ln/>
        </p:spPr>
        <p:txBody>
          <a:bodyPr wrap="square" lIns="0" tIns="0" rIns="0" bIns="0" rtlCol="0" anchor="ctr"/>
          <a:lstStyle/>
          <a:p>
            <a:pPr>
              <a:lnSpc>
                <a:spcPct val="130000"/>
              </a:lnSpc>
            </a:pPr>
            <a:r>
              <a:rPr lang="en-US" sz="1195" dirty="0">
                <a:solidFill>
                  <a:srgbClr val="F9FAFB">
                    <a:alpha val="80000"/>
                  </a:srgbClr>
                </a:solidFill>
                <a:latin typeface="Quattrocento Sans" pitchFamily="34" charset="0"/>
                <a:ea typeface="Quattrocento Sans" pitchFamily="34" charset="-122"/>
                <a:cs typeface="Quattrocento Sans" pitchFamily="34" charset="-120"/>
              </a:rPr>
              <a:t>Predicted Impact</a:t>
            </a:r>
            <a:endParaRPr lang="en-US" sz="1600" dirty="0"/>
          </a:p>
        </p:txBody>
      </p:sp>
      <p:sp>
        <p:nvSpPr>
          <p:cNvPr id="55" name="Text 53"/>
          <p:cNvSpPr/>
          <p:nvPr/>
        </p:nvSpPr>
        <p:spPr>
          <a:xfrm>
            <a:off x="11018461" y="5024808"/>
            <a:ext cx="540812" cy="265662"/>
          </a:xfrm>
          <a:prstGeom prst="rect">
            <a:avLst/>
          </a:prstGeom>
          <a:noFill/>
          <a:ln/>
        </p:spPr>
        <p:txBody>
          <a:bodyPr wrap="square" lIns="0" tIns="0" rIns="0" bIns="0" rtlCol="0" anchor="ctr"/>
          <a:lstStyle/>
          <a:p>
            <a:pPr>
              <a:lnSpc>
                <a:spcPct val="130000"/>
              </a:lnSpc>
            </a:pPr>
            <a:r>
              <a:rPr lang="en-US" sz="1345" b="1" dirty="0">
                <a:solidFill>
                  <a:srgbClr val="F97316"/>
                </a:solidFill>
                <a:latin typeface="Quattrocento Sans" pitchFamily="34" charset="0"/>
                <a:ea typeface="Quattrocento Sans" pitchFamily="34" charset="-122"/>
                <a:cs typeface="Quattrocento Sans" pitchFamily="34" charset="-120"/>
              </a:rPr>
              <a:t>+8.2%</a:t>
            </a:r>
            <a:endParaRPr lang="en-US" sz="1600" dirty="0"/>
          </a:p>
        </p:txBody>
      </p:sp>
      <p:sp>
        <p:nvSpPr>
          <p:cNvPr id="56" name="Shape 54"/>
          <p:cNvSpPr/>
          <p:nvPr/>
        </p:nvSpPr>
        <p:spPr>
          <a:xfrm>
            <a:off x="7605413" y="5518181"/>
            <a:ext cx="3984934" cy="493373"/>
          </a:xfrm>
          <a:custGeom>
            <a:avLst/>
            <a:gdLst/>
            <a:ahLst/>
            <a:cxnLst/>
            <a:rect l="l" t="t" r="r" b="b"/>
            <a:pathLst>
              <a:path w="3984934" h="493373">
                <a:moveTo>
                  <a:pt x="75905" y="0"/>
                </a:moveTo>
                <a:lnTo>
                  <a:pt x="3909028" y="0"/>
                </a:lnTo>
                <a:cubicBezTo>
                  <a:pt x="3950950" y="0"/>
                  <a:pt x="3984934" y="33984"/>
                  <a:pt x="3984934" y="75905"/>
                </a:cubicBezTo>
                <a:lnTo>
                  <a:pt x="3984934" y="417467"/>
                </a:lnTo>
                <a:cubicBezTo>
                  <a:pt x="3984934" y="459389"/>
                  <a:pt x="3950950" y="493373"/>
                  <a:pt x="3909028" y="493373"/>
                </a:cubicBezTo>
                <a:lnTo>
                  <a:pt x="75905" y="493373"/>
                </a:lnTo>
                <a:cubicBezTo>
                  <a:pt x="34012" y="493373"/>
                  <a:pt x="0" y="459361"/>
                  <a:pt x="0" y="417467"/>
                </a:cubicBezTo>
                <a:lnTo>
                  <a:pt x="0" y="75905"/>
                </a:lnTo>
                <a:cubicBezTo>
                  <a:pt x="0" y="34012"/>
                  <a:pt x="34012" y="0"/>
                  <a:pt x="75905" y="0"/>
                </a:cubicBezTo>
                <a:close/>
              </a:path>
            </a:pathLst>
          </a:custGeom>
          <a:solidFill>
            <a:srgbClr val="111827"/>
          </a:solidFill>
          <a:ln/>
        </p:spPr>
      </p:sp>
      <p:sp>
        <p:nvSpPr>
          <p:cNvPr id="57" name="Text 55"/>
          <p:cNvSpPr/>
          <p:nvPr/>
        </p:nvSpPr>
        <p:spPr>
          <a:xfrm>
            <a:off x="7719268" y="5651012"/>
            <a:ext cx="986746" cy="227711"/>
          </a:xfrm>
          <a:prstGeom prst="rect">
            <a:avLst/>
          </a:prstGeom>
          <a:noFill/>
          <a:ln/>
        </p:spPr>
        <p:txBody>
          <a:bodyPr wrap="square" lIns="0" tIns="0" rIns="0" bIns="0" rtlCol="0" anchor="ctr"/>
          <a:lstStyle/>
          <a:p>
            <a:pPr>
              <a:lnSpc>
                <a:spcPct val="130000"/>
              </a:lnSpc>
            </a:pPr>
            <a:r>
              <a:rPr lang="en-US" sz="1195" dirty="0">
                <a:solidFill>
                  <a:srgbClr val="F9FAFB">
                    <a:alpha val="80000"/>
                  </a:srgbClr>
                </a:solidFill>
                <a:latin typeface="Quattrocento Sans" pitchFamily="34" charset="0"/>
                <a:ea typeface="Quattrocento Sans" pitchFamily="34" charset="-122"/>
                <a:cs typeface="Quattrocento Sans" pitchFamily="34" charset="-120"/>
              </a:rPr>
              <a:t>Actual Impact</a:t>
            </a:r>
            <a:endParaRPr lang="en-US" sz="1600" dirty="0"/>
          </a:p>
        </p:txBody>
      </p:sp>
      <p:sp>
        <p:nvSpPr>
          <p:cNvPr id="58" name="Text 56"/>
          <p:cNvSpPr/>
          <p:nvPr/>
        </p:nvSpPr>
        <p:spPr>
          <a:xfrm>
            <a:off x="11056412" y="5632036"/>
            <a:ext cx="502861" cy="265662"/>
          </a:xfrm>
          <a:prstGeom prst="rect">
            <a:avLst/>
          </a:prstGeom>
          <a:noFill/>
          <a:ln/>
        </p:spPr>
        <p:txBody>
          <a:bodyPr wrap="square" lIns="0" tIns="0" rIns="0" bIns="0" rtlCol="0" anchor="ctr"/>
          <a:lstStyle/>
          <a:p>
            <a:pPr>
              <a:lnSpc>
                <a:spcPct val="130000"/>
              </a:lnSpc>
            </a:pPr>
            <a:r>
              <a:rPr lang="en-US" sz="1345" b="1" dirty="0">
                <a:solidFill>
                  <a:srgbClr val="10B981"/>
                </a:solidFill>
                <a:latin typeface="Quattrocento Sans" pitchFamily="34" charset="0"/>
                <a:ea typeface="Quattrocento Sans" pitchFamily="34" charset="-122"/>
                <a:cs typeface="Quattrocento Sans" pitchFamily="34" charset="-120"/>
              </a:rPr>
              <a:t>+8.1%</a:t>
            </a:r>
            <a:endParaRPr lang="en-US" sz="1600" dirty="0"/>
          </a:p>
        </p:txBody>
      </p:sp>
      <p:sp>
        <p:nvSpPr>
          <p:cNvPr id="59" name="Shape 57"/>
          <p:cNvSpPr/>
          <p:nvPr/>
        </p:nvSpPr>
        <p:spPr>
          <a:xfrm>
            <a:off x="7609208" y="6129204"/>
            <a:ext cx="3973548" cy="500963"/>
          </a:xfrm>
          <a:custGeom>
            <a:avLst/>
            <a:gdLst/>
            <a:ahLst/>
            <a:cxnLst/>
            <a:rect l="l" t="t" r="r" b="b"/>
            <a:pathLst>
              <a:path w="3973548" h="500963">
                <a:moveTo>
                  <a:pt x="75906" y="0"/>
                </a:moveTo>
                <a:lnTo>
                  <a:pt x="3897642" y="0"/>
                </a:lnTo>
                <a:cubicBezTo>
                  <a:pt x="3939564" y="0"/>
                  <a:pt x="3973548" y="33984"/>
                  <a:pt x="3973548" y="75906"/>
                </a:cubicBezTo>
                <a:lnTo>
                  <a:pt x="3973548" y="425057"/>
                </a:lnTo>
                <a:cubicBezTo>
                  <a:pt x="3973548" y="466979"/>
                  <a:pt x="3939564" y="500963"/>
                  <a:pt x="3897642" y="500963"/>
                </a:cubicBezTo>
                <a:lnTo>
                  <a:pt x="75906" y="500963"/>
                </a:lnTo>
                <a:cubicBezTo>
                  <a:pt x="33984" y="500963"/>
                  <a:pt x="0" y="466979"/>
                  <a:pt x="0" y="425057"/>
                </a:cubicBezTo>
                <a:lnTo>
                  <a:pt x="0" y="75906"/>
                </a:lnTo>
                <a:cubicBezTo>
                  <a:pt x="0" y="34012"/>
                  <a:pt x="34012" y="0"/>
                  <a:pt x="75906" y="0"/>
                </a:cubicBezTo>
                <a:close/>
              </a:path>
            </a:pathLst>
          </a:custGeom>
          <a:solidFill>
            <a:srgbClr val="10B981">
              <a:alpha val="20000"/>
            </a:srgbClr>
          </a:solidFill>
          <a:ln w="10160">
            <a:solidFill>
              <a:srgbClr val="10B981">
                <a:alpha val="30196"/>
              </a:srgbClr>
            </a:solidFill>
            <a:prstDash val="solid"/>
          </a:ln>
        </p:spPr>
      </p:sp>
      <p:sp>
        <p:nvSpPr>
          <p:cNvPr id="60" name="Text 58"/>
          <p:cNvSpPr/>
          <p:nvPr/>
        </p:nvSpPr>
        <p:spPr>
          <a:xfrm>
            <a:off x="7726858" y="6265833"/>
            <a:ext cx="692619" cy="227711"/>
          </a:xfrm>
          <a:prstGeom prst="rect">
            <a:avLst/>
          </a:prstGeom>
          <a:noFill/>
          <a:ln/>
        </p:spPr>
        <p:txBody>
          <a:bodyPr wrap="square" lIns="0" tIns="0" rIns="0" bIns="0" rtlCol="0" anchor="ctr"/>
          <a:lstStyle/>
          <a:p>
            <a:pPr>
              <a:lnSpc>
                <a:spcPct val="130000"/>
              </a:lnSpc>
            </a:pPr>
            <a:r>
              <a:rPr lang="en-US" sz="1195" b="1" dirty="0">
                <a:solidFill>
                  <a:srgbClr val="F9FAFB"/>
                </a:solidFill>
                <a:latin typeface="Quattrocento Sans" pitchFamily="34" charset="0"/>
                <a:ea typeface="Quattrocento Sans" pitchFamily="34" charset="-122"/>
                <a:cs typeface="Quattrocento Sans" pitchFamily="34" charset="-120"/>
              </a:rPr>
              <a:t>Accuracy</a:t>
            </a:r>
            <a:endParaRPr lang="en-US" sz="1600" dirty="0"/>
          </a:p>
        </p:txBody>
      </p:sp>
      <p:sp>
        <p:nvSpPr>
          <p:cNvPr id="61" name="Text 59"/>
          <p:cNvSpPr/>
          <p:nvPr/>
        </p:nvSpPr>
        <p:spPr>
          <a:xfrm>
            <a:off x="10988100" y="6246857"/>
            <a:ext cx="559788" cy="265662"/>
          </a:xfrm>
          <a:prstGeom prst="rect">
            <a:avLst/>
          </a:prstGeom>
          <a:noFill/>
          <a:ln/>
        </p:spPr>
        <p:txBody>
          <a:bodyPr wrap="square" lIns="0" tIns="0" rIns="0" bIns="0" rtlCol="0" anchor="ctr"/>
          <a:lstStyle/>
          <a:p>
            <a:pPr>
              <a:lnSpc>
                <a:spcPct val="130000"/>
              </a:lnSpc>
            </a:pPr>
            <a:r>
              <a:rPr lang="en-US" sz="1345" b="1" dirty="0">
                <a:solidFill>
                  <a:srgbClr val="10B981"/>
                </a:solidFill>
                <a:latin typeface="Quattrocento Sans" pitchFamily="34" charset="0"/>
                <a:ea typeface="Quattrocento Sans" pitchFamily="34" charset="-122"/>
                <a:cs typeface="Quattrocento Sans" pitchFamily="34" charset="-120"/>
              </a:rPr>
              <a:t>98.8%</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827"/>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44" kern="0" dirty="0">
                <a:solidFill>
                  <a:srgbClr val="F97316"/>
                </a:solidFill>
                <a:latin typeface="Quattrocento Sans" pitchFamily="34" charset="0"/>
                <a:ea typeface="Quattrocento Sans" pitchFamily="34" charset="-122"/>
                <a:cs typeface="Quattrocento Sans" pitchFamily="34" charset="-120"/>
              </a:rPr>
              <a:t>CONCLUSION</a:t>
            </a:r>
            <a:endParaRPr lang="en-US" sz="1600" dirty="0"/>
          </a:p>
        </p:txBody>
      </p:sp>
      <p:sp>
        <p:nvSpPr>
          <p:cNvPr id="3" name="Text 1"/>
          <p:cNvSpPr/>
          <p:nvPr/>
        </p:nvSpPr>
        <p:spPr>
          <a:xfrm>
            <a:off x="317500" y="539750"/>
            <a:ext cx="11747500" cy="381000"/>
          </a:xfrm>
          <a:prstGeom prst="rect">
            <a:avLst/>
          </a:prstGeom>
          <a:noFill/>
          <a:ln/>
        </p:spPr>
        <p:txBody>
          <a:bodyPr wrap="square" lIns="0" tIns="0" rIns="0" bIns="0" rtlCol="0" anchor="ctr"/>
          <a:lstStyle/>
          <a:p>
            <a:pPr>
              <a:lnSpc>
                <a:spcPct val="80000"/>
              </a:lnSpc>
            </a:pPr>
            <a:r>
              <a:rPr lang="en-US" sz="3000" b="1" dirty="0">
                <a:solidFill>
                  <a:srgbClr val="F9FAFB"/>
                </a:solidFill>
                <a:latin typeface="Liter" pitchFamily="34" charset="0"/>
                <a:ea typeface="Liter" pitchFamily="34" charset="-122"/>
                <a:cs typeface="Liter" pitchFamily="34" charset="-120"/>
              </a:rPr>
              <a:t>Limitations &amp; Key Takeaways</a:t>
            </a:r>
            <a:endParaRPr lang="en-US" sz="1600" dirty="0"/>
          </a:p>
        </p:txBody>
      </p:sp>
      <p:sp>
        <p:nvSpPr>
          <p:cNvPr id="4" name="Shape 2"/>
          <p:cNvSpPr/>
          <p:nvPr/>
        </p:nvSpPr>
        <p:spPr>
          <a:xfrm>
            <a:off x="320675" y="1114425"/>
            <a:ext cx="5641975" cy="514350"/>
          </a:xfrm>
          <a:custGeom>
            <a:avLst/>
            <a:gdLst/>
            <a:ahLst/>
            <a:cxnLst/>
            <a:rect l="l" t="t" r="r" b="b"/>
            <a:pathLst>
              <a:path w="5641975" h="514350">
                <a:moveTo>
                  <a:pt x="63502" y="0"/>
                </a:moveTo>
                <a:lnTo>
                  <a:pt x="5578473" y="0"/>
                </a:lnTo>
                <a:cubicBezTo>
                  <a:pt x="5613544" y="0"/>
                  <a:pt x="5641975" y="28431"/>
                  <a:pt x="5641975" y="63502"/>
                </a:cubicBezTo>
                <a:lnTo>
                  <a:pt x="5641975" y="450848"/>
                </a:lnTo>
                <a:cubicBezTo>
                  <a:pt x="5641975" y="485919"/>
                  <a:pt x="5613544" y="514350"/>
                  <a:pt x="5578473" y="514350"/>
                </a:cubicBezTo>
                <a:lnTo>
                  <a:pt x="63502" y="514350"/>
                </a:lnTo>
                <a:cubicBezTo>
                  <a:pt x="28431" y="514350"/>
                  <a:pt x="0" y="485919"/>
                  <a:pt x="0" y="450848"/>
                </a:cubicBezTo>
                <a:lnTo>
                  <a:pt x="0" y="63502"/>
                </a:lnTo>
                <a:cubicBezTo>
                  <a:pt x="0" y="28454"/>
                  <a:pt x="28454" y="0"/>
                  <a:pt x="63502" y="0"/>
                </a:cubicBezTo>
                <a:close/>
              </a:path>
            </a:pathLst>
          </a:custGeom>
          <a:solidFill>
            <a:srgbClr val="EF4444">
              <a:alpha val="10196"/>
            </a:srgbClr>
          </a:solidFill>
          <a:ln w="10160">
            <a:solidFill>
              <a:srgbClr val="EF4444">
                <a:alpha val="30196"/>
              </a:srgbClr>
            </a:solidFill>
            <a:prstDash val="solid"/>
          </a:ln>
        </p:spPr>
      </p:sp>
      <p:sp>
        <p:nvSpPr>
          <p:cNvPr id="5" name="Shape 3"/>
          <p:cNvSpPr/>
          <p:nvPr/>
        </p:nvSpPr>
        <p:spPr>
          <a:xfrm>
            <a:off x="474662" y="1276252"/>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EF4444"/>
          </a:solidFill>
          <a:ln/>
        </p:spPr>
      </p:sp>
      <p:sp>
        <p:nvSpPr>
          <p:cNvPr id="6" name="Text 4"/>
          <p:cNvSpPr/>
          <p:nvPr/>
        </p:nvSpPr>
        <p:spPr>
          <a:xfrm>
            <a:off x="688975" y="1244602"/>
            <a:ext cx="5238750" cy="254000"/>
          </a:xfrm>
          <a:prstGeom prst="rect">
            <a:avLst/>
          </a:prstGeom>
          <a:noFill/>
          <a:ln/>
        </p:spPr>
        <p:txBody>
          <a:bodyPr wrap="square" lIns="0" tIns="0" rIns="0" bIns="0" rtlCol="0" anchor="ctr"/>
          <a:lstStyle/>
          <a:p>
            <a:pPr>
              <a:lnSpc>
                <a:spcPct val="110000"/>
              </a:lnSpc>
            </a:pPr>
            <a:r>
              <a:rPr lang="en-US" sz="1500" b="1" dirty="0">
                <a:solidFill>
                  <a:srgbClr val="EF4444"/>
                </a:solidFill>
                <a:latin typeface="Liter" pitchFamily="34" charset="0"/>
                <a:ea typeface="Liter" pitchFamily="34" charset="-122"/>
                <a:cs typeface="Liter" pitchFamily="34" charset="-120"/>
              </a:rPr>
              <a:t>Limitations</a:t>
            </a:r>
            <a:endParaRPr lang="en-US" sz="1600" dirty="0"/>
          </a:p>
        </p:txBody>
      </p:sp>
      <p:sp>
        <p:nvSpPr>
          <p:cNvPr id="7" name="Shape 5"/>
          <p:cNvSpPr/>
          <p:nvPr/>
        </p:nvSpPr>
        <p:spPr>
          <a:xfrm>
            <a:off x="333375" y="1790600"/>
            <a:ext cx="5635625" cy="984250"/>
          </a:xfrm>
          <a:custGeom>
            <a:avLst/>
            <a:gdLst/>
            <a:ahLst/>
            <a:cxnLst/>
            <a:rect l="l" t="t" r="r" b="b"/>
            <a:pathLst>
              <a:path w="5635625" h="984250">
                <a:moveTo>
                  <a:pt x="31750" y="0"/>
                </a:moveTo>
                <a:lnTo>
                  <a:pt x="5572121" y="0"/>
                </a:lnTo>
                <a:cubicBezTo>
                  <a:pt x="5607193" y="0"/>
                  <a:pt x="5635625" y="28432"/>
                  <a:pt x="5635625" y="63504"/>
                </a:cubicBezTo>
                <a:lnTo>
                  <a:pt x="5635625" y="920746"/>
                </a:lnTo>
                <a:cubicBezTo>
                  <a:pt x="5635625" y="955818"/>
                  <a:pt x="5607193" y="984250"/>
                  <a:pt x="5572121" y="984250"/>
                </a:cubicBezTo>
                <a:lnTo>
                  <a:pt x="31750" y="984250"/>
                </a:lnTo>
                <a:cubicBezTo>
                  <a:pt x="14215" y="984250"/>
                  <a:pt x="0" y="970035"/>
                  <a:pt x="0" y="952500"/>
                </a:cubicBezTo>
                <a:lnTo>
                  <a:pt x="0" y="31750"/>
                </a:lnTo>
                <a:cubicBezTo>
                  <a:pt x="0" y="14227"/>
                  <a:pt x="14227" y="0"/>
                  <a:pt x="31750" y="0"/>
                </a:cubicBezTo>
                <a:close/>
              </a:path>
            </a:pathLst>
          </a:custGeom>
          <a:solidFill>
            <a:srgbClr val="374151"/>
          </a:solidFill>
          <a:ln/>
        </p:spPr>
      </p:sp>
      <p:sp>
        <p:nvSpPr>
          <p:cNvPr id="8" name="Shape 6"/>
          <p:cNvSpPr/>
          <p:nvPr/>
        </p:nvSpPr>
        <p:spPr>
          <a:xfrm>
            <a:off x="333375" y="1790600"/>
            <a:ext cx="31750" cy="984250"/>
          </a:xfrm>
          <a:custGeom>
            <a:avLst/>
            <a:gdLst/>
            <a:ahLst/>
            <a:cxnLst/>
            <a:rect l="l" t="t" r="r" b="b"/>
            <a:pathLst>
              <a:path w="31750" h="984250">
                <a:moveTo>
                  <a:pt x="31750" y="0"/>
                </a:moveTo>
                <a:lnTo>
                  <a:pt x="31750" y="0"/>
                </a:lnTo>
                <a:lnTo>
                  <a:pt x="31750" y="984250"/>
                </a:lnTo>
                <a:lnTo>
                  <a:pt x="31750" y="984250"/>
                </a:lnTo>
                <a:cubicBezTo>
                  <a:pt x="14227" y="984250"/>
                  <a:pt x="0" y="970023"/>
                  <a:pt x="0" y="952500"/>
                </a:cubicBezTo>
                <a:lnTo>
                  <a:pt x="0" y="31750"/>
                </a:lnTo>
                <a:cubicBezTo>
                  <a:pt x="0" y="14227"/>
                  <a:pt x="14227" y="0"/>
                  <a:pt x="31750" y="0"/>
                </a:cubicBezTo>
                <a:close/>
              </a:path>
            </a:pathLst>
          </a:custGeom>
          <a:solidFill>
            <a:srgbClr val="EF4444"/>
          </a:solidFill>
          <a:ln/>
        </p:spPr>
      </p:sp>
      <p:sp>
        <p:nvSpPr>
          <p:cNvPr id="9" name="Shape 7"/>
          <p:cNvSpPr/>
          <p:nvPr/>
        </p:nvSpPr>
        <p:spPr>
          <a:xfrm>
            <a:off x="508000" y="19493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F4444">
              <a:alpha val="20000"/>
            </a:srgbClr>
          </a:solidFill>
          <a:ln/>
        </p:spPr>
      </p:sp>
      <p:sp>
        <p:nvSpPr>
          <p:cNvPr id="10" name="Shape 8"/>
          <p:cNvSpPr/>
          <p:nvPr/>
        </p:nvSpPr>
        <p:spPr>
          <a:xfrm>
            <a:off x="619125" y="2060475"/>
            <a:ext cx="158750" cy="158750"/>
          </a:xfrm>
          <a:custGeom>
            <a:avLst/>
            <a:gdLst/>
            <a:ahLst/>
            <a:cxnLst/>
            <a:rect l="l" t="t" r="r" b="b"/>
            <a:pathLst>
              <a:path w="158750" h="158750">
                <a:moveTo>
                  <a:pt x="79375" y="0"/>
                </a:moveTo>
                <a:cubicBezTo>
                  <a:pt x="123183" y="0"/>
                  <a:pt x="158750" y="35567"/>
                  <a:pt x="158750" y="79375"/>
                </a:cubicBezTo>
                <a:cubicBezTo>
                  <a:pt x="158750" y="123183"/>
                  <a:pt x="123183" y="158750"/>
                  <a:pt x="79375" y="158750"/>
                </a:cubicBezTo>
                <a:cubicBezTo>
                  <a:pt x="35567" y="158750"/>
                  <a:pt x="0" y="123183"/>
                  <a:pt x="0" y="79375"/>
                </a:cubicBezTo>
                <a:cubicBezTo>
                  <a:pt x="0" y="35567"/>
                  <a:pt x="35567" y="0"/>
                  <a:pt x="79375" y="0"/>
                </a:cubicBezTo>
                <a:close/>
                <a:moveTo>
                  <a:pt x="71934" y="37207"/>
                </a:moveTo>
                <a:lnTo>
                  <a:pt x="71934" y="79375"/>
                </a:lnTo>
                <a:cubicBezTo>
                  <a:pt x="71934" y="81855"/>
                  <a:pt x="73174" y="84181"/>
                  <a:pt x="75251" y="85576"/>
                </a:cubicBezTo>
                <a:lnTo>
                  <a:pt x="105017" y="105420"/>
                </a:lnTo>
                <a:cubicBezTo>
                  <a:pt x="108427" y="107714"/>
                  <a:pt x="113047" y="106784"/>
                  <a:pt x="115342" y="103343"/>
                </a:cubicBezTo>
                <a:cubicBezTo>
                  <a:pt x="117636" y="99901"/>
                  <a:pt x="116706" y="95312"/>
                  <a:pt x="113264" y="93018"/>
                </a:cubicBezTo>
                <a:lnTo>
                  <a:pt x="86816" y="75406"/>
                </a:lnTo>
                <a:lnTo>
                  <a:pt x="86816" y="37207"/>
                </a:lnTo>
                <a:cubicBezTo>
                  <a:pt x="86816" y="33083"/>
                  <a:pt x="83499" y="29766"/>
                  <a:pt x="79375" y="29766"/>
                </a:cubicBezTo>
                <a:cubicBezTo>
                  <a:pt x="75251" y="29766"/>
                  <a:pt x="71934" y="33083"/>
                  <a:pt x="71934" y="37207"/>
                </a:cubicBezTo>
                <a:close/>
              </a:path>
            </a:pathLst>
          </a:custGeom>
          <a:solidFill>
            <a:srgbClr val="EF4444"/>
          </a:solidFill>
          <a:ln/>
        </p:spPr>
      </p:sp>
      <p:sp>
        <p:nvSpPr>
          <p:cNvPr id="11" name="Text 9"/>
          <p:cNvSpPr/>
          <p:nvPr/>
        </p:nvSpPr>
        <p:spPr>
          <a:xfrm>
            <a:off x="1016000" y="1949350"/>
            <a:ext cx="4865688" cy="222250"/>
          </a:xfrm>
          <a:prstGeom prst="rect">
            <a:avLst/>
          </a:prstGeom>
          <a:noFill/>
          <a:ln/>
        </p:spPr>
        <p:txBody>
          <a:bodyPr wrap="square" lIns="0" tIns="0" rIns="0" bIns="0" rtlCol="0" anchor="ctr"/>
          <a:lstStyle/>
          <a:p>
            <a:pPr>
              <a:lnSpc>
                <a:spcPct val="130000"/>
              </a:lnSpc>
            </a:pPr>
            <a:r>
              <a:rPr lang="en-US" sz="1125" b="1" dirty="0">
                <a:solidFill>
                  <a:srgbClr val="F9FAFB"/>
                </a:solidFill>
                <a:latin typeface="Quattrocento Sans" pitchFamily="34" charset="0"/>
                <a:ea typeface="Quattrocento Sans" pitchFamily="34" charset="-122"/>
                <a:cs typeface="Quattrocento Sans" pitchFamily="34" charset="-120"/>
              </a:rPr>
              <a:t>Short Test Duration</a:t>
            </a:r>
            <a:endParaRPr lang="en-US" sz="1600" dirty="0"/>
          </a:p>
        </p:txBody>
      </p:sp>
      <p:sp>
        <p:nvSpPr>
          <p:cNvPr id="12" name="Text 10"/>
          <p:cNvSpPr/>
          <p:nvPr/>
        </p:nvSpPr>
        <p:spPr>
          <a:xfrm>
            <a:off x="1016000" y="2235100"/>
            <a:ext cx="4857750" cy="381000"/>
          </a:xfrm>
          <a:prstGeom prst="rect">
            <a:avLst/>
          </a:prstGeom>
          <a:noFill/>
          <a:ln/>
        </p:spPr>
        <p:txBody>
          <a:bodyPr wrap="square" lIns="0" tIns="0" rIns="0" bIns="0" rtlCol="0" anchor="ctr"/>
          <a:lstStyle/>
          <a:p>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Only 2-week test means </a:t>
            </a:r>
            <a:pPr>
              <a:lnSpc>
                <a:spcPct val="130000"/>
              </a:lnSpc>
            </a:pPr>
            <a:r>
              <a:rPr lang="en-US" sz="1000" b="1" dirty="0">
                <a:solidFill>
                  <a:srgbClr val="F9FAFB">
                    <a:alpha val="70000"/>
                  </a:srgbClr>
                </a:solidFill>
                <a:latin typeface="Quattrocento Sans" pitchFamily="34" charset="0"/>
                <a:ea typeface="Quattrocento Sans" pitchFamily="34" charset="-122"/>
                <a:cs typeface="Quattrocento Sans" pitchFamily="34" charset="-120"/>
              </a:rPr>
              <a:t>long-term effects unknown</a:t>
            </a:r>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 Sustained engagement or novelty effect?</a:t>
            </a:r>
            <a:endParaRPr lang="en-US" sz="1600" dirty="0"/>
          </a:p>
        </p:txBody>
      </p:sp>
      <p:sp>
        <p:nvSpPr>
          <p:cNvPr id="13" name="Shape 11"/>
          <p:cNvSpPr/>
          <p:nvPr/>
        </p:nvSpPr>
        <p:spPr>
          <a:xfrm>
            <a:off x="333375" y="2901850"/>
            <a:ext cx="5635625" cy="793750"/>
          </a:xfrm>
          <a:custGeom>
            <a:avLst/>
            <a:gdLst/>
            <a:ahLst/>
            <a:cxnLst/>
            <a:rect l="l" t="t" r="r" b="b"/>
            <a:pathLst>
              <a:path w="5635625" h="793750">
                <a:moveTo>
                  <a:pt x="31750" y="0"/>
                </a:moveTo>
                <a:lnTo>
                  <a:pt x="5572125" y="0"/>
                </a:lnTo>
                <a:cubicBezTo>
                  <a:pt x="5607172" y="0"/>
                  <a:pt x="5635625" y="28453"/>
                  <a:pt x="5635625" y="63500"/>
                </a:cubicBezTo>
                <a:lnTo>
                  <a:pt x="5635625" y="730250"/>
                </a:lnTo>
                <a:cubicBezTo>
                  <a:pt x="5635625" y="765297"/>
                  <a:pt x="5607172" y="793750"/>
                  <a:pt x="5572125" y="793750"/>
                </a:cubicBezTo>
                <a:lnTo>
                  <a:pt x="31750" y="793750"/>
                </a:lnTo>
                <a:cubicBezTo>
                  <a:pt x="14227" y="793750"/>
                  <a:pt x="0" y="779523"/>
                  <a:pt x="0" y="762000"/>
                </a:cubicBezTo>
                <a:lnTo>
                  <a:pt x="0" y="31750"/>
                </a:lnTo>
                <a:cubicBezTo>
                  <a:pt x="0" y="14227"/>
                  <a:pt x="14227" y="0"/>
                  <a:pt x="31750" y="0"/>
                </a:cubicBezTo>
                <a:close/>
              </a:path>
            </a:pathLst>
          </a:custGeom>
          <a:solidFill>
            <a:srgbClr val="374151"/>
          </a:solidFill>
          <a:ln/>
        </p:spPr>
      </p:sp>
      <p:sp>
        <p:nvSpPr>
          <p:cNvPr id="14" name="Shape 12"/>
          <p:cNvSpPr/>
          <p:nvPr/>
        </p:nvSpPr>
        <p:spPr>
          <a:xfrm>
            <a:off x="333375" y="2901850"/>
            <a:ext cx="31750" cy="793750"/>
          </a:xfrm>
          <a:custGeom>
            <a:avLst/>
            <a:gdLst/>
            <a:ahLst/>
            <a:cxnLst/>
            <a:rect l="l" t="t" r="r" b="b"/>
            <a:pathLst>
              <a:path w="31750" h="793750">
                <a:moveTo>
                  <a:pt x="31750" y="0"/>
                </a:moveTo>
                <a:lnTo>
                  <a:pt x="31750" y="0"/>
                </a:lnTo>
                <a:lnTo>
                  <a:pt x="31750" y="793750"/>
                </a:lnTo>
                <a:lnTo>
                  <a:pt x="31750" y="793750"/>
                </a:lnTo>
                <a:cubicBezTo>
                  <a:pt x="14227" y="793750"/>
                  <a:pt x="0" y="779523"/>
                  <a:pt x="0" y="762000"/>
                </a:cubicBezTo>
                <a:lnTo>
                  <a:pt x="0" y="31750"/>
                </a:lnTo>
                <a:cubicBezTo>
                  <a:pt x="0" y="14227"/>
                  <a:pt x="14227" y="0"/>
                  <a:pt x="31750" y="0"/>
                </a:cubicBezTo>
                <a:close/>
              </a:path>
            </a:pathLst>
          </a:custGeom>
          <a:solidFill>
            <a:srgbClr val="EF4444"/>
          </a:solidFill>
          <a:ln/>
        </p:spPr>
      </p:sp>
      <p:sp>
        <p:nvSpPr>
          <p:cNvPr id="15" name="Shape 13"/>
          <p:cNvSpPr/>
          <p:nvPr/>
        </p:nvSpPr>
        <p:spPr>
          <a:xfrm>
            <a:off x="508000" y="30606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F4444">
              <a:alpha val="20000"/>
            </a:srgbClr>
          </a:solidFill>
          <a:ln/>
        </p:spPr>
      </p:sp>
      <p:sp>
        <p:nvSpPr>
          <p:cNvPr id="16" name="Shape 14"/>
          <p:cNvSpPr/>
          <p:nvPr/>
        </p:nvSpPr>
        <p:spPr>
          <a:xfrm>
            <a:off x="648891" y="3171725"/>
            <a:ext cx="99219" cy="158750"/>
          </a:xfrm>
          <a:custGeom>
            <a:avLst/>
            <a:gdLst/>
            <a:ahLst/>
            <a:cxnLst/>
            <a:rect l="l" t="t" r="r" b="b"/>
            <a:pathLst>
              <a:path w="99219" h="158750">
                <a:moveTo>
                  <a:pt x="19844" y="49609"/>
                </a:moveTo>
                <a:cubicBezTo>
                  <a:pt x="19844" y="33176"/>
                  <a:pt x="33176" y="19844"/>
                  <a:pt x="49609" y="19844"/>
                </a:cubicBezTo>
                <a:cubicBezTo>
                  <a:pt x="66042" y="19844"/>
                  <a:pt x="79375" y="33176"/>
                  <a:pt x="79375" y="49609"/>
                </a:cubicBezTo>
                <a:cubicBezTo>
                  <a:pt x="79375" y="62849"/>
                  <a:pt x="70724" y="74073"/>
                  <a:pt x="58756" y="77949"/>
                </a:cubicBezTo>
                <a:cubicBezTo>
                  <a:pt x="49950" y="80801"/>
                  <a:pt x="39688" y="88894"/>
                  <a:pt x="39688" y="101699"/>
                </a:cubicBezTo>
                <a:lnTo>
                  <a:pt x="39688" y="109141"/>
                </a:lnTo>
                <a:cubicBezTo>
                  <a:pt x="39688" y="114629"/>
                  <a:pt x="44121" y="119062"/>
                  <a:pt x="49609" y="119062"/>
                </a:cubicBezTo>
                <a:cubicBezTo>
                  <a:pt x="55097" y="119062"/>
                  <a:pt x="59531" y="114629"/>
                  <a:pt x="59531" y="109141"/>
                </a:cubicBezTo>
                <a:lnTo>
                  <a:pt x="59531" y="101699"/>
                </a:lnTo>
                <a:cubicBezTo>
                  <a:pt x="59531" y="101172"/>
                  <a:pt x="59717" y="100428"/>
                  <a:pt x="60616" y="99436"/>
                </a:cubicBezTo>
                <a:cubicBezTo>
                  <a:pt x="61547" y="98413"/>
                  <a:pt x="63066" y="97420"/>
                  <a:pt x="64864" y="96831"/>
                </a:cubicBezTo>
                <a:cubicBezTo>
                  <a:pt x="84801" y="90413"/>
                  <a:pt x="99219" y="71717"/>
                  <a:pt x="99219" y="49609"/>
                </a:cubicBezTo>
                <a:cubicBezTo>
                  <a:pt x="99219" y="22200"/>
                  <a:pt x="77019" y="0"/>
                  <a:pt x="49609" y="0"/>
                </a:cubicBezTo>
                <a:cubicBezTo>
                  <a:pt x="22200" y="0"/>
                  <a:pt x="0" y="22200"/>
                  <a:pt x="0" y="49609"/>
                </a:cubicBezTo>
                <a:cubicBezTo>
                  <a:pt x="0" y="55097"/>
                  <a:pt x="4434" y="59531"/>
                  <a:pt x="9922" y="59531"/>
                </a:cubicBezTo>
                <a:cubicBezTo>
                  <a:pt x="15410" y="59531"/>
                  <a:pt x="19844" y="55097"/>
                  <a:pt x="19844" y="49609"/>
                </a:cubicBezTo>
                <a:close/>
                <a:moveTo>
                  <a:pt x="49609" y="158750"/>
                </a:moveTo>
                <a:cubicBezTo>
                  <a:pt x="56462" y="158750"/>
                  <a:pt x="62012" y="153200"/>
                  <a:pt x="62012" y="146348"/>
                </a:cubicBezTo>
                <a:cubicBezTo>
                  <a:pt x="62012" y="139495"/>
                  <a:pt x="56462" y="133945"/>
                  <a:pt x="49609" y="133945"/>
                </a:cubicBezTo>
                <a:cubicBezTo>
                  <a:pt x="42757" y="133945"/>
                  <a:pt x="37207" y="139495"/>
                  <a:pt x="37207" y="146348"/>
                </a:cubicBezTo>
                <a:cubicBezTo>
                  <a:pt x="37207" y="153200"/>
                  <a:pt x="42757" y="158750"/>
                  <a:pt x="49609" y="158750"/>
                </a:cubicBezTo>
                <a:close/>
              </a:path>
            </a:pathLst>
          </a:custGeom>
          <a:solidFill>
            <a:srgbClr val="EF4444"/>
          </a:solidFill>
          <a:ln/>
        </p:spPr>
      </p:sp>
      <p:sp>
        <p:nvSpPr>
          <p:cNvPr id="17" name="Text 15"/>
          <p:cNvSpPr/>
          <p:nvPr/>
        </p:nvSpPr>
        <p:spPr>
          <a:xfrm>
            <a:off x="1016000" y="3060600"/>
            <a:ext cx="4476750" cy="222250"/>
          </a:xfrm>
          <a:prstGeom prst="rect">
            <a:avLst/>
          </a:prstGeom>
          <a:noFill/>
          <a:ln/>
        </p:spPr>
        <p:txBody>
          <a:bodyPr wrap="square" lIns="0" tIns="0" rIns="0" bIns="0" rtlCol="0" anchor="ctr"/>
          <a:lstStyle/>
          <a:p>
            <a:pPr>
              <a:lnSpc>
                <a:spcPct val="130000"/>
              </a:lnSpc>
            </a:pPr>
            <a:r>
              <a:rPr lang="en-US" sz="1125" b="1" dirty="0">
                <a:solidFill>
                  <a:srgbClr val="F9FAFB"/>
                </a:solidFill>
                <a:latin typeface="Quattrocento Sans" pitchFamily="34" charset="0"/>
                <a:ea typeface="Quattrocento Sans" pitchFamily="34" charset="-122"/>
                <a:cs typeface="Quattrocento Sans" pitchFamily="34" charset="-120"/>
              </a:rPr>
              <a:t>Doesn't Explain "Why"</a:t>
            </a:r>
            <a:endParaRPr lang="en-US" sz="1600" dirty="0"/>
          </a:p>
        </p:txBody>
      </p:sp>
      <p:sp>
        <p:nvSpPr>
          <p:cNvPr id="18" name="Text 16"/>
          <p:cNvSpPr/>
          <p:nvPr/>
        </p:nvSpPr>
        <p:spPr>
          <a:xfrm>
            <a:off x="1016000" y="3346350"/>
            <a:ext cx="4468813" cy="190500"/>
          </a:xfrm>
          <a:prstGeom prst="rect">
            <a:avLst/>
          </a:prstGeom>
          <a:noFill/>
          <a:ln/>
        </p:spPr>
        <p:txBody>
          <a:bodyPr wrap="square" lIns="0" tIns="0" rIns="0" bIns="0" rtlCol="0" anchor="ctr"/>
          <a:lstStyle/>
          <a:p>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Statistical significance confirmed improvement but </a:t>
            </a:r>
            <a:pPr>
              <a:lnSpc>
                <a:spcPct val="130000"/>
              </a:lnSpc>
            </a:pPr>
            <a:r>
              <a:rPr lang="en-US" sz="1000" b="1" dirty="0">
                <a:solidFill>
                  <a:srgbClr val="F9FAFB">
                    <a:alpha val="70000"/>
                  </a:srgbClr>
                </a:solidFill>
                <a:latin typeface="Quattrocento Sans" pitchFamily="34" charset="0"/>
                <a:ea typeface="Quattrocento Sans" pitchFamily="34" charset="-122"/>
                <a:cs typeface="Quattrocento Sans" pitchFamily="34" charset="-120"/>
              </a:rPr>
              <a:t>not the mechanism</a:t>
            </a:r>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 behind it.</a:t>
            </a:r>
            <a:endParaRPr lang="en-US" sz="1600" dirty="0"/>
          </a:p>
        </p:txBody>
      </p:sp>
      <p:sp>
        <p:nvSpPr>
          <p:cNvPr id="19" name="Shape 17"/>
          <p:cNvSpPr/>
          <p:nvPr/>
        </p:nvSpPr>
        <p:spPr>
          <a:xfrm>
            <a:off x="333375" y="3822600"/>
            <a:ext cx="5635625" cy="793750"/>
          </a:xfrm>
          <a:custGeom>
            <a:avLst/>
            <a:gdLst/>
            <a:ahLst/>
            <a:cxnLst/>
            <a:rect l="l" t="t" r="r" b="b"/>
            <a:pathLst>
              <a:path w="5635625" h="793750">
                <a:moveTo>
                  <a:pt x="31750" y="0"/>
                </a:moveTo>
                <a:lnTo>
                  <a:pt x="5572125" y="0"/>
                </a:lnTo>
                <a:cubicBezTo>
                  <a:pt x="5607172" y="0"/>
                  <a:pt x="5635625" y="28453"/>
                  <a:pt x="5635625" y="63500"/>
                </a:cubicBezTo>
                <a:lnTo>
                  <a:pt x="5635625" y="730250"/>
                </a:lnTo>
                <a:cubicBezTo>
                  <a:pt x="5635625" y="765297"/>
                  <a:pt x="5607172" y="793750"/>
                  <a:pt x="5572125" y="793750"/>
                </a:cubicBezTo>
                <a:lnTo>
                  <a:pt x="31750" y="793750"/>
                </a:lnTo>
                <a:cubicBezTo>
                  <a:pt x="14227" y="793750"/>
                  <a:pt x="0" y="779523"/>
                  <a:pt x="0" y="762000"/>
                </a:cubicBezTo>
                <a:lnTo>
                  <a:pt x="0" y="31750"/>
                </a:lnTo>
                <a:cubicBezTo>
                  <a:pt x="0" y="14227"/>
                  <a:pt x="14227" y="0"/>
                  <a:pt x="31750" y="0"/>
                </a:cubicBezTo>
                <a:close/>
              </a:path>
            </a:pathLst>
          </a:custGeom>
          <a:solidFill>
            <a:srgbClr val="374151"/>
          </a:solidFill>
          <a:ln/>
        </p:spPr>
      </p:sp>
      <p:sp>
        <p:nvSpPr>
          <p:cNvPr id="20" name="Shape 18"/>
          <p:cNvSpPr/>
          <p:nvPr/>
        </p:nvSpPr>
        <p:spPr>
          <a:xfrm>
            <a:off x="333375" y="3822600"/>
            <a:ext cx="31750" cy="793750"/>
          </a:xfrm>
          <a:custGeom>
            <a:avLst/>
            <a:gdLst/>
            <a:ahLst/>
            <a:cxnLst/>
            <a:rect l="l" t="t" r="r" b="b"/>
            <a:pathLst>
              <a:path w="31750" h="793750">
                <a:moveTo>
                  <a:pt x="31750" y="0"/>
                </a:moveTo>
                <a:lnTo>
                  <a:pt x="31750" y="0"/>
                </a:lnTo>
                <a:lnTo>
                  <a:pt x="31750" y="793750"/>
                </a:lnTo>
                <a:lnTo>
                  <a:pt x="31750" y="793750"/>
                </a:lnTo>
                <a:cubicBezTo>
                  <a:pt x="14227" y="793750"/>
                  <a:pt x="0" y="779523"/>
                  <a:pt x="0" y="762000"/>
                </a:cubicBezTo>
                <a:lnTo>
                  <a:pt x="0" y="31750"/>
                </a:lnTo>
                <a:cubicBezTo>
                  <a:pt x="0" y="14227"/>
                  <a:pt x="14227" y="0"/>
                  <a:pt x="31750" y="0"/>
                </a:cubicBezTo>
                <a:close/>
              </a:path>
            </a:pathLst>
          </a:custGeom>
          <a:solidFill>
            <a:srgbClr val="EF4444"/>
          </a:solidFill>
          <a:ln/>
        </p:spPr>
      </p:sp>
      <p:sp>
        <p:nvSpPr>
          <p:cNvPr id="21" name="Shape 19"/>
          <p:cNvSpPr/>
          <p:nvPr/>
        </p:nvSpPr>
        <p:spPr>
          <a:xfrm>
            <a:off x="508000" y="39813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EF4444">
              <a:alpha val="20000"/>
            </a:srgbClr>
          </a:solidFill>
          <a:ln/>
        </p:spPr>
      </p:sp>
      <p:sp>
        <p:nvSpPr>
          <p:cNvPr id="22" name="Shape 20"/>
          <p:cNvSpPr/>
          <p:nvPr/>
        </p:nvSpPr>
        <p:spPr>
          <a:xfrm>
            <a:off x="619125" y="4092475"/>
            <a:ext cx="158750" cy="158750"/>
          </a:xfrm>
          <a:custGeom>
            <a:avLst/>
            <a:gdLst/>
            <a:ahLst/>
            <a:cxnLst/>
            <a:rect l="l" t="t" r="r" b="b"/>
            <a:pathLst>
              <a:path w="158750" h="158750">
                <a:moveTo>
                  <a:pt x="123558" y="3783"/>
                </a:moveTo>
                <a:lnTo>
                  <a:pt x="96211" y="31130"/>
                </a:lnTo>
                <a:lnTo>
                  <a:pt x="127620" y="62539"/>
                </a:lnTo>
                <a:lnTo>
                  <a:pt x="154967" y="35192"/>
                </a:lnTo>
                <a:cubicBezTo>
                  <a:pt x="157386" y="32742"/>
                  <a:pt x="158750" y="29456"/>
                  <a:pt x="158750" y="26045"/>
                </a:cubicBezTo>
                <a:cubicBezTo>
                  <a:pt x="158750" y="22634"/>
                  <a:pt x="157386" y="19348"/>
                  <a:pt x="154967" y="16898"/>
                </a:cubicBezTo>
                <a:lnTo>
                  <a:pt x="141852" y="3783"/>
                </a:lnTo>
                <a:cubicBezTo>
                  <a:pt x="139402" y="1364"/>
                  <a:pt x="136116" y="0"/>
                  <a:pt x="132705" y="0"/>
                </a:cubicBezTo>
                <a:cubicBezTo>
                  <a:pt x="129294" y="0"/>
                  <a:pt x="126008" y="1364"/>
                  <a:pt x="123558" y="3783"/>
                </a:cubicBezTo>
                <a:close/>
                <a:moveTo>
                  <a:pt x="85700" y="41641"/>
                </a:moveTo>
                <a:lnTo>
                  <a:pt x="3783" y="123558"/>
                </a:lnTo>
                <a:cubicBezTo>
                  <a:pt x="1364" y="126008"/>
                  <a:pt x="0" y="129294"/>
                  <a:pt x="0" y="132705"/>
                </a:cubicBezTo>
                <a:cubicBezTo>
                  <a:pt x="0" y="136116"/>
                  <a:pt x="1364" y="139402"/>
                  <a:pt x="3783" y="141852"/>
                </a:cubicBezTo>
                <a:lnTo>
                  <a:pt x="16898" y="154967"/>
                </a:lnTo>
                <a:cubicBezTo>
                  <a:pt x="19348" y="157386"/>
                  <a:pt x="22634" y="158750"/>
                  <a:pt x="26045" y="158750"/>
                </a:cubicBezTo>
                <a:cubicBezTo>
                  <a:pt x="29456" y="158750"/>
                  <a:pt x="32742" y="157386"/>
                  <a:pt x="35192" y="154967"/>
                </a:cubicBezTo>
                <a:lnTo>
                  <a:pt x="117109" y="73050"/>
                </a:lnTo>
                <a:lnTo>
                  <a:pt x="85700" y="41641"/>
                </a:lnTo>
                <a:close/>
              </a:path>
            </a:pathLst>
          </a:custGeom>
          <a:solidFill>
            <a:srgbClr val="EF4444"/>
          </a:solidFill>
          <a:ln/>
        </p:spPr>
      </p:sp>
      <p:sp>
        <p:nvSpPr>
          <p:cNvPr id="23" name="Text 21"/>
          <p:cNvSpPr/>
          <p:nvPr/>
        </p:nvSpPr>
        <p:spPr>
          <a:xfrm>
            <a:off x="1016000" y="3981350"/>
            <a:ext cx="4794250" cy="222250"/>
          </a:xfrm>
          <a:prstGeom prst="rect">
            <a:avLst/>
          </a:prstGeom>
          <a:noFill/>
          <a:ln/>
        </p:spPr>
        <p:txBody>
          <a:bodyPr wrap="square" lIns="0" tIns="0" rIns="0" bIns="0" rtlCol="0" anchor="ctr"/>
          <a:lstStyle/>
          <a:p>
            <a:pPr>
              <a:lnSpc>
                <a:spcPct val="130000"/>
              </a:lnSpc>
            </a:pPr>
            <a:r>
              <a:rPr lang="en-US" sz="1125" b="1" dirty="0">
                <a:solidFill>
                  <a:srgbClr val="F9FAFB"/>
                </a:solidFill>
                <a:latin typeface="Quattrocento Sans" pitchFamily="34" charset="0"/>
                <a:ea typeface="Quattrocento Sans" pitchFamily="34" charset="-122"/>
                <a:cs typeface="Quattrocento Sans" pitchFamily="34" charset="-120"/>
              </a:rPr>
              <a:t>Potential Novelty Effect</a:t>
            </a:r>
            <a:endParaRPr lang="en-US" sz="1600" dirty="0"/>
          </a:p>
        </p:txBody>
      </p:sp>
      <p:sp>
        <p:nvSpPr>
          <p:cNvPr id="24" name="Text 22"/>
          <p:cNvSpPr/>
          <p:nvPr/>
        </p:nvSpPr>
        <p:spPr>
          <a:xfrm>
            <a:off x="1016000" y="4267100"/>
            <a:ext cx="4786313" cy="190500"/>
          </a:xfrm>
          <a:prstGeom prst="rect">
            <a:avLst/>
          </a:prstGeom>
          <a:noFill/>
          <a:ln/>
        </p:spPr>
        <p:txBody>
          <a:bodyPr wrap="square" lIns="0" tIns="0" rIns="0" bIns="0" rtlCol="0" anchor="ctr"/>
          <a:lstStyle/>
          <a:p>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Improved engagement might be due to </a:t>
            </a:r>
            <a:pPr>
              <a:lnSpc>
                <a:spcPct val="130000"/>
              </a:lnSpc>
            </a:pPr>
            <a:r>
              <a:rPr lang="en-US" sz="1000" b="1" dirty="0">
                <a:solidFill>
                  <a:srgbClr val="F9FAFB">
                    <a:alpha val="70000"/>
                  </a:srgbClr>
                </a:solidFill>
                <a:latin typeface="Quattrocento Sans" pitchFamily="34" charset="0"/>
                <a:ea typeface="Quattrocento Sans" pitchFamily="34" charset="-122"/>
                <a:cs typeface="Quattrocento Sans" pitchFamily="34" charset="-120"/>
              </a:rPr>
              <a:t>newness</a:t>
            </a:r>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 rather than true algorithm superiority.</a:t>
            </a:r>
            <a:endParaRPr lang="en-US" sz="1600" dirty="0"/>
          </a:p>
        </p:txBody>
      </p:sp>
      <p:sp>
        <p:nvSpPr>
          <p:cNvPr id="25" name="Shape 23"/>
          <p:cNvSpPr/>
          <p:nvPr/>
        </p:nvSpPr>
        <p:spPr>
          <a:xfrm>
            <a:off x="6226175" y="1114425"/>
            <a:ext cx="5641975" cy="514350"/>
          </a:xfrm>
          <a:custGeom>
            <a:avLst/>
            <a:gdLst/>
            <a:ahLst/>
            <a:cxnLst/>
            <a:rect l="l" t="t" r="r" b="b"/>
            <a:pathLst>
              <a:path w="5641975" h="514350">
                <a:moveTo>
                  <a:pt x="63502" y="0"/>
                </a:moveTo>
                <a:lnTo>
                  <a:pt x="5578473" y="0"/>
                </a:lnTo>
                <a:cubicBezTo>
                  <a:pt x="5613544" y="0"/>
                  <a:pt x="5641975" y="28431"/>
                  <a:pt x="5641975" y="63502"/>
                </a:cubicBezTo>
                <a:lnTo>
                  <a:pt x="5641975" y="450848"/>
                </a:lnTo>
                <a:cubicBezTo>
                  <a:pt x="5641975" y="485919"/>
                  <a:pt x="5613544" y="514350"/>
                  <a:pt x="5578473" y="514350"/>
                </a:cubicBezTo>
                <a:lnTo>
                  <a:pt x="63502" y="514350"/>
                </a:lnTo>
                <a:cubicBezTo>
                  <a:pt x="28431" y="514350"/>
                  <a:pt x="0" y="485919"/>
                  <a:pt x="0" y="450848"/>
                </a:cubicBezTo>
                <a:lnTo>
                  <a:pt x="0" y="63502"/>
                </a:lnTo>
                <a:cubicBezTo>
                  <a:pt x="0" y="28454"/>
                  <a:pt x="28454" y="0"/>
                  <a:pt x="63502" y="0"/>
                </a:cubicBezTo>
                <a:close/>
              </a:path>
            </a:pathLst>
          </a:custGeom>
          <a:solidFill>
            <a:srgbClr val="10B981">
              <a:alpha val="10196"/>
            </a:srgbClr>
          </a:solidFill>
          <a:ln w="10160">
            <a:solidFill>
              <a:srgbClr val="10B981">
                <a:alpha val="30196"/>
              </a:srgbClr>
            </a:solidFill>
            <a:prstDash val="solid"/>
          </a:ln>
        </p:spPr>
      </p:sp>
      <p:sp>
        <p:nvSpPr>
          <p:cNvPr id="26" name="Shape 24"/>
          <p:cNvSpPr/>
          <p:nvPr/>
        </p:nvSpPr>
        <p:spPr>
          <a:xfrm>
            <a:off x="6403975" y="1276252"/>
            <a:ext cx="142875" cy="190500"/>
          </a:xfrm>
          <a:custGeom>
            <a:avLst/>
            <a:gdLst/>
            <a:ahLst/>
            <a:cxnLst/>
            <a:rect l="l" t="t" r="r" b="b"/>
            <a:pathLst>
              <a:path w="142875" h="190500">
                <a:moveTo>
                  <a:pt x="108979" y="142875"/>
                </a:moveTo>
                <a:cubicBezTo>
                  <a:pt x="111696" y="134578"/>
                  <a:pt x="117128" y="127062"/>
                  <a:pt x="123267" y="120588"/>
                </a:cubicBezTo>
                <a:cubicBezTo>
                  <a:pt x="135434" y="107789"/>
                  <a:pt x="142875" y="90488"/>
                  <a:pt x="142875" y="71438"/>
                </a:cubicBezTo>
                <a:cubicBezTo>
                  <a:pt x="142875" y="31998"/>
                  <a:pt x="110877" y="0"/>
                  <a:pt x="71437" y="0"/>
                </a:cubicBezTo>
                <a:cubicBezTo>
                  <a:pt x="31998" y="0"/>
                  <a:pt x="0" y="31998"/>
                  <a:pt x="0" y="71438"/>
                </a:cubicBezTo>
                <a:cubicBezTo>
                  <a:pt x="0" y="90488"/>
                  <a:pt x="7441" y="107789"/>
                  <a:pt x="19608" y="120588"/>
                </a:cubicBezTo>
                <a:cubicBezTo>
                  <a:pt x="25747" y="127062"/>
                  <a:pt x="31217" y="134578"/>
                  <a:pt x="33896" y="142875"/>
                </a:cubicBezTo>
                <a:lnTo>
                  <a:pt x="108942" y="142875"/>
                </a:lnTo>
                <a:close/>
                <a:moveTo>
                  <a:pt x="107156" y="160734"/>
                </a:moveTo>
                <a:lnTo>
                  <a:pt x="35719" y="160734"/>
                </a:lnTo>
                <a:lnTo>
                  <a:pt x="35719" y="166688"/>
                </a:lnTo>
                <a:cubicBezTo>
                  <a:pt x="35719" y="183133"/>
                  <a:pt x="49039" y="196453"/>
                  <a:pt x="65484" y="196453"/>
                </a:cubicBezTo>
                <a:lnTo>
                  <a:pt x="77391" y="196453"/>
                </a:lnTo>
                <a:cubicBezTo>
                  <a:pt x="93836" y="196453"/>
                  <a:pt x="107156" y="183133"/>
                  <a:pt x="107156" y="166688"/>
                </a:cubicBezTo>
                <a:lnTo>
                  <a:pt x="107156" y="160734"/>
                </a:lnTo>
                <a:close/>
                <a:moveTo>
                  <a:pt x="68461" y="41672"/>
                </a:moveTo>
                <a:cubicBezTo>
                  <a:pt x="53653" y="41672"/>
                  <a:pt x="41672" y="53653"/>
                  <a:pt x="41672" y="68461"/>
                </a:cubicBezTo>
                <a:cubicBezTo>
                  <a:pt x="41672" y="73409"/>
                  <a:pt x="37691" y="77391"/>
                  <a:pt x="32742" y="77391"/>
                </a:cubicBezTo>
                <a:cubicBezTo>
                  <a:pt x="27794" y="77391"/>
                  <a:pt x="23812" y="73409"/>
                  <a:pt x="23812" y="68461"/>
                </a:cubicBezTo>
                <a:cubicBezTo>
                  <a:pt x="23812" y="43793"/>
                  <a:pt x="43793" y="23812"/>
                  <a:pt x="68461" y="23812"/>
                </a:cubicBezTo>
                <a:cubicBezTo>
                  <a:pt x="73409" y="23812"/>
                  <a:pt x="77391" y="27794"/>
                  <a:pt x="77391" y="32742"/>
                </a:cubicBezTo>
                <a:cubicBezTo>
                  <a:pt x="77391" y="37691"/>
                  <a:pt x="73409" y="41672"/>
                  <a:pt x="68461" y="41672"/>
                </a:cubicBezTo>
                <a:close/>
              </a:path>
            </a:pathLst>
          </a:custGeom>
          <a:solidFill>
            <a:srgbClr val="10B981"/>
          </a:solidFill>
          <a:ln/>
        </p:spPr>
      </p:sp>
      <p:sp>
        <p:nvSpPr>
          <p:cNvPr id="27" name="Text 25"/>
          <p:cNvSpPr/>
          <p:nvPr/>
        </p:nvSpPr>
        <p:spPr>
          <a:xfrm>
            <a:off x="6594475" y="1244602"/>
            <a:ext cx="5238750" cy="254000"/>
          </a:xfrm>
          <a:prstGeom prst="rect">
            <a:avLst/>
          </a:prstGeom>
          <a:noFill/>
          <a:ln/>
        </p:spPr>
        <p:txBody>
          <a:bodyPr wrap="square" lIns="0" tIns="0" rIns="0" bIns="0" rtlCol="0" anchor="ctr"/>
          <a:lstStyle/>
          <a:p>
            <a:pPr>
              <a:lnSpc>
                <a:spcPct val="110000"/>
              </a:lnSpc>
            </a:pPr>
            <a:r>
              <a:rPr lang="en-US" sz="1500" b="1" dirty="0">
                <a:solidFill>
                  <a:srgbClr val="10B981"/>
                </a:solidFill>
                <a:latin typeface="Liter" pitchFamily="34" charset="0"/>
                <a:ea typeface="Liter" pitchFamily="34" charset="-122"/>
                <a:cs typeface="Liter" pitchFamily="34" charset="-120"/>
              </a:rPr>
              <a:t>Key Takeaways</a:t>
            </a:r>
            <a:endParaRPr lang="en-US" sz="1600" dirty="0"/>
          </a:p>
        </p:txBody>
      </p:sp>
      <p:sp>
        <p:nvSpPr>
          <p:cNvPr id="28" name="Shape 26"/>
          <p:cNvSpPr/>
          <p:nvPr/>
        </p:nvSpPr>
        <p:spPr>
          <a:xfrm>
            <a:off x="6238875" y="1790600"/>
            <a:ext cx="5635625" cy="793750"/>
          </a:xfrm>
          <a:custGeom>
            <a:avLst/>
            <a:gdLst/>
            <a:ahLst/>
            <a:cxnLst/>
            <a:rect l="l" t="t" r="r" b="b"/>
            <a:pathLst>
              <a:path w="5635625" h="793750">
                <a:moveTo>
                  <a:pt x="31750" y="0"/>
                </a:moveTo>
                <a:lnTo>
                  <a:pt x="5572125" y="0"/>
                </a:lnTo>
                <a:cubicBezTo>
                  <a:pt x="5607172" y="0"/>
                  <a:pt x="5635625" y="28453"/>
                  <a:pt x="5635625" y="63500"/>
                </a:cubicBezTo>
                <a:lnTo>
                  <a:pt x="5635625" y="730250"/>
                </a:lnTo>
                <a:cubicBezTo>
                  <a:pt x="5635625" y="765297"/>
                  <a:pt x="5607172" y="793750"/>
                  <a:pt x="5572125" y="793750"/>
                </a:cubicBezTo>
                <a:lnTo>
                  <a:pt x="31750" y="793750"/>
                </a:lnTo>
                <a:cubicBezTo>
                  <a:pt x="14227" y="793750"/>
                  <a:pt x="0" y="779523"/>
                  <a:pt x="0" y="762000"/>
                </a:cubicBezTo>
                <a:lnTo>
                  <a:pt x="0" y="31750"/>
                </a:lnTo>
                <a:cubicBezTo>
                  <a:pt x="0" y="14227"/>
                  <a:pt x="14227" y="0"/>
                  <a:pt x="31750" y="0"/>
                </a:cubicBezTo>
                <a:close/>
              </a:path>
            </a:pathLst>
          </a:custGeom>
          <a:solidFill>
            <a:srgbClr val="374151"/>
          </a:solidFill>
          <a:ln/>
        </p:spPr>
      </p:sp>
      <p:sp>
        <p:nvSpPr>
          <p:cNvPr id="29" name="Shape 27"/>
          <p:cNvSpPr/>
          <p:nvPr/>
        </p:nvSpPr>
        <p:spPr>
          <a:xfrm>
            <a:off x="6238875" y="1790600"/>
            <a:ext cx="31750" cy="793750"/>
          </a:xfrm>
          <a:custGeom>
            <a:avLst/>
            <a:gdLst/>
            <a:ahLst/>
            <a:cxnLst/>
            <a:rect l="l" t="t" r="r" b="b"/>
            <a:pathLst>
              <a:path w="31750" h="793750">
                <a:moveTo>
                  <a:pt x="31750" y="0"/>
                </a:moveTo>
                <a:lnTo>
                  <a:pt x="31750" y="0"/>
                </a:lnTo>
                <a:lnTo>
                  <a:pt x="31750" y="793750"/>
                </a:lnTo>
                <a:lnTo>
                  <a:pt x="31750" y="793750"/>
                </a:lnTo>
                <a:cubicBezTo>
                  <a:pt x="14227" y="793750"/>
                  <a:pt x="0" y="779523"/>
                  <a:pt x="0" y="762000"/>
                </a:cubicBezTo>
                <a:lnTo>
                  <a:pt x="0" y="31750"/>
                </a:lnTo>
                <a:cubicBezTo>
                  <a:pt x="0" y="14227"/>
                  <a:pt x="14227" y="0"/>
                  <a:pt x="31750" y="0"/>
                </a:cubicBezTo>
                <a:close/>
              </a:path>
            </a:pathLst>
          </a:custGeom>
          <a:solidFill>
            <a:srgbClr val="10B981"/>
          </a:solidFill>
          <a:ln/>
        </p:spPr>
      </p:sp>
      <p:sp>
        <p:nvSpPr>
          <p:cNvPr id="30" name="Shape 28"/>
          <p:cNvSpPr/>
          <p:nvPr/>
        </p:nvSpPr>
        <p:spPr>
          <a:xfrm>
            <a:off x="6413500" y="19493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alpha val="20000"/>
            </a:srgbClr>
          </a:solidFill>
          <a:ln/>
        </p:spPr>
      </p:sp>
      <p:sp>
        <p:nvSpPr>
          <p:cNvPr id="31" name="Shape 29"/>
          <p:cNvSpPr/>
          <p:nvPr/>
        </p:nvSpPr>
        <p:spPr>
          <a:xfrm>
            <a:off x="6534547" y="2060475"/>
            <a:ext cx="138906" cy="158750"/>
          </a:xfrm>
          <a:custGeom>
            <a:avLst/>
            <a:gdLst/>
            <a:ahLst/>
            <a:cxnLst/>
            <a:rect l="l" t="t" r="r" b="b"/>
            <a:pathLst>
              <a:path w="138906" h="158750">
                <a:moveTo>
                  <a:pt x="134813" y="21735"/>
                </a:moveTo>
                <a:cubicBezTo>
                  <a:pt x="139247" y="24960"/>
                  <a:pt x="140240" y="31161"/>
                  <a:pt x="137015" y="35595"/>
                </a:cubicBezTo>
                <a:lnTo>
                  <a:pt x="57640" y="144735"/>
                </a:lnTo>
                <a:cubicBezTo>
                  <a:pt x="55935" y="147092"/>
                  <a:pt x="53299" y="148549"/>
                  <a:pt x="50385" y="148797"/>
                </a:cubicBezTo>
                <a:cubicBezTo>
                  <a:pt x="47470" y="149045"/>
                  <a:pt x="44648" y="147960"/>
                  <a:pt x="42602" y="145914"/>
                </a:cubicBezTo>
                <a:lnTo>
                  <a:pt x="2915" y="106226"/>
                </a:lnTo>
                <a:cubicBezTo>
                  <a:pt x="-961" y="102350"/>
                  <a:pt x="-961" y="96056"/>
                  <a:pt x="2915" y="92180"/>
                </a:cubicBezTo>
                <a:cubicBezTo>
                  <a:pt x="6790" y="88305"/>
                  <a:pt x="13084" y="88305"/>
                  <a:pt x="16960" y="92180"/>
                </a:cubicBezTo>
                <a:lnTo>
                  <a:pt x="48431" y="123651"/>
                </a:lnTo>
                <a:lnTo>
                  <a:pt x="120985" y="23906"/>
                </a:lnTo>
                <a:cubicBezTo>
                  <a:pt x="124209" y="19472"/>
                  <a:pt x="130411" y="18479"/>
                  <a:pt x="134844" y="21704"/>
                </a:cubicBezTo>
                <a:close/>
              </a:path>
            </a:pathLst>
          </a:custGeom>
          <a:solidFill>
            <a:srgbClr val="10B981"/>
          </a:solidFill>
          <a:ln/>
        </p:spPr>
      </p:sp>
      <p:sp>
        <p:nvSpPr>
          <p:cNvPr id="32" name="Text 30"/>
          <p:cNvSpPr/>
          <p:nvPr/>
        </p:nvSpPr>
        <p:spPr>
          <a:xfrm>
            <a:off x="6921500" y="1949350"/>
            <a:ext cx="4183063" cy="222250"/>
          </a:xfrm>
          <a:prstGeom prst="rect">
            <a:avLst/>
          </a:prstGeom>
          <a:noFill/>
          <a:ln/>
        </p:spPr>
        <p:txBody>
          <a:bodyPr wrap="square" lIns="0" tIns="0" rIns="0" bIns="0" rtlCol="0" anchor="ctr"/>
          <a:lstStyle/>
          <a:p>
            <a:pPr>
              <a:lnSpc>
                <a:spcPct val="130000"/>
              </a:lnSpc>
            </a:pPr>
            <a:r>
              <a:rPr lang="en-US" sz="1125" b="1" dirty="0">
                <a:solidFill>
                  <a:srgbClr val="F9FAFB"/>
                </a:solidFill>
                <a:latin typeface="Quattrocento Sans" pitchFamily="34" charset="0"/>
                <a:ea typeface="Quattrocento Sans" pitchFamily="34" charset="-122"/>
                <a:cs typeface="Quattrocento Sans" pitchFamily="34" charset="-120"/>
              </a:rPr>
              <a:t>Use When: Same Subjects Twice</a:t>
            </a:r>
            <a:endParaRPr lang="en-US" sz="1600" dirty="0"/>
          </a:p>
        </p:txBody>
      </p:sp>
      <p:sp>
        <p:nvSpPr>
          <p:cNvPr id="33" name="Text 31"/>
          <p:cNvSpPr/>
          <p:nvPr/>
        </p:nvSpPr>
        <p:spPr>
          <a:xfrm>
            <a:off x="6921500" y="2235100"/>
            <a:ext cx="4175125" cy="190500"/>
          </a:xfrm>
          <a:prstGeom prst="rect">
            <a:avLst/>
          </a:prstGeom>
          <a:noFill/>
          <a:ln/>
        </p:spPr>
        <p:txBody>
          <a:bodyPr wrap="square" lIns="0" tIns="0" rIns="0" bIns="0" rtlCol="0" anchor="ctr"/>
          <a:lstStyle/>
          <a:p>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Paired t-test is ideal for </a:t>
            </a:r>
            <a:pPr>
              <a:lnSpc>
                <a:spcPct val="130000"/>
              </a:lnSpc>
            </a:pPr>
            <a:r>
              <a:rPr lang="en-US" sz="1000" b="1" dirty="0">
                <a:solidFill>
                  <a:srgbClr val="F9FAFB">
                    <a:alpha val="70000"/>
                  </a:srgbClr>
                </a:solidFill>
                <a:latin typeface="Quattrocento Sans" pitchFamily="34" charset="0"/>
                <a:ea typeface="Quattrocento Sans" pitchFamily="34" charset="-122"/>
                <a:cs typeface="Quattrocento Sans" pitchFamily="34" charset="-120"/>
              </a:rPr>
              <a:t>before/after studies</a:t>
            </a:r>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 and A/B testing on same users.</a:t>
            </a:r>
            <a:endParaRPr lang="en-US" sz="1600" dirty="0"/>
          </a:p>
        </p:txBody>
      </p:sp>
      <p:sp>
        <p:nvSpPr>
          <p:cNvPr id="34" name="Shape 32"/>
          <p:cNvSpPr/>
          <p:nvPr/>
        </p:nvSpPr>
        <p:spPr>
          <a:xfrm>
            <a:off x="6238875" y="2711350"/>
            <a:ext cx="5635625" cy="793750"/>
          </a:xfrm>
          <a:custGeom>
            <a:avLst/>
            <a:gdLst/>
            <a:ahLst/>
            <a:cxnLst/>
            <a:rect l="l" t="t" r="r" b="b"/>
            <a:pathLst>
              <a:path w="5635625" h="793750">
                <a:moveTo>
                  <a:pt x="31750" y="0"/>
                </a:moveTo>
                <a:lnTo>
                  <a:pt x="5572125" y="0"/>
                </a:lnTo>
                <a:cubicBezTo>
                  <a:pt x="5607172" y="0"/>
                  <a:pt x="5635625" y="28453"/>
                  <a:pt x="5635625" y="63500"/>
                </a:cubicBezTo>
                <a:lnTo>
                  <a:pt x="5635625" y="730250"/>
                </a:lnTo>
                <a:cubicBezTo>
                  <a:pt x="5635625" y="765297"/>
                  <a:pt x="5607172" y="793750"/>
                  <a:pt x="5572125" y="793750"/>
                </a:cubicBezTo>
                <a:lnTo>
                  <a:pt x="31750" y="793750"/>
                </a:lnTo>
                <a:cubicBezTo>
                  <a:pt x="14227" y="793750"/>
                  <a:pt x="0" y="779523"/>
                  <a:pt x="0" y="762000"/>
                </a:cubicBezTo>
                <a:lnTo>
                  <a:pt x="0" y="31750"/>
                </a:lnTo>
                <a:cubicBezTo>
                  <a:pt x="0" y="14227"/>
                  <a:pt x="14227" y="0"/>
                  <a:pt x="31750" y="0"/>
                </a:cubicBezTo>
                <a:close/>
              </a:path>
            </a:pathLst>
          </a:custGeom>
          <a:solidFill>
            <a:srgbClr val="374151"/>
          </a:solidFill>
          <a:ln/>
        </p:spPr>
      </p:sp>
      <p:sp>
        <p:nvSpPr>
          <p:cNvPr id="35" name="Shape 33"/>
          <p:cNvSpPr/>
          <p:nvPr/>
        </p:nvSpPr>
        <p:spPr>
          <a:xfrm>
            <a:off x="6238875" y="2711350"/>
            <a:ext cx="31750" cy="793750"/>
          </a:xfrm>
          <a:custGeom>
            <a:avLst/>
            <a:gdLst/>
            <a:ahLst/>
            <a:cxnLst/>
            <a:rect l="l" t="t" r="r" b="b"/>
            <a:pathLst>
              <a:path w="31750" h="793750">
                <a:moveTo>
                  <a:pt x="31750" y="0"/>
                </a:moveTo>
                <a:lnTo>
                  <a:pt x="31750" y="0"/>
                </a:lnTo>
                <a:lnTo>
                  <a:pt x="31750" y="793750"/>
                </a:lnTo>
                <a:lnTo>
                  <a:pt x="31750" y="793750"/>
                </a:lnTo>
                <a:cubicBezTo>
                  <a:pt x="14227" y="793750"/>
                  <a:pt x="0" y="779523"/>
                  <a:pt x="0" y="762000"/>
                </a:cubicBezTo>
                <a:lnTo>
                  <a:pt x="0" y="31750"/>
                </a:lnTo>
                <a:cubicBezTo>
                  <a:pt x="0" y="14227"/>
                  <a:pt x="14227" y="0"/>
                  <a:pt x="31750" y="0"/>
                </a:cubicBezTo>
                <a:close/>
              </a:path>
            </a:pathLst>
          </a:custGeom>
          <a:solidFill>
            <a:srgbClr val="10B981"/>
          </a:solidFill>
          <a:ln/>
        </p:spPr>
      </p:sp>
      <p:sp>
        <p:nvSpPr>
          <p:cNvPr id="36" name="Shape 34"/>
          <p:cNvSpPr/>
          <p:nvPr/>
        </p:nvSpPr>
        <p:spPr>
          <a:xfrm>
            <a:off x="6413500" y="28701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alpha val="20000"/>
            </a:srgbClr>
          </a:solidFill>
          <a:ln/>
        </p:spPr>
      </p:sp>
      <p:sp>
        <p:nvSpPr>
          <p:cNvPr id="37" name="Shape 35"/>
          <p:cNvSpPr/>
          <p:nvPr/>
        </p:nvSpPr>
        <p:spPr>
          <a:xfrm>
            <a:off x="6524625" y="2981225"/>
            <a:ext cx="158750" cy="158750"/>
          </a:xfrm>
          <a:custGeom>
            <a:avLst/>
            <a:gdLst/>
            <a:ahLst/>
            <a:cxnLst/>
            <a:rect l="l" t="t" r="r" b="b"/>
            <a:pathLst>
              <a:path w="158750" h="158750">
                <a:moveTo>
                  <a:pt x="39688" y="99219"/>
                </a:moveTo>
                <a:lnTo>
                  <a:pt x="7596" y="99219"/>
                </a:lnTo>
                <a:cubicBezTo>
                  <a:pt x="-124" y="99219"/>
                  <a:pt x="-4868" y="90816"/>
                  <a:pt x="-899" y="84181"/>
                </a:cubicBezTo>
                <a:lnTo>
                  <a:pt x="15503" y="56834"/>
                </a:lnTo>
                <a:cubicBezTo>
                  <a:pt x="18200" y="52338"/>
                  <a:pt x="23037" y="49609"/>
                  <a:pt x="28277" y="49609"/>
                </a:cubicBezTo>
                <a:lnTo>
                  <a:pt x="57733" y="49609"/>
                </a:lnTo>
                <a:cubicBezTo>
                  <a:pt x="81328" y="9643"/>
                  <a:pt x="116520" y="7627"/>
                  <a:pt x="140053" y="11069"/>
                </a:cubicBezTo>
                <a:cubicBezTo>
                  <a:pt x="144022" y="11658"/>
                  <a:pt x="147123" y="14759"/>
                  <a:pt x="147681" y="18697"/>
                </a:cubicBezTo>
                <a:cubicBezTo>
                  <a:pt x="151123" y="42230"/>
                  <a:pt x="149107" y="77422"/>
                  <a:pt x="109141" y="101017"/>
                </a:cubicBezTo>
                <a:lnTo>
                  <a:pt x="109141" y="130473"/>
                </a:lnTo>
                <a:cubicBezTo>
                  <a:pt x="109141" y="135713"/>
                  <a:pt x="106412" y="140550"/>
                  <a:pt x="101916" y="143247"/>
                </a:cubicBezTo>
                <a:lnTo>
                  <a:pt x="74569" y="159649"/>
                </a:lnTo>
                <a:cubicBezTo>
                  <a:pt x="67965" y="163618"/>
                  <a:pt x="59531" y="158843"/>
                  <a:pt x="59531" y="151154"/>
                </a:cubicBezTo>
                <a:lnTo>
                  <a:pt x="59531" y="119062"/>
                </a:lnTo>
                <a:cubicBezTo>
                  <a:pt x="59531" y="108117"/>
                  <a:pt x="50633" y="99219"/>
                  <a:pt x="39688" y="99219"/>
                </a:cubicBezTo>
                <a:lnTo>
                  <a:pt x="39656" y="99219"/>
                </a:lnTo>
                <a:close/>
                <a:moveTo>
                  <a:pt x="124023" y="49609"/>
                </a:moveTo>
                <a:cubicBezTo>
                  <a:pt x="124023" y="41395"/>
                  <a:pt x="117355" y="34727"/>
                  <a:pt x="109141" y="34727"/>
                </a:cubicBezTo>
                <a:cubicBezTo>
                  <a:pt x="100927" y="34727"/>
                  <a:pt x="94258" y="41395"/>
                  <a:pt x="94258" y="49609"/>
                </a:cubicBezTo>
                <a:cubicBezTo>
                  <a:pt x="94258" y="57823"/>
                  <a:pt x="100927" y="64492"/>
                  <a:pt x="109141" y="64492"/>
                </a:cubicBezTo>
                <a:cubicBezTo>
                  <a:pt x="117355" y="64492"/>
                  <a:pt x="124023" y="57823"/>
                  <a:pt x="124023" y="49609"/>
                </a:cubicBezTo>
                <a:close/>
              </a:path>
            </a:pathLst>
          </a:custGeom>
          <a:solidFill>
            <a:srgbClr val="10B981"/>
          </a:solidFill>
          <a:ln/>
        </p:spPr>
      </p:sp>
      <p:sp>
        <p:nvSpPr>
          <p:cNvPr id="38" name="Text 36"/>
          <p:cNvSpPr/>
          <p:nvPr/>
        </p:nvSpPr>
        <p:spPr>
          <a:xfrm>
            <a:off x="6921500" y="2870100"/>
            <a:ext cx="4214813" cy="222250"/>
          </a:xfrm>
          <a:prstGeom prst="rect">
            <a:avLst/>
          </a:prstGeom>
          <a:noFill/>
          <a:ln/>
        </p:spPr>
        <p:txBody>
          <a:bodyPr wrap="square" lIns="0" tIns="0" rIns="0" bIns="0" rtlCol="0" anchor="ctr"/>
          <a:lstStyle/>
          <a:p>
            <a:pPr>
              <a:lnSpc>
                <a:spcPct val="130000"/>
              </a:lnSpc>
            </a:pPr>
            <a:r>
              <a:rPr lang="en-US" sz="1125" b="1" dirty="0">
                <a:solidFill>
                  <a:srgbClr val="F9FAFB"/>
                </a:solidFill>
                <a:latin typeface="Quattrocento Sans" pitchFamily="34" charset="0"/>
                <a:ea typeface="Quattrocento Sans" pitchFamily="34" charset="-122"/>
                <a:cs typeface="Quattrocento Sans" pitchFamily="34" charset="-120"/>
              </a:rPr>
              <a:t>Power: Smaller Samples, Faster Decisions</a:t>
            </a:r>
            <a:endParaRPr lang="en-US" sz="1600" dirty="0"/>
          </a:p>
        </p:txBody>
      </p:sp>
      <p:sp>
        <p:nvSpPr>
          <p:cNvPr id="39" name="Text 37"/>
          <p:cNvSpPr/>
          <p:nvPr/>
        </p:nvSpPr>
        <p:spPr>
          <a:xfrm>
            <a:off x="6921500" y="3155850"/>
            <a:ext cx="4206875" cy="190500"/>
          </a:xfrm>
          <a:prstGeom prst="rect">
            <a:avLst/>
          </a:prstGeom>
          <a:noFill/>
          <a:ln/>
        </p:spPr>
        <p:txBody>
          <a:bodyPr wrap="square" lIns="0" tIns="0" rIns="0" bIns="0" rtlCol="0" anchor="ctr"/>
          <a:lstStyle/>
          <a:p>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Higher statistical power means </a:t>
            </a:r>
            <a:pPr>
              <a:lnSpc>
                <a:spcPct val="130000"/>
              </a:lnSpc>
            </a:pPr>
            <a:r>
              <a:rPr lang="en-US" sz="1000" b="1" dirty="0">
                <a:solidFill>
                  <a:srgbClr val="F9FAFB">
                    <a:alpha val="70000"/>
                  </a:srgbClr>
                </a:solidFill>
                <a:latin typeface="Quattrocento Sans" pitchFamily="34" charset="0"/>
                <a:ea typeface="Quattrocento Sans" pitchFamily="34" charset="-122"/>
                <a:cs typeface="Quattrocento Sans" pitchFamily="34" charset="-120"/>
              </a:rPr>
              <a:t>5× smaller samples</a:t>
            </a:r>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 and weeks faster results.</a:t>
            </a:r>
            <a:endParaRPr lang="en-US" sz="1600" dirty="0"/>
          </a:p>
        </p:txBody>
      </p:sp>
      <p:sp>
        <p:nvSpPr>
          <p:cNvPr id="40" name="Shape 38"/>
          <p:cNvSpPr/>
          <p:nvPr/>
        </p:nvSpPr>
        <p:spPr>
          <a:xfrm>
            <a:off x="6238875" y="3632100"/>
            <a:ext cx="5635625" cy="793750"/>
          </a:xfrm>
          <a:custGeom>
            <a:avLst/>
            <a:gdLst/>
            <a:ahLst/>
            <a:cxnLst/>
            <a:rect l="l" t="t" r="r" b="b"/>
            <a:pathLst>
              <a:path w="5635625" h="793750">
                <a:moveTo>
                  <a:pt x="31750" y="0"/>
                </a:moveTo>
                <a:lnTo>
                  <a:pt x="5572125" y="0"/>
                </a:lnTo>
                <a:cubicBezTo>
                  <a:pt x="5607172" y="0"/>
                  <a:pt x="5635625" y="28453"/>
                  <a:pt x="5635625" y="63500"/>
                </a:cubicBezTo>
                <a:lnTo>
                  <a:pt x="5635625" y="730250"/>
                </a:lnTo>
                <a:cubicBezTo>
                  <a:pt x="5635625" y="765297"/>
                  <a:pt x="5607172" y="793750"/>
                  <a:pt x="5572125" y="793750"/>
                </a:cubicBezTo>
                <a:lnTo>
                  <a:pt x="31750" y="793750"/>
                </a:lnTo>
                <a:cubicBezTo>
                  <a:pt x="14227" y="793750"/>
                  <a:pt x="0" y="779523"/>
                  <a:pt x="0" y="762000"/>
                </a:cubicBezTo>
                <a:lnTo>
                  <a:pt x="0" y="31750"/>
                </a:lnTo>
                <a:cubicBezTo>
                  <a:pt x="0" y="14227"/>
                  <a:pt x="14227" y="0"/>
                  <a:pt x="31750" y="0"/>
                </a:cubicBezTo>
                <a:close/>
              </a:path>
            </a:pathLst>
          </a:custGeom>
          <a:solidFill>
            <a:srgbClr val="374151"/>
          </a:solidFill>
          <a:ln/>
        </p:spPr>
      </p:sp>
      <p:sp>
        <p:nvSpPr>
          <p:cNvPr id="41" name="Shape 39"/>
          <p:cNvSpPr/>
          <p:nvPr/>
        </p:nvSpPr>
        <p:spPr>
          <a:xfrm>
            <a:off x="6238875" y="3632100"/>
            <a:ext cx="31750" cy="793750"/>
          </a:xfrm>
          <a:custGeom>
            <a:avLst/>
            <a:gdLst/>
            <a:ahLst/>
            <a:cxnLst/>
            <a:rect l="l" t="t" r="r" b="b"/>
            <a:pathLst>
              <a:path w="31750" h="793750">
                <a:moveTo>
                  <a:pt x="31750" y="0"/>
                </a:moveTo>
                <a:lnTo>
                  <a:pt x="31750" y="0"/>
                </a:lnTo>
                <a:lnTo>
                  <a:pt x="31750" y="793750"/>
                </a:lnTo>
                <a:lnTo>
                  <a:pt x="31750" y="793750"/>
                </a:lnTo>
                <a:cubicBezTo>
                  <a:pt x="14227" y="793750"/>
                  <a:pt x="0" y="779523"/>
                  <a:pt x="0" y="762000"/>
                </a:cubicBezTo>
                <a:lnTo>
                  <a:pt x="0" y="31750"/>
                </a:lnTo>
                <a:cubicBezTo>
                  <a:pt x="0" y="14227"/>
                  <a:pt x="14227" y="0"/>
                  <a:pt x="31750" y="0"/>
                </a:cubicBezTo>
                <a:close/>
              </a:path>
            </a:pathLst>
          </a:custGeom>
          <a:solidFill>
            <a:srgbClr val="10B981"/>
          </a:solidFill>
          <a:ln/>
        </p:spPr>
      </p:sp>
      <p:sp>
        <p:nvSpPr>
          <p:cNvPr id="42" name="Shape 40"/>
          <p:cNvSpPr/>
          <p:nvPr/>
        </p:nvSpPr>
        <p:spPr>
          <a:xfrm>
            <a:off x="6413500" y="379085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10B981">
              <a:alpha val="20000"/>
            </a:srgbClr>
          </a:solidFill>
          <a:ln/>
        </p:spPr>
      </p:sp>
      <p:sp>
        <p:nvSpPr>
          <p:cNvPr id="43" name="Shape 41"/>
          <p:cNvSpPr/>
          <p:nvPr/>
        </p:nvSpPr>
        <p:spPr>
          <a:xfrm>
            <a:off x="6524625" y="3901975"/>
            <a:ext cx="158750" cy="158750"/>
          </a:xfrm>
          <a:custGeom>
            <a:avLst/>
            <a:gdLst/>
            <a:ahLst/>
            <a:cxnLst/>
            <a:rect l="l" t="t" r="r" b="b"/>
            <a:pathLst>
              <a:path w="158750" h="158750">
                <a:moveTo>
                  <a:pt x="44741" y="0"/>
                </a:moveTo>
                <a:lnTo>
                  <a:pt x="114195" y="0"/>
                </a:lnTo>
                <a:cubicBezTo>
                  <a:pt x="122411" y="0"/>
                  <a:pt x="129108" y="6759"/>
                  <a:pt x="128798" y="14945"/>
                </a:cubicBezTo>
                <a:cubicBezTo>
                  <a:pt x="128736" y="16588"/>
                  <a:pt x="128674" y="18231"/>
                  <a:pt x="128581" y="19844"/>
                </a:cubicBezTo>
                <a:lnTo>
                  <a:pt x="143960" y="19844"/>
                </a:lnTo>
                <a:cubicBezTo>
                  <a:pt x="152053" y="19844"/>
                  <a:pt x="159184" y="26541"/>
                  <a:pt x="158564" y="35285"/>
                </a:cubicBezTo>
                <a:cubicBezTo>
                  <a:pt x="156239" y="67438"/>
                  <a:pt x="139805" y="85111"/>
                  <a:pt x="121977" y="94351"/>
                </a:cubicBezTo>
                <a:cubicBezTo>
                  <a:pt x="117078" y="96893"/>
                  <a:pt x="112086" y="98785"/>
                  <a:pt x="107342" y="100180"/>
                </a:cubicBezTo>
                <a:cubicBezTo>
                  <a:pt x="101079" y="109048"/>
                  <a:pt x="94568" y="113729"/>
                  <a:pt x="89390" y="116241"/>
                </a:cubicBezTo>
                <a:lnTo>
                  <a:pt x="89390" y="138906"/>
                </a:lnTo>
                <a:lnTo>
                  <a:pt x="109234" y="138906"/>
                </a:lnTo>
                <a:cubicBezTo>
                  <a:pt x="114722" y="138906"/>
                  <a:pt x="119156" y="143340"/>
                  <a:pt x="119156" y="148828"/>
                </a:cubicBezTo>
                <a:cubicBezTo>
                  <a:pt x="119156" y="154316"/>
                  <a:pt x="114722" y="158750"/>
                  <a:pt x="109234" y="158750"/>
                </a:cubicBezTo>
                <a:lnTo>
                  <a:pt x="49702" y="158750"/>
                </a:lnTo>
                <a:cubicBezTo>
                  <a:pt x="44214" y="158750"/>
                  <a:pt x="39781" y="154316"/>
                  <a:pt x="39781" y="148828"/>
                </a:cubicBezTo>
                <a:cubicBezTo>
                  <a:pt x="39781" y="143340"/>
                  <a:pt x="44214" y="138906"/>
                  <a:pt x="49702" y="138906"/>
                </a:cubicBezTo>
                <a:lnTo>
                  <a:pt x="69546" y="138906"/>
                </a:lnTo>
                <a:lnTo>
                  <a:pt x="69546" y="116241"/>
                </a:lnTo>
                <a:cubicBezTo>
                  <a:pt x="64585" y="113854"/>
                  <a:pt x="58415" y="109420"/>
                  <a:pt x="52400" y="101265"/>
                </a:cubicBezTo>
                <a:cubicBezTo>
                  <a:pt x="46695" y="99777"/>
                  <a:pt x="40494" y="97513"/>
                  <a:pt x="34448" y="94103"/>
                </a:cubicBezTo>
                <a:cubicBezTo>
                  <a:pt x="17673" y="84708"/>
                  <a:pt x="2542" y="67004"/>
                  <a:pt x="372" y="35223"/>
                </a:cubicBezTo>
                <a:cubicBezTo>
                  <a:pt x="-217" y="26510"/>
                  <a:pt x="6883" y="19813"/>
                  <a:pt x="14976" y="19813"/>
                </a:cubicBezTo>
                <a:lnTo>
                  <a:pt x="30355" y="19813"/>
                </a:lnTo>
                <a:cubicBezTo>
                  <a:pt x="30262" y="18200"/>
                  <a:pt x="30200" y="16588"/>
                  <a:pt x="30138" y="14914"/>
                </a:cubicBezTo>
                <a:cubicBezTo>
                  <a:pt x="29828" y="6697"/>
                  <a:pt x="36525" y="-31"/>
                  <a:pt x="44741" y="-31"/>
                </a:cubicBezTo>
                <a:close/>
                <a:moveTo>
                  <a:pt x="31471" y="34727"/>
                </a:moveTo>
                <a:lnTo>
                  <a:pt x="15224" y="34727"/>
                </a:lnTo>
                <a:cubicBezTo>
                  <a:pt x="17146" y="60989"/>
                  <a:pt x="29208" y="74135"/>
                  <a:pt x="41641" y="81111"/>
                </a:cubicBezTo>
                <a:cubicBezTo>
                  <a:pt x="37176" y="69546"/>
                  <a:pt x="33486" y="54446"/>
                  <a:pt x="31471" y="34727"/>
                </a:cubicBezTo>
                <a:close/>
                <a:moveTo>
                  <a:pt x="117822" y="79623"/>
                </a:moveTo>
                <a:cubicBezTo>
                  <a:pt x="130380" y="72244"/>
                  <a:pt x="141728" y="59128"/>
                  <a:pt x="143650" y="34727"/>
                </a:cubicBezTo>
                <a:lnTo>
                  <a:pt x="127434" y="34727"/>
                </a:lnTo>
                <a:cubicBezTo>
                  <a:pt x="125512" y="53609"/>
                  <a:pt x="122039" y="68275"/>
                  <a:pt x="117822" y="79623"/>
                </a:cubicBezTo>
                <a:close/>
              </a:path>
            </a:pathLst>
          </a:custGeom>
          <a:solidFill>
            <a:srgbClr val="10B981"/>
          </a:solidFill>
          <a:ln/>
        </p:spPr>
      </p:sp>
      <p:sp>
        <p:nvSpPr>
          <p:cNvPr id="44" name="Text 42"/>
          <p:cNvSpPr/>
          <p:nvPr/>
        </p:nvSpPr>
        <p:spPr>
          <a:xfrm>
            <a:off x="6921500" y="3790850"/>
            <a:ext cx="4722813" cy="222250"/>
          </a:xfrm>
          <a:prstGeom prst="rect">
            <a:avLst/>
          </a:prstGeom>
          <a:noFill/>
          <a:ln/>
        </p:spPr>
        <p:txBody>
          <a:bodyPr wrap="square" lIns="0" tIns="0" rIns="0" bIns="0" rtlCol="0" anchor="ctr"/>
          <a:lstStyle/>
          <a:p>
            <a:pPr>
              <a:lnSpc>
                <a:spcPct val="130000"/>
              </a:lnSpc>
            </a:pPr>
            <a:r>
              <a:rPr lang="en-US" sz="1125" b="1" dirty="0">
                <a:solidFill>
                  <a:srgbClr val="F9FAFB"/>
                </a:solidFill>
                <a:latin typeface="Quattrocento Sans" pitchFamily="34" charset="0"/>
                <a:ea typeface="Quattrocento Sans" pitchFamily="34" charset="-122"/>
                <a:cs typeface="Quattrocento Sans" pitchFamily="34" charset="-120"/>
              </a:rPr>
              <a:t>Netflix: $330M with 99.99% Confidence</a:t>
            </a:r>
            <a:endParaRPr lang="en-US" sz="1600" dirty="0"/>
          </a:p>
        </p:txBody>
      </p:sp>
      <p:sp>
        <p:nvSpPr>
          <p:cNvPr id="45" name="Text 43"/>
          <p:cNvSpPr/>
          <p:nvPr/>
        </p:nvSpPr>
        <p:spPr>
          <a:xfrm>
            <a:off x="6921500" y="4076600"/>
            <a:ext cx="4714875" cy="190500"/>
          </a:xfrm>
          <a:prstGeom prst="rect">
            <a:avLst/>
          </a:prstGeom>
          <a:noFill/>
          <a:ln/>
        </p:spPr>
        <p:txBody>
          <a:bodyPr wrap="square" lIns="0" tIns="0" rIns="0" bIns="0" rtlCol="0" anchor="ctr"/>
          <a:lstStyle/>
          <a:p>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Paired design enabled confident decision protecting </a:t>
            </a:r>
            <a:pPr>
              <a:lnSpc>
                <a:spcPct val="130000"/>
              </a:lnSpc>
            </a:pPr>
            <a:r>
              <a:rPr lang="en-US" sz="1000" b="1" dirty="0">
                <a:solidFill>
                  <a:srgbClr val="F9FAFB">
                    <a:alpha val="70000"/>
                  </a:srgbClr>
                </a:solidFill>
                <a:latin typeface="Quattrocento Sans" pitchFamily="34" charset="0"/>
                <a:ea typeface="Quattrocento Sans" pitchFamily="34" charset="-122"/>
                <a:cs typeface="Quattrocento Sans" pitchFamily="34" charset="-120"/>
              </a:rPr>
              <a:t>hundreds of millions</a:t>
            </a:r>
            <a:pPr>
              <a:lnSpc>
                <a:spcPct val="130000"/>
              </a:lnSpc>
            </a:pPr>
            <a:r>
              <a:rPr lang="en-US" sz="1000" dirty="0">
                <a:solidFill>
                  <a:srgbClr val="F9FAFB">
                    <a:alpha val="70000"/>
                  </a:srgbClr>
                </a:solidFill>
                <a:latin typeface="Quattrocento Sans" pitchFamily="34" charset="0"/>
                <a:ea typeface="Quattrocento Sans" pitchFamily="34" charset="-122"/>
                <a:cs typeface="Quattrocento Sans" pitchFamily="34" charset="-120"/>
              </a:rPr>
              <a:t> in revenue.</a:t>
            </a:r>
            <a:endParaRPr lang="en-US" sz="1600" dirty="0"/>
          </a:p>
        </p:txBody>
      </p:sp>
      <p:sp>
        <p:nvSpPr>
          <p:cNvPr id="46" name="Shape 44"/>
          <p:cNvSpPr/>
          <p:nvPr/>
        </p:nvSpPr>
        <p:spPr>
          <a:xfrm>
            <a:off x="320675" y="5738914"/>
            <a:ext cx="11547475" cy="696913"/>
          </a:xfrm>
          <a:custGeom>
            <a:avLst/>
            <a:gdLst/>
            <a:ahLst/>
            <a:cxnLst/>
            <a:rect l="l" t="t" r="r" b="b"/>
            <a:pathLst>
              <a:path w="11547475" h="696913">
                <a:moveTo>
                  <a:pt x="63503" y="0"/>
                </a:moveTo>
                <a:lnTo>
                  <a:pt x="11483972" y="0"/>
                </a:lnTo>
                <a:cubicBezTo>
                  <a:pt x="11519044" y="0"/>
                  <a:pt x="11547475" y="28431"/>
                  <a:pt x="11547475" y="63503"/>
                </a:cubicBezTo>
                <a:lnTo>
                  <a:pt x="11547475" y="633410"/>
                </a:lnTo>
                <a:cubicBezTo>
                  <a:pt x="11547475" y="668481"/>
                  <a:pt x="11519044" y="696913"/>
                  <a:pt x="11483972" y="696913"/>
                </a:cubicBezTo>
                <a:lnTo>
                  <a:pt x="63503" y="696913"/>
                </a:lnTo>
                <a:cubicBezTo>
                  <a:pt x="28431" y="696913"/>
                  <a:pt x="0" y="668481"/>
                  <a:pt x="0" y="633410"/>
                </a:cubicBezTo>
                <a:lnTo>
                  <a:pt x="0" y="63503"/>
                </a:lnTo>
                <a:cubicBezTo>
                  <a:pt x="0" y="28455"/>
                  <a:pt x="28455" y="0"/>
                  <a:pt x="63503" y="0"/>
                </a:cubicBezTo>
                <a:close/>
              </a:path>
            </a:pathLst>
          </a:custGeom>
          <a:solidFill>
            <a:srgbClr val="F97316">
              <a:alpha val="10196"/>
            </a:srgbClr>
          </a:solidFill>
          <a:ln w="10160">
            <a:solidFill>
              <a:srgbClr val="F97316">
                <a:alpha val="30196"/>
              </a:srgbClr>
            </a:solidFill>
            <a:prstDash val="solid"/>
          </a:ln>
        </p:spPr>
      </p:sp>
      <p:sp>
        <p:nvSpPr>
          <p:cNvPr id="47" name="Shape 45"/>
          <p:cNvSpPr/>
          <p:nvPr/>
        </p:nvSpPr>
        <p:spPr>
          <a:xfrm>
            <a:off x="567928" y="5944494"/>
            <a:ext cx="250031" cy="285750"/>
          </a:xfrm>
          <a:custGeom>
            <a:avLst/>
            <a:gdLst/>
            <a:ahLst/>
            <a:cxnLst/>
            <a:rect l="l" t="t" r="r" b="b"/>
            <a:pathLst>
              <a:path w="250031" h="285750">
                <a:moveTo>
                  <a:pt x="0" y="120551"/>
                </a:moveTo>
                <a:cubicBezTo>
                  <a:pt x="0" y="83548"/>
                  <a:pt x="29970" y="53578"/>
                  <a:pt x="66973" y="53578"/>
                </a:cubicBezTo>
                <a:lnTo>
                  <a:pt x="71438" y="53578"/>
                </a:lnTo>
                <a:cubicBezTo>
                  <a:pt x="81316" y="53578"/>
                  <a:pt x="89297" y="61559"/>
                  <a:pt x="89297" y="71438"/>
                </a:cubicBezTo>
                <a:cubicBezTo>
                  <a:pt x="89297" y="81316"/>
                  <a:pt x="81316" y="89297"/>
                  <a:pt x="71438" y="89297"/>
                </a:cubicBezTo>
                <a:lnTo>
                  <a:pt x="66973" y="89297"/>
                </a:lnTo>
                <a:cubicBezTo>
                  <a:pt x="49727" y="89297"/>
                  <a:pt x="35719" y="103305"/>
                  <a:pt x="35719" y="120551"/>
                </a:cubicBezTo>
                <a:lnTo>
                  <a:pt x="35719" y="125016"/>
                </a:lnTo>
                <a:lnTo>
                  <a:pt x="71438" y="125016"/>
                </a:lnTo>
                <a:cubicBezTo>
                  <a:pt x="91139" y="125016"/>
                  <a:pt x="107156" y="141033"/>
                  <a:pt x="107156" y="160734"/>
                </a:cubicBezTo>
                <a:lnTo>
                  <a:pt x="107156" y="196453"/>
                </a:lnTo>
                <a:cubicBezTo>
                  <a:pt x="107156" y="216154"/>
                  <a:pt x="91139" y="232172"/>
                  <a:pt x="71438" y="232172"/>
                </a:cubicBezTo>
                <a:lnTo>
                  <a:pt x="35719" y="232172"/>
                </a:lnTo>
                <a:cubicBezTo>
                  <a:pt x="16018" y="232172"/>
                  <a:pt x="0" y="216154"/>
                  <a:pt x="0" y="196453"/>
                </a:cubicBezTo>
                <a:lnTo>
                  <a:pt x="0" y="120551"/>
                </a:lnTo>
                <a:close/>
                <a:moveTo>
                  <a:pt x="142875" y="120551"/>
                </a:moveTo>
                <a:cubicBezTo>
                  <a:pt x="142875" y="83548"/>
                  <a:pt x="172845" y="53578"/>
                  <a:pt x="209848" y="53578"/>
                </a:cubicBezTo>
                <a:lnTo>
                  <a:pt x="214313" y="53578"/>
                </a:lnTo>
                <a:cubicBezTo>
                  <a:pt x="224191" y="53578"/>
                  <a:pt x="232172" y="61559"/>
                  <a:pt x="232172" y="71438"/>
                </a:cubicBezTo>
                <a:cubicBezTo>
                  <a:pt x="232172" y="81316"/>
                  <a:pt x="224191" y="89297"/>
                  <a:pt x="214313" y="89297"/>
                </a:cubicBezTo>
                <a:lnTo>
                  <a:pt x="209848" y="89297"/>
                </a:lnTo>
                <a:cubicBezTo>
                  <a:pt x="192602" y="89297"/>
                  <a:pt x="178594" y="103305"/>
                  <a:pt x="178594" y="120551"/>
                </a:cubicBezTo>
                <a:lnTo>
                  <a:pt x="178594" y="125016"/>
                </a:lnTo>
                <a:lnTo>
                  <a:pt x="214313" y="125016"/>
                </a:lnTo>
                <a:cubicBezTo>
                  <a:pt x="234014" y="125016"/>
                  <a:pt x="250031" y="141033"/>
                  <a:pt x="250031" y="160734"/>
                </a:cubicBezTo>
                <a:lnTo>
                  <a:pt x="250031" y="196453"/>
                </a:lnTo>
                <a:cubicBezTo>
                  <a:pt x="250031" y="216154"/>
                  <a:pt x="234014" y="232172"/>
                  <a:pt x="214313" y="232172"/>
                </a:cubicBezTo>
                <a:lnTo>
                  <a:pt x="178594" y="232172"/>
                </a:lnTo>
                <a:cubicBezTo>
                  <a:pt x="158893" y="232172"/>
                  <a:pt x="142875" y="216154"/>
                  <a:pt x="142875" y="196453"/>
                </a:cubicBezTo>
                <a:lnTo>
                  <a:pt x="142875" y="120551"/>
                </a:lnTo>
                <a:close/>
              </a:path>
            </a:pathLst>
          </a:custGeom>
          <a:solidFill>
            <a:srgbClr val="F97316"/>
          </a:solidFill>
          <a:ln/>
        </p:spPr>
      </p:sp>
      <p:sp>
        <p:nvSpPr>
          <p:cNvPr id="48" name="Text 46"/>
          <p:cNvSpPr/>
          <p:nvPr/>
        </p:nvSpPr>
        <p:spPr>
          <a:xfrm>
            <a:off x="1062038" y="5932587"/>
            <a:ext cx="10160000" cy="309563"/>
          </a:xfrm>
          <a:prstGeom prst="rect">
            <a:avLst/>
          </a:prstGeom>
          <a:noFill/>
          <a:ln/>
        </p:spPr>
        <p:txBody>
          <a:bodyPr wrap="square" lIns="0" tIns="0" rIns="0" bIns="0" rtlCol="0" anchor="ctr"/>
          <a:lstStyle/>
          <a:p>
            <a:pPr>
              <a:lnSpc>
                <a:spcPct val="140000"/>
              </a:lnSpc>
            </a:pPr>
            <a:r>
              <a:rPr lang="en-US" sz="1500" dirty="0">
                <a:solidFill>
                  <a:srgbClr val="F9FAFB"/>
                </a:solidFill>
                <a:latin typeface="Quattrocento Sans" pitchFamily="34" charset="0"/>
                <a:ea typeface="Quattrocento Sans" pitchFamily="34" charset="-122"/>
                <a:cs typeface="Quattrocento Sans" pitchFamily="34" charset="-120"/>
              </a:rPr>
              <a:t>"Paired t-testing eliminated noise and enabled a </a:t>
            </a:r>
            <a:pPr>
              <a:lnSpc>
                <a:spcPct val="140000"/>
              </a:lnSpc>
            </a:pPr>
            <a:r>
              <a:rPr lang="en-US" sz="1500" b="1" dirty="0">
                <a:solidFill>
                  <a:srgbClr val="F97316"/>
                </a:solidFill>
                <a:latin typeface="Quattrocento Sans" pitchFamily="34" charset="0"/>
                <a:ea typeface="Quattrocento Sans" pitchFamily="34" charset="-122"/>
                <a:cs typeface="Quattrocento Sans" pitchFamily="34" charset="-120"/>
              </a:rPr>
              <a:t>confident business decision worth hundreds of millions</a:t>
            </a:r>
            <a:pPr>
              <a:lnSpc>
                <a:spcPct val="140000"/>
              </a:lnSpc>
            </a:pPr>
            <a:r>
              <a:rPr lang="en-US" sz="1500" dirty="0">
                <a:solidFill>
                  <a:srgbClr val="F9FAFB"/>
                </a:solidFill>
                <a:latin typeface="Quattrocento Sans" pitchFamily="34" charset="0"/>
                <a:ea typeface="Quattrocento Sans" pitchFamily="34" charset="-122"/>
                <a:cs typeface="Quattrocento Sans" pitchFamily="34" charset="-120"/>
              </a:rPr>
              <a:t>."</a:t>
            </a:r>
            <a:endParaRPr lang="en-US" sz="1600" dirty="0"/>
          </a:p>
        </p:txBody>
      </p:sp>
      <p:sp>
        <p:nvSpPr>
          <p:cNvPr id="49" name="Shape 47"/>
          <p:cNvSpPr/>
          <p:nvPr/>
        </p:nvSpPr>
        <p:spPr>
          <a:xfrm>
            <a:off x="11374041" y="5944494"/>
            <a:ext cx="250031" cy="285750"/>
          </a:xfrm>
          <a:custGeom>
            <a:avLst/>
            <a:gdLst/>
            <a:ahLst/>
            <a:cxnLst/>
            <a:rect l="l" t="t" r="r" b="b"/>
            <a:pathLst>
              <a:path w="250031" h="285750">
                <a:moveTo>
                  <a:pt x="250031" y="165199"/>
                </a:moveTo>
                <a:cubicBezTo>
                  <a:pt x="250031" y="202202"/>
                  <a:pt x="220061" y="232172"/>
                  <a:pt x="183059" y="232172"/>
                </a:cubicBezTo>
                <a:lnTo>
                  <a:pt x="178594" y="232172"/>
                </a:lnTo>
                <a:cubicBezTo>
                  <a:pt x="168715" y="232172"/>
                  <a:pt x="160734" y="224191"/>
                  <a:pt x="160734" y="214313"/>
                </a:cubicBezTo>
                <a:cubicBezTo>
                  <a:pt x="160734" y="204434"/>
                  <a:pt x="168715" y="196453"/>
                  <a:pt x="178594" y="196453"/>
                </a:cubicBezTo>
                <a:lnTo>
                  <a:pt x="183059" y="196453"/>
                </a:lnTo>
                <a:cubicBezTo>
                  <a:pt x="200304" y="196453"/>
                  <a:pt x="214313" y="182445"/>
                  <a:pt x="214313" y="165199"/>
                </a:cubicBezTo>
                <a:lnTo>
                  <a:pt x="214313" y="160734"/>
                </a:lnTo>
                <a:lnTo>
                  <a:pt x="178594" y="160734"/>
                </a:lnTo>
                <a:cubicBezTo>
                  <a:pt x="158893" y="160734"/>
                  <a:pt x="142875" y="144717"/>
                  <a:pt x="142875" y="125016"/>
                </a:cubicBezTo>
                <a:lnTo>
                  <a:pt x="142875" y="89297"/>
                </a:lnTo>
                <a:cubicBezTo>
                  <a:pt x="142875" y="69596"/>
                  <a:pt x="158893" y="53578"/>
                  <a:pt x="178594" y="53578"/>
                </a:cubicBezTo>
                <a:lnTo>
                  <a:pt x="214313" y="53578"/>
                </a:lnTo>
                <a:cubicBezTo>
                  <a:pt x="234014" y="53578"/>
                  <a:pt x="250031" y="69596"/>
                  <a:pt x="250031" y="89297"/>
                </a:cubicBezTo>
                <a:lnTo>
                  <a:pt x="250031" y="165199"/>
                </a:lnTo>
                <a:close/>
                <a:moveTo>
                  <a:pt x="107156" y="165199"/>
                </a:moveTo>
                <a:cubicBezTo>
                  <a:pt x="107156" y="202202"/>
                  <a:pt x="77186" y="232172"/>
                  <a:pt x="40184" y="232172"/>
                </a:cubicBezTo>
                <a:lnTo>
                  <a:pt x="35719" y="232172"/>
                </a:lnTo>
                <a:cubicBezTo>
                  <a:pt x="25840" y="232172"/>
                  <a:pt x="17859" y="224191"/>
                  <a:pt x="17859" y="214313"/>
                </a:cubicBezTo>
                <a:cubicBezTo>
                  <a:pt x="17859" y="204434"/>
                  <a:pt x="25840" y="196453"/>
                  <a:pt x="35719" y="196453"/>
                </a:cubicBezTo>
                <a:lnTo>
                  <a:pt x="40184" y="196453"/>
                </a:lnTo>
                <a:cubicBezTo>
                  <a:pt x="57429" y="196453"/>
                  <a:pt x="71438" y="182445"/>
                  <a:pt x="71438" y="165199"/>
                </a:cubicBezTo>
                <a:lnTo>
                  <a:pt x="71438" y="160734"/>
                </a:lnTo>
                <a:lnTo>
                  <a:pt x="35719" y="160734"/>
                </a:lnTo>
                <a:cubicBezTo>
                  <a:pt x="16018" y="160734"/>
                  <a:pt x="0" y="144717"/>
                  <a:pt x="0" y="125016"/>
                </a:cubicBezTo>
                <a:lnTo>
                  <a:pt x="0" y="89297"/>
                </a:lnTo>
                <a:cubicBezTo>
                  <a:pt x="0" y="69596"/>
                  <a:pt x="16018" y="53578"/>
                  <a:pt x="35719" y="53578"/>
                </a:cubicBezTo>
                <a:lnTo>
                  <a:pt x="71438" y="53578"/>
                </a:lnTo>
                <a:cubicBezTo>
                  <a:pt x="91139" y="53578"/>
                  <a:pt x="107156" y="69596"/>
                  <a:pt x="107156" y="89297"/>
                </a:cubicBezTo>
                <a:lnTo>
                  <a:pt x="107156" y="165199"/>
                </a:lnTo>
                <a:close/>
              </a:path>
            </a:pathLst>
          </a:custGeom>
          <a:solidFill>
            <a:srgbClr val="F97316"/>
          </a:solidFill>
          <a:ln/>
        </p:spPr>
      </p:sp>
      <p:sp>
        <p:nvSpPr>
          <p:cNvPr id="50" name="Text 48"/>
          <p:cNvSpPr/>
          <p:nvPr/>
        </p:nvSpPr>
        <p:spPr>
          <a:xfrm>
            <a:off x="269875" y="6629498"/>
            <a:ext cx="11652250" cy="254000"/>
          </a:xfrm>
          <a:prstGeom prst="rect">
            <a:avLst/>
          </a:prstGeom>
          <a:noFill/>
          <a:ln/>
        </p:spPr>
        <p:txBody>
          <a:bodyPr wrap="square" lIns="0" tIns="0" rIns="0" bIns="0" rtlCol="0" anchor="ctr"/>
          <a:lstStyle/>
          <a:p>
            <a:pPr algn="ctr">
              <a:lnSpc>
                <a:spcPct val="110000"/>
              </a:lnSpc>
            </a:pPr>
            <a:r>
              <a:rPr lang="en-US" sz="1500" b="1" dirty="0">
                <a:solidFill>
                  <a:srgbClr val="F9FAFB"/>
                </a:solidFill>
                <a:latin typeface="Quattrocento Sans" pitchFamily="34" charset="0"/>
                <a:ea typeface="Quattrocento Sans" pitchFamily="34" charset="-122"/>
                <a:cs typeface="Quattrocento Sans" pitchFamily="34" charset="-120"/>
              </a:rPr>
              <a:t>Thank You!</a:t>
            </a:r>
            <a:endParaRPr lang="en-US" sz="1600" dirty="0"/>
          </a:p>
        </p:txBody>
      </p:sp>
      <p:sp>
        <p:nvSpPr>
          <p:cNvPr id="51" name="Text 49"/>
          <p:cNvSpPr/>
          <p:nvPr/>
        </p:nvSpPr>
        <p:spPr>
          <a:xfrm>
            <a:off x="281781" y="6946902"/>
            <a:ext cx="11628438" cy="222250"/>
          </a:xfrm>
          <a:prstGeom prst="rect">
            <a:avLst/>
          </a:prstGeom>
          <a:noFill/>
          <a:ln/>
        </p:spPr>
        <p:txBody>
          <a:bodyPr wrap="square" lIns="0" tIns="0" rIns="0" bIns="0" rtlCol="0" anchor="ctr"/>
          <a:lstStyle/>
          <a:p>
            <a:pPr algn="ctr">
              <a:lnSpc>
                <a:spcPct val="130000"/>
              </a:lnSpc>
            </a:pPr>
            <a:r>
              <a:rPr lang="en-US" sz="1125" dirty="0">
                <a:solidFill>
                  <a:srgbClr val="F9FAFB">
                    <a:alpha val="70000"/>
                  </a:srgbClr>
                </a:solidFill>
                <a:latin typeface="Quattrocento Sans" pitchFamily="34" charset="0"/>
                <a:ea typeface="Quattrocento Sans" pitchFamily="34" charset="-122"/>
                <a:cs typeface="Quattrocento Sans" pitchFamily="34" charset="-120"/>
              </a:rPr>
              <a:t>Questions?</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Paired t-Test Case Study - Netflix Algorithm Testing</dc:title>
  <dc:subject>Paired t-Test Case Study - Netflix Algorithm Testing</dc:subject>
  <dc:creator>Kimi</dc:creator>
  <cp:lastModifiedBy>Kimi</cp:lastModifiedBy>
  <cp:revision>1</cp:revision>
  <dcterms:created xsi:type="dcterms:W3CDTF">2026-02-01T18:13:39Z</dcterms:created>
  <dcterms:modified xsi:type="dcterms:W3CDTF">2026-02-01T18:13:39Z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{"Label":"Paired t-Test Case Study - Netflix Algorithm Testing","ContentProducer":"001191110108MACG2KBH8F10000","ProduceID":"19c1a523-1b02-8d71-8000-0000700f1ed8","ReservedCode1":"","ContentPropagator":"001191110108MACG2KBH8F20000","PropagateID":"19c1a523-1b02-8d71-8000-0000700f1ed8","ReservedCode2":""}</vt:lpwstr>
  </property>
</Properties>
</file>